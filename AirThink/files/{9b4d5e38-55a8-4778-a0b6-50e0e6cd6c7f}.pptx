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199" y="760553"/>
            <a:ext cx="18124" cy="1812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2250" y="6430041"/>
            <a:ext cx="21378" cy="2137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201" y="997399"/>
            <a:ext cx="26075" cy="2607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655" y="1564220"/>
            <a:ext cx="25886" cy="2588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79753" y="6741819"/>
            <a:ext cx="11272" cy="1127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96953" y="6006465"/>
            <a:ext cx="16951" cy="1695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86860" y="2469082"/>
            <a:ext cx="30977" cy="3097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38428" y="2817174"/>
            <a:ext cx="24293" cy="2429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11755" y="5674997"/>
            <a:ext cx="17270" cy="1727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81846" y="5386598"/>
            <a:ext cx="17748" cy="1774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2061" y="5875780"/>
            <a:ext cx="24029" cy="2402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07445" y="2925796"/>
            <a:ext cx="17544" cy="1754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35537" y="1483116"/>
            <a:ext cx="10090" cy="1009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1038" y="3869784"/>
            <a:ext cx="20158" cy="2015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92677" y="6504853"/>
            <a:ext cx="31465" cy="3146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33523" y="2072686"/>
            <a:ext cx="13174" cy="1317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97139" y="5672448"/>
            <a:ext cx="15889" cy="1588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7003" y="6232117"/>
            <a:ext cx="22891" cy="2289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51348" y="4530708"/>
            <a:ext cx="15654" cy="1565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37465" y="6710085"/>
            <a:ext cx="13644" cy="1364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45409" y="2259568"/>
            <a:ext cx="18355" cy="1835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79516" y="798706"/>
            <a:ext cx="11404" cy="1140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0192" y="1313438"/>
            <a:ext cx="16806" cy="1680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951114" y="1027645"/>
            <a:ext cx="10468" cy="1046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16500" y="1881114"/>
            <a:ext cx="17657" cy="1765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17418" y="3996905"/>
            <a:ext cx="28679" cy="2867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64838" y="4906624"/>
            <a:ext cx="24984" cy="2498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74901" y="5179797"/>
            <a:ext cx="31661" cy="3166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65913" y="654839"/>
            <a:ext cx="22464" cy="2246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25701" y="305115"/>
            <a:ext cx="11998" cy="1199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360" y="4154335"/>
            <a:ext cx="13864" cy="1386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26313" y="5863261"/>
            <a:ext cx="24901" cy="2490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90092" y="4702316"/>
            <a:ext cx="21131" cy="2113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44914" y="3545947"/>
            <a:ext cx="25536" cy="2553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23361" y="5543629"/>
            <a:ext cx="16595" cy="1659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90403" y="5299013"/>
            <a:ext cx="26171" cy="2617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9899" y="3922872"/>
            <a:ext cx="12942" cy="1294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34053" y="2874932"/>
            <a:ext cx="12358" cy="1235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51536" y="1385971"/>
            <a:ext cx="29496" cy="2949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6603" y="1642568"/>
            <a:ext cx="26948" cy="2694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36812" y="255766"/>
            <a:ext cx="19940" cy="1994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24150" y="1367912"/>
            <a:ext cx="27749" cy="2774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41534" y="225874"/>
            <a:ext cx="19284" cy="1928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95236" y="1450645"/>
            <a:ext cx="17044" cy="1704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79908" y="759990"/>
            <a:ext cx="14081" cy="1408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79800" y="4693292"/>
            <a:ext cx="29449" cy="2944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290641" y="1876736"/>
            <a:ext cx="13294" cy="1329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1103" y="1042112"/>
            <a:ext cx="27619" cy="2761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843460" y="1875916"/>
            <a:ext cx="15372" cy="1537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26512" y="6174958"/>
            <a:ext cx="22388" cy="2238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87706" y="6559336"/>
            <a:ext cx="14608" cy="1460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217475" y="3660217"/>
            <a:ext cx="16453" cy="1645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091152" y="4789572"/>
            <a:ext cx="9615" cy="961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943817" y="2070963"/>
            <a:ext cx="19864" cy="1986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724903" y="2623009"/>
            <a:ext cx="24624" cy="2462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00101" y="5192167"/>
            <a:ext cx="10247" cy="1024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924682" y="4776038"/>
            <a:ext cx="10244" cy="1024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256792" y="2190411"/>
            <a:ext cx="31620" cy="3162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4496" y="1680043"/>
            <a:ext cx="20384" cy="2038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98174" y="322503"/>
            <a:ext cx="16290" cy="1629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79697" y="1525038"/>
            <a:ext cx="28836" cy="2883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06397" y="156725"/>
            <a:ext cx="27497" cy="2749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280097" y="5133312"/>
            <a:ext cx="24394" cy="2439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872131" y="5596638"/>
            <a:ext cx="25767" cy="2576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8260" y="6719752"/>
            <a:ext cx="19778" cy="1977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822715" y="3673692"/>
            <a:ext cx="682003" cy="4876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59637" y="2781910"/>
            <a:ext cx="701046" cy="5052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617515" y="410938"/>
            <a:ext cx="583594" cy="1345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98333" y="5260413"/>
            <a:ext cx="586306" cy="11259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89220" y="5841231"/>
            <a:ext cx="417767" cy="1539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009174" y="3003234"/>
            <a:ext cx="258198" cy="2344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81493" y="5563283"/>
            <a:ext cx="251550" cy="3262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753780" y="2281580"/>
            <a:ext cx="709297" cy="2164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705556" y="1877621"/>
            <a:ext cx="424483" cy="46553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新西兰峡湾与地热景观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手绘旅行地图式导览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01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冰川雕刻的南岛峡湾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板块火山塑造的北岛地热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自然体验与毛利文化交织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从海水淹没的U形谷，到蒸汽升腾的地热带，形成一条南北呼应的探索路线。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6675120" y="4133087"/>
            <a:ext cx="475488" cy="256033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242048" y="3859870"/>
            <a:ext cx="475488" cy="63671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08975" y="3762137"/>
            <a:ext cx="475488" cy="48166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75904" y="3911330"/>
            <a:ext cx="475488" cy="223772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42832" y="4223099"/>
            <a:ext cx="475487" cy="429037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509760" y="4494882"/>
            <a:ext cx="475488" cy="475242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076688" y="4528513"/>
            <a:ext cx="475488" cy="319907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766560" y="1965960"/>
            <a:ext cx="804672" cy="1024127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571232" y="1965960"/>
            <a:ext cx="804672" cy="1024127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220102" y="2126894"/>
            <a:ext cx="351130" cy="292608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571232" y="2126894"/>
            <a:ext cx="307238" cy="329184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001000" y="1828800"/>
            <a:ext cx="955548" cy="1216152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956548" y="1828800"/>
            <a:ext cx="955548" cy="1216152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539581" y="2019909"/>
            <a:ext cx="416967" cy="347472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956548" y="2019909"/>
            <a:ext cx="364845" cy="390906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9418320" y="3291840"/>
            <a:ext cx="411480" cy="411480"/>
          </a:xfrm>
          <a:prstGeom prst="ellipse">
            <a:avLst/>
          </a:prstGeom>
          <a:solidFill>
            <a:srgbClr val="E0866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84848" y="5074920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7077"/>
                </a:solidFill>
                <a:latin typeface="Microsoft YaHei"/>
              </a:rPr>
              <a:t>South Island fjords  -&gt;  North Island geothermal fields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00932" y="1170796"/>
            <a:ext cx="31332" cy="3133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71977" y="2096803"/>
            <a:ext cx="24479" cy="2447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32219" y="1092973"/>
            <a:ext cx="31115" cy="3111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72329" y="830647"/>
            <a:ext cx="19946" cy="1994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284" y="5876703"/>
            <a:ext cx="30899" cy="3089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5205" y="1438674"/>
            <a:ext cx="10944" cy="1094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5944" y="130974"/>
            <a:ext cx="18239" cy="1823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31876" y="2451575"/>
            <a:ext cx="29729" cy="2972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10288" y="1965408"/>
            <a:ext cx="18899" cy="1889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60955" y="1320799"/>
            <a:ext cx="22830" cy="2283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1951" y="3918745"/>
            <a:ext cx="9456" cy="945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1391" y="4376612"/>
            <a:ext cx="19424" cy="1942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36691" y="5728376"/>
            <a:ext cx="17592" cy="1759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08363" y="1081247"/>
            <a:ext cx="12405" cy="1240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18713" y="2319053"/>
            <a:ext cx="19977" cy="1997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6955" y="6066809"/>
            <a:ext cx="10777" cy="1077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80397" y="3077302"/>
            <a:ext cx="25603" cy="2560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13111" y="2250863"/>
            <a:ext cx="24782" cy="2478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28329" y="705152"/>
            <a:ext cx="15472" cy="1547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65477" y="6708120"/>
            <a:ext cx="31271" cy="3127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62599" y="3862439"/>
            <a:ext cx="28292" cy="2829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544" y="3152518"/>
            <a:ext cx="31879" cy="3187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13027" y="2540220"/>
            <a:ext cx="14502" cy="1450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33351" y="3793493"/>
            <a:ext cx="25670" cy="2567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66958" y="5292413"/>
            <a:ext cx="20255" cy="2025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8493" y="1166969"/>
            <a:ext cx="16176" cy="1617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61276" y="1615459"/>
            <a:ext cx="26468" cy="2646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93684" y="4891489"/>
            <a:ext cx="23136" cy="2313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3225" y="4762764"/>
            <a:ext cx="29335" cy="2933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28371" y="2707240"/>
            <a:ext cx="16132" cy="161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79957" y="5832686"/>
            <a:ext cx="24758" cy="2475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136163" y="1014390"/>
            <a:ext cx="18607" cy="1860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694420" y="1592127"/>
            <a:ext cx="30613" cy="3061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0604" y="916868"/>
            <a:ext cx="25439" cy="2543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14164" y="2756973"/>
            <a:ext cx="17821" cy="1782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54783" y="2950380"/>
            <a:ext cx="21287" cy="2128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97098" y="6184280"/>
            <a:ext cx="28846" cy="2884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11015" y="5153569"/>
            <a:ext cx="26426" cy="2642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86500" y="1857567"/>
            <a:ext cx="30468" cy="3046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043001" y="4405724"/>
            <a:ext cx="18817" cy="1881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53119" y="4871708"/>
            <a:ext cx="9357" cy="935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42817" y="6199816"/>
            <a:ext cx="16356" cy="1635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07032" y="114224"/>
            <a:ext cx="26462" cy="2646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10876" y="5832130"/>
            <a:ext cx="25429" cy="2542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21780" y="4865380"/>
            <a:ext cx="12736" cy="1273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86438" y="2457114"/>
            <a:ext cx="22158" cy="2215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72567" y="295040"/>
            <a:ext cx="30712" cy="3071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9717" y="3848913"/>
            <a:ext cx="22315" cy="2231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58565" y="6576818"/>
            <a:ext cx="11816" cy="1181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00248" y="3658894"/>
            <a:ext cx="20589" cy="2058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01" y="3241698"/>
            <a:ext cx="19338" cy="1933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76375" y="2354315"/>
            <a:ext cx="11292" cy="1129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86818" y="3378120"/>
            <a:ext cx="23392" cy="2339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28564" y="362033"/>
            <a:ext cx="13736" cy="1373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217592" y="5744593"/>
            <a:ext cx="26632" cy="266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709077" y="3334138"/>
            <a:ext cx="20897" cy="2089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12164" y="204224"/>
            <a:ext cx="31905" cy="3190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721926" y="2002195"/>
            <a:ext cx="12284" cy="1228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66992" y="253267"/>
            <a:ext cx="14060" cy="1406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4475" y="3226456"/>
            <a:ext cx="16687" cy="1668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291711" y="2820041"/>
            <a:ext cx="29252" cy="2925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397658" y="1309385"/>
            <a:ext cx="25620" cy="2562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60573" y="4785459"/>
            <a:ext cx="23146" cy="2314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9564" y="2031651"/>
            <a:ext cx="31031" cy="3103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43504" y="3499635"/>
            <a:ext cx="14112" cy="1411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7605937" y="2113847"/>
            <a:ext cx="236140" cy="6511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176171" y="4596881"/>
            <a:ext cx="446083" cy="6420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276039" y="874477"/>
            <a:ext cx="667181" cy="3092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06723" y="5011276"/>
            <a:ext cx="701046" cy="2833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15076" y="2207079"/>
            <a:ext cx="372584" cy="2472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944006" y="2419686"/>
            <a:ext cx="312439" cy="11448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519695" y="3714653"/>
            <a:ext cx="657516" cy="5530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21253" y="2712600"/>
            <a:ext cx="270095" cy="5315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129001" y="2370974"/>
            <a:ext cx="594538" cy="9370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01 形成逻辑：冰川切谷，海水入侵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峡湾地貌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02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第四纪冰川沿山谷下切，磨蚀出陡峭U形谷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冰后期海平面上升，海水灌入低谷形成峡湾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典型特征是深水、窄湾、近垂直岩壁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核心判断：峡湾不是河流切出的V形谷，而是冰川侵蚀和海侵共同完成的海岸地貌。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6629400" y="1691640"/>
            <a:ext cx="1357883" cy="1728216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987283" y="1691640"/>
            <a:ext cx="1357885" cy="1728216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394752" y="1963216"/>
            <a:ext cx="592531" cy="493776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987283" y="1963216"/>
            <a:ext cx="518465" cy="555498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366760" y="1645920"/>
            <a:ext cx="1458468" cy="1856232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825228" y="1645920"/>
            <a:ext cx="1458468" cy="1856232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188805" y="1937613"/>
            <a:ext cx="636423" cy="530352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825228" y="1937613"/>
            <a:ext cx="556869" cy="596646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Arc 96"/>
          <p:cNvSpPr/>
          <p:nvPr/>
        </p:nvSpPr>
        <p:spPr>
          <a:xfrm>
            <a:off x="6675120" y="4069080"/>
            <a:ext cx="3840480" cy="914400"/>
          </a:xfrm>
          <a:prstGeom prst="arc">
            <a:avLst/>
          </a:prstGeom>
          <a:ln w="38100">
            <a:solidFill>
              <a:srgbClr val="5DA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7315200" y="2331720"/>
            <a:ext cx="0" cy="1856232"/>
          </a:xfrm>
          <a:prstGeom prst="curvedConnector3">
            <a:avLst/>
          </a:prstGeom>
          <a:ln w="2540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5440" y="2286000"/>
            <a:ext cx="0" cy="1965960"/>
          </a:xfrm>
          <a:prstGeom prst="curvedConnector3">
            <a:avLst/>
          </a:prstGeom>
          <a:ln w="2540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012057" y="3345047"/>
            <a:ext cx="22078" cy="2207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9501" y="621229"/>
            <a:ext cx="12523" cy="1252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71243" y="1089921"/>
            <a:ext cx="9897" cy="989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62925" y="4592937"/>
            <a:ext cx="28246" cy="2824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44836" y="4436600"/>
            <a:ext cx="26764" cy="2676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92307" y="1506597"/>
            <a:ext cx="24138" cy="2413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55884" y="2002560"/>
            <a:ext cx="15837" cy="158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1584" y="3208307"/>
            <a:ext cx="10601" cy="106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8228" y="6211915"/>
            <a:ext cx="11546" cy="1154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3955" y="5118522"/>
            <a:ext cx="27708" cy="2770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68472" y="1278167"/>
            <a:ext cx="17969" cy="1796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27373" y="6025446"/>
            <a:ext cx="26139" cy="2613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91887" y="6280408"/>
            <a:ext cx="24863" cy="2486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14989" y="3638752"/>
            <a:ext cx="11016" cy="1101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69732" y="6196705"/>
            <a:ext cx="28497" cy="2849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1365" y="17118"/>
            <a:ext cx="21720" cy="2172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76350" y="414666"/>
            <a:ext cx="31801" cy="3180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01446" y="75884"/>
            <a:ext cx="20681" cy="2068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85616" y="5725546"/>
            <a:ext cx="28091" cy="2809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70499" y="1808632"/>
            <a:ext cx="14282" cy="1428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2597" y="4829074"/>
            <a:ext cx="10914" cy="1091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10757" y="362475"/>
            <a:ext cx="17158" cy="1715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4081" y="1179515"/>
            <a:ext cx="30519" cy="3051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7763" y="1915593"/>
            <a:ext cx="9479" cy="947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81839" y="2543804"/>
            <a:ext cx="28658" cy="2865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61821" y="3698863"/>
            <a:ext cx="20062" cy="2006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19646" y="3880378"/>
            <a:ext cx="9999" cy="999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6425" y="3979907"/>
            <a:ext cx="30063" cy="3006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14726" y="3638040"/>
            <a:ext cx="29833" cy="2983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09639" y="2970118"/>
            <a:ext cx="27645" cy="2764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73188" y="6373788"/>
            <a:ext cx="18950" cy="1895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921369" y="970753"/>
            <a:ext cx="19045" cy="1904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2910" y="3571792"/>
            <a:ext cx="14295" cy="1429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48872" y="2842685"/>
            <a:ext cx="13331" cy="1333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97532" y="1270394"/>
            <a:ext cx="19225" cy="1922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7533" y="5674486"/>
            <a:ext cx="10506" cy="1050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98880" y="2080"/>
            <a:ext cx="16966" cy="1696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41815" y="705565"/>
            <a:ext cx="13625" cy="1362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71142" y="3829060"/>
            <a:ext cx="13229" cy="1322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39695" y="2101086"/>
            <a:ext cx="20996" cy="2099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78727" y="6101155"/>
            <a:ext cx="10919" cy="1091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13343" y="6396941"/>
            <a:ext cx="30007" cy="3000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95592" y="586580"/>
            <a:ext cx="14624" cy="1462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43037" y="5562905"/>
            <a:ext cx="24006" cy="2400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78463" y="1446644"/>
            <a:ext cx="29849" cy="2984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07245" y="1906690"/>
            <a:ext cx="31967" cy="3196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14220" y="105782"/>
            <a:ext cx="28879" cy="2887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187968" y="4304917"/>
            <a:ext cx="17507" cy="1750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53390" y="3474093"/>
            <a:ext cx="14563" cy="1456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734004" y="5627956"/>
            <a:ext cx="26261" cy="2626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489563" y="462602"/>
            <a:ext cx="28694" cy="2869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17677" y="3203269"/>
            <a:ext cx="22650" cy="2265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04199" y="1182096"/>
            <a:ext cx="27842" cy="2784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73321" y="4050270"/>
            <a:ext cx="19003" cy="1900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30687" y="6745420"/>
            <a:ext cx="22897" cy="2289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09370" y="119539"/>
            <a:ext cx="10221" cy="1022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05055" y="6179157"/>
            <a:ext cx="17649" cy="1764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9246" y="1254981"/>
            <a:ext cx="12684" cy="1268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666401" y="522788"/>
            <a:ext cx="23871" cy="2387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16867" y="5556214"/>
            <a:ext cx="20655" cy="2065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064216" y="1476144"/>
            <a:ext cx="17985" cy="1798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21890" y="3161964"/>
            <a:ext cx="30294" cy="3029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233178" y="3032362"/>
            <a:ext cx="26625" cy="2662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620226" y="2870426"/>
            <a:ext cx="11865" cy="1186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10650" y="2492937"/>
            <a:ext cx="28037" cy="280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7392275" y="955080"/>
            <a:ext cx="573404" cy="7852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64944" y="5202088"/>
            <a:ext cx="583498" cy="3478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091185" y="3826363"/>
            <a:ext cx="456570" cy="8869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379034" y="3262853"/>
            <a:ext cx="367448" cy="10193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679423" y="2119455"/>
            <a:ext cx="223194" cy="8130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30506" y="4144740"/>
            <a:ext cx="246187" cy="129745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690536" y="2340744"/>
            <a:ext cx="602319" cy="3482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761707" y="2837581"/>
            <a:ext cx="661991" cy="69054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333459" y="3953311"/>
            <a:ext cx="569801" cy="11006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02 空间分布：南岛西南海岸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米尔福德峡湾与神奇峡湾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03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集中于南岛西南部，属于湿润、山高谷深的海岸段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米尔福德峡湾辨识度最高，适合巡游与瀑布观察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神奇峡湾更幽深安静，强调原始尺度感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两处代表性峡湾共同呈现了新西兰最典型的冰川海岸景观。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5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498079" y="1874519"/>
            <a:ext cx="2377440" cy="2377440"/>
          </a:xfrm>
          <a:prstGeom prst="ellipse">
            <a:avLst/>
          </a:prstGeom>
          <a:noFill/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8686800" y="2057400"/>
            <a:ext cx="0" cy="2011680"/>
          </a:xfrm>
          <a:prstGeom prst="curvedConnector3">
            <a:avLst/>
          </a:prstGeom>
          <a:ln w="26670">
            <a:solidFill>
              <a:srgbClr val="E08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680960" y="3063240"/>
            <a:ext cx="2011680" cy="0"/>
          </a:xfrm>
          <a:prstGeom prst="curvedConnector3">
            <a:avLst/>
          </a:prstGeom>
          <a:ln w="26670">
            <a:solidFill>
              <a:srgbClr val="4892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522208" y="15087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474F"/>
                </a:solidFill>
                <a:latin typeface="Microsoft YaHei"/>
              </a:rPr>
              <a:t>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76288" y="4663440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8928F"/>
                </a:solidFill>
                <a:latin typeface="Microsoft YaHei"/>
              </a:rPr>
              <a:t>Milford Sound / Doubtful Sound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96700" y="3709802"/>
            <a:ext cx="13192" cy="1319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3434" y="5328906"/>
            <a:ext cx="9866" cy="986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97242" y="2104933"/>
            <a:ext cx="18771" cy="1877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19141" y="2879672"/>
            <a:ext cx="14383" cy="1438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66156" y="1412355"/>
            <a:ext cx="18008" cy="1800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02186" y="1998446"/>
            <a:ext cx="18257" cy="1825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3445" y="4779037"/>
            <a:ext cx="22977" cy="2297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2750" y="3846454"/>
            <a:ext cx="20098" cy="2009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24102" y="3013073"/>
            <a:ext cx="12160" cy="1216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3041" y="1682831"/>
            <a:ext cx="13353" cy="1335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86188" y="5419691"/>
            <a:ext cx="19376" cy="1937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05738" y="2379105"/>
            <a:ext cx="22659" cy="2265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32460" y="1169901"/>
            <a:ext cx="21288" cy="2128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98225" y="392400"/>
            <a:ext cx="21323" cy="2132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062" y="3179497"/>
            <a:ext cx="19936" cy="1993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232" y="3257347"/>
            <a:ext cx="23898" cy="2389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70052" y="2717951"/>
            <a:ext cx="12771" cy="1277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600" y="3479736"/>
            <a:ext cx="17311" cy="1731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68512" y="3209313"/>
            <a:ext cx="25927" cy="2592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5686" y="4115108"/>
            <a:ext cx="10407" cy="1040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19627" y="766359"/>
            <a:ext cx="13836" cy="1383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31620" y="1362606"/>
            <a:ext cx="31249" cy="3124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3681" y="555566"/>
            <a:ext cx="9942" cy="994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65607" y="3851251"/>
            <a:ext cx="30064" cy="3006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39988" y="247720"/>
            <a:ext cx="18525" cy="1852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19846" y="4940538"/>
            <a:ext cx="24022" cy="2402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04273" y="5123181"/>
            <a:ext cx="10827" cy="1082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58186" y="2441243"/>
            <a:ext cx="14986" cy="1498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39255" y="1572601"/>
            <a:ext cx="19175" cy="1917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02631" y="3537969"/>
            <a:ext cx="24652" cy="2465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2211" y="1606612"/>
            <a:ext cx="19235" cy="1923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05716" y="4287086"/>
            <a:ext cx="27942" cy="2794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4709" y="3061633"/>
            <a:ext cx="22513" cy="2251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570018" y="2129225"/>
            <a:ext cx="15715" cy="1571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5471" y="6454163"/>
            <a:ext cx="9441" cy="944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09370" y="6468098"/>
            <a:ext cx="30931" cy="3093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25630" y="4733155"/>
            <a:ext cx="10164" cy="1016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75837" y="4563312"/>
            <a:ext cx="28227" cy="2822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842130" y="4879802"/>
            <a:ext cx="19601" cy="196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90534" y="5515981"/>
            <a:ext cx="11859" cy="1185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70536" y="2849507"/>
            <a:ext cx="29852" cy="2985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981810" y="2623953"/>
            <a:ext cx="20138" cy="2013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25470" y="3567727"/>
            <a:ext cx="26880" cy="2688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09932" y="1282262"/>
            <a:ext cx="23780" cy="2378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55657" y="6753917"/>
            <a:ext cx="25757" cy="2575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460560" y="1592668"/>
            <a:ext cx="11277" cy="1127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44514" y="1707067"/>
            <a:ext cx="25266" cy="2526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8955" y="1039671"/>
            <a:ext cx="19820" cy="1982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81951" y="882972"/>
            <a:ext cx="30174" cy="3017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58339" y="5991633"/>
            <a:ext cx="9420" cy="942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2143" y="1252976"/>
            <a:ext cx="21379" cy="2137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4800" y="779122"/>
            <a:ext cx="20089" cy="2008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70784" y="3575289"/>
            <a:ext cx="16229" cy="1622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75855" y="572001"/>
            <a:ext cx="18808" cy="1880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86370" y="6639580"/>
            <a:ext cx="29610" cy="2961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85535" y="5811712"/>
            <a:ext cx="12464" cy="1246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8127" y="5333556"/>
            <a:ext cx="31553" cy="3155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07410" y="6239093"/>
            <a:ext cx="14741" cy="1474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575214" y="698767"/>
            <a:ext cx="31320" cy="3132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011576" y="2328413"/>
            <a:ext cx="30288" cy="3028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75234" y="6704447"/>
            <a:ext cx="23612" cy="2361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82419" y="731482"/>
            <a:ext cx="19142" cy="1914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09481" y="165927"/>
            <a:ext cx="27508" cy="2750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47543" y="5126259"/>
            <a:ext cx="23655" cy="2365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521427" y="6431699"/>
            <a:ext cx="22886" cy="2288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145873" y="3895838"/>
            <a:ext cx="263804" cy="4804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361372" y="3257512"/>
            <a:ext cx="212894" cy="6281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151437" y="3999690"/>
            <a:ext cx="523233" cy="12237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00811" y="4339232"/>
            <a:ext cx="659342" cy="2152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61739" y="882914"/>
            <a:ext cx="659796" cy="125344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758658" y="276315"/>
            <a:ext cx="525066" cy="5809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39159" y="3023438"/>
            <a:ext cx="185818" cy="6558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302842" y="3027068"/>
            <a:ext cx="476167" cy="11885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921602" y="2726169"/>
            <a:ext cx="408520" cy="6970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03 生态肌理：雨林、瀑布与冷水海湾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峡湾生态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04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年降水可超过6000毫米，支撑沿岸温带雨林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悬崖瀑布密集，博恩瀑布等构成动态景观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海豹、企鹅、海豚和黑珊瑚共同构成独特生态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峡湾的魅力来自垂直岩壁、淡水瀑布、海水生态和雨林边界的同框出现。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6492240" y="1645920"/>
            <a:ext cx="1559052" cy="1984248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051292" y="1645920"/>
            <a:ext cx="1559052" cy="1984248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370978" y="1957730"/>
            <a:ext cx="680314" cy="566928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051292" y="1957730"/>
            <a:ext cx="595274" cy="637794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909560" y="2331720"/>
            <a:ext cx="39703" cy="2148840"/>
          </a:xfrm>
          <a:prstGeom prst="curvedConnector3">
            <a:avLst/>
          </a:prstGeom>
          <a:ln w="2794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065008" y="2331720"/>
            <a:ext cx="10252" cy="2148840"/>
          </a:xfrm>
          <a:prstGeom prst="curvedConnector3">
            <a:avLst/>
          </a:prstGeom>
          <a:ln w="2794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8170093" y="2331720"/>
            <a:ext cx="41219" cy="2148840"/>
          </a:xfrm>
          <a:prstGeom prst="curvedConnector3">
            <a:avLst/>
          </a:prstGeom>
          <a:ln w="2794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869680" y="4434840"/>
            <a:ext cx="274320" cy="91440"/>
          </a:xfrm>
          <a:prstGeom prst="curvedConnector3">
            <a:avLst/>
          </a:prstGeom>
          <a:ln w="25400">
            <a:solidFill>
              <a:srgbClr val="78A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25711" y="4434840"/>
            <a:ext cx="228601" cy="91440"/>
          </a:xfrm>
          <a:prstGeom prst="curvedConnector3">
            <a:avLst/>
          </a:prstGeom>
          <a:ln w="25400">
            <a:solidFill>
              <a:srgbClr val="78A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81744" y="4434840"/>
            <a:ext cx="182880" cy="91440"/>
          </a:xfrm>
          <a:prstGeom prst="curvedConnector3">
            <a:avLst/>
          </a:prstGeom>
          <a:ln w="25400">
            <a:solidFill>
              <a:srgbClr val="78A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37776" y="4434840"/>
            <a:ext cx="137160" cy="91440"/>
          </a:xfrm>
          <a:prstGeom prst="curvedConnector3">
            <a:avLst/>
          </a:prstGeom>
          <a:ln w="25400">
            <a:solidFill>
              <a:srgbClr val="78A6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11344" y="3649791"/>
            <a:ext cx="29572" cy="2957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57011" y="2817767"/>
            <a:ext cx="21377" cy="2137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60977" y="5420657"/>
            <a:ext cx="24014" cy="2401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06754" y="5911697"/>
            <a:ext cx="11197" cy="1119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68201" y="4294169"/>
            <a:ext cx="26743" cy="2674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4883" y="4195657"/>
            <a:ext cx="14451" cy="1445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07631" y="1409417"/>
            <a:ext cx="20816" cy="2081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25005" y="677343"/>
            <a:ext cx="27502" cy="2750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02158" y="6223220"/>
            <a:ext cx="15702" cy="1570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2557" y="5772692"/>
            <a:ext cx="9252" cy="925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69537" y="1209723"/>
            <a:ext cx="25402" cy="2540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01527" y="1527752"/>
            <a:ext cx="16692" cy="1669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72557" y="2441313"/>
            <a:ext cx="30652" cy="3065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5231" y="1366657"/>
            <a:ext cx="18935" cy="1893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43960" y="715339"/>
            <a:ext cx="24390" cy="2439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9921" y="4008641"/>
            <a:ext cx="24524" cy="2452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15875" y="5773565"/>
            <a:ext cx="16836" cy="1683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1412" y="4033926"/>
            <a:ext cx="18057" cy="1805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59009" y="1844756"/>
            <a:ext cx="16001" cy="160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33575" y="5314671"/>
            <a:ext cx="22589" cy="2258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59747" y="16638"/>
            <a:ext cx="24256" cy="2425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75979" y="5699399"/>
            <a:ext cx="29636" cy="2963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76841" y="6462012"/>
            <a:ext cx="27187" cy="2718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9046" y="3374981"/>
            <a:ext cx="25143" cy="2514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0148" y="234034"/>
            <a:ext cx="20728" cy="2072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2" y="6593856"/>
            <a:ext cx="11444" cy="1144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7494" y="2491745"/>
            <a:ext cx="31407" cy="3140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46268" y="5761596"/>
            <a:ext cx="20858" cy="2085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74735" y="4155660"/>
            <a:ext cx="14187" cy="1418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98990" y="6025002"/>
            <a:ext cx="10254" cy="1025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01383" y="6721457"/>
            <a:ext cx="25784" cy="2578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70595" y="5217238"/>
            <a:ext cx="29126" cy="2912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1466" y="5738201"/>
            <a:ext cx="29185" cy="2918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01453" y="5650649"/>
            <a:ext cx="15852" cy="1585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54323" y="5282456"/>
            <a:ext cx="30937" cy="309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076649" y="5087901"/>
            <a:ext cx="14732" cy="147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564" y="791816"/>
            <a:ext cx="23475" cy="2347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42888" y="5093942"/>
            <a:ext cx="11829" cy="1182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97709" y="4778856"/>
            <a:ext cx="26097" cy="2609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24419" y="6234406"/>
            <a:ext cx="9546" cy="954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937" y="3134306"/>
            <a:ext cx="19372" cy="1937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39966" y="194054"/>
            <a:ext cx="21934" cy="2193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6706" y="2413637"/>
            <a:ext cx="25672" cy="2567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69920" y="6569225"/>
            <a:ext cx="25994" cy="2599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263884" y="4879785"/>
            <a:ext cx="26896" cy="2689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9141" y="2693353"/>
            <a:ext cx="10782" cy="1078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51747" y="4683093"/>
            <a:ext cx="12744" cy="1274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179259" y="705000"/>
            <a:ext cx="31888" cy="3188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10591" y="3759376"/>
            <a:ext cx="9190" cy="919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91546" y="476074"/>
            <a:ext cx="22899" cy="2289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2050" y="1794199"/>
            <a:ext cx="28971" cy="2897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41834" y="4837089"/>
            <a:ext cx="29892" cy="2989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65137" y="3819374"/>
            <a:ext cx="16846" cy="1684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231806" y="2911503"/>
            <a:ext cx="19976" cy="1997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831574" y="5449276"/>
            <a:ext cx="28033" cy="2803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264554" y="2462216"/>
            <a:ext cx="16343" cy="1634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099969" y="6692173"/>
            <a:ext cx="23003" cy="2300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25267" y="4260158"/>
            <a:ext cx="18473" cy="1847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08594" y="5851112"/>
            <a:ext cx="11281" cy="1128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56008" y="6164541"/>
            <a:ext cx="23155" cy="2315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37498" y="5629775"/>
            <a:ext cx="10436" cy="1043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71168" y="2533428"/>
            <a:ext cx="28833" cy="2883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45345" y="4946957"/>
            <a:ext cx="18878" cy="1887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0425" y="5716973"/>
            <a:ext cx="24856" cy="2485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312" y="2409107"/>
            <a:ext cx="11547" cy="1154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0330900" y="2875631"/>
            <a:ext cx="270706" cy="87495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172926" y="2574663"/>
            <a:ext cx="592411" cy="7753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03640" y="2812519"/>
            <a:ext cx="207160" cy="756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969312" y="5989026"/>
            <a:ext cx="522790" cy="1253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544587" y="3042707"/>
            <a:ext cx="351950" cy="10339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626828" y="3402361"/>
            <a:ext cx="415182" cy="11557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220845" y="2889318"/>
            <a:ext cx="626033" cy="12033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779714" y="1615134"/>
            <a:ext cx="688131" cy="8155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7762" y="2161371"/>
            <a:ext cx="548877" cy="76503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04 地热成因：太平洋火环上的热力系统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北岛火山活动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05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北岛位于板块俯冲和火山活动影响区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地下岩浆加热地下水，推动喷泉、蒸汽和热泉形成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罗托鲁瓦与陶波湖区是代表性地热带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地热景观本质上是地下热源、水循环和断裂通道共同作用的结果。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7040880" y="1965960"/>
            <a:ext cx="1325880" cy="2514600"/>
          </a:xfrm>
          <a:prstGeom prst="curvedConnector3">
            <a:avLst/>
          </a:prstGeom>
          <a:ln w="3048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366760" y="1965960"/>
            <a:ext cx="1463040" cy="2514600"/>
          </a:xfrm>
          <a:prstGeom prst="curvedConnector3">
            <a:avLst/>
          </a:prstGeom>
          <a:ln w="3048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955279" y="1417320"/>
            <a:ext cx="228600" cy="411480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183879" y="1298448"/>
            <a:ext cx="274321" cy="393192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412480" y="1179576"/>
            <a:ext cx="320039" cy="374904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641080" y="1060704"/>
            <a:ext cx="365760" cy="356616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543800" y="3977639"/>
            <a:ext cx="1783080" cy="0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31584" y="2805354"/>
            <a:ext cx="21666" cy="2166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20937" y="3199489"/>
            <a:ext cx="11904" cy="1190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81450" y="2290159"/>
            <a:ext cx="11979" cy="1197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3531" y="2660157"/>
            <a:ext cx="24611" cy="2461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9707" y="3884424"/>
            <a:ext cx="20925" cy="2092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43742" y="1976636"/>
            <a:ext cx="10576" cy="1057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55979" y="3395102"/>
            <a:ext cx="23780" cy="2378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35050" y="4466492"/>
            <a:ext cx="23606" cy="2360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02035" y="6577250"/>
            <a:ext cx="31383" cy="3138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9302" y="6632131"/>
            <a:ext cx="18424" cy="1842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1953" y="5860646"/>
            <a:ext cx="31750" cy="3175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908" y="1645361"/>
            <a:ext cx="21743" cy="2174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61649" y="5244450"/>
            <a:ext cx="20854" cy="2085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1485" y="2549183"/>
            <a:ext cx="18409" cy="1840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66601" y="2182550"/>
            <a:ext cx="18713" cy="1871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57539" y="3952847"/>
            <a:ext cx="27522" cy="2752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21765" y="5149139"/>
            <a:ext cx="27684" cy="2768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4146" y="2840981"/>
            <a:ext cx="20013" cy="2001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74" y="4607348"/>
            <a:ext cx="13354" cy="1335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65098" y="3329953"/>
            <a:ext cx="21959" cy="2195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10459" y="965569"/>
            <a:ext cx="13248" cy="1324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20819" y="163494"/>
            <a:ext cx="12137" cy="1213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757" y="6310575"/>
            <a:ext cx="10473" cy="1047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1412" y="2740038"/>
            <a:ext cx="26637" cy="266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71526" y="3522420"/>
            <a:ext cx="11285" cy="1128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68766" y="3245213"/>
            <a:ext cx="30450" cy="3045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68852" y="578726"/>
            <a:ext cx="18041" cy="1804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24556" y="5191797"/>
            <a:ext cx="27443" cy="2744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31468" y="2362318"/>
            <a:ext cx="26647" cy="2664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46055" y="4233645"/>
            <a:ext cx="29156" cy="2915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7528" y="3373239"/>
            <a:ext cx="31617" cy="3161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04476" y="6544966"/>
            <a:ext cx="21711" cy="2171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73423" y="4768500"/>
            <a:ext cx="9275" cy="927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80583" y="1740024"/>
            <a:ext cx="11429" cy="1142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30613" y="884628"/>
            <a:ext cx="20943" cy="2094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95894" y="6129893"/>
            <a:ext cx="16059" cy="1605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82266" y="2766262"/>
            <a:ext cx="26636" cy="2663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62949" y="3552472"/>
            <a:ext cx="22923" cy="2292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457761" y="5460083"/>
            <a:ext cx="11401" cy="1140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24782" y="6620034"/>
            <a:ext cx="30624" cy="3062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76150" y="85309"/>
            <a:ext cx="27514" cy="2751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3306" y="6251596"/>
            <a:ext cx="10037" cy="100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99706" y="3841086"/>
            <a:ext cx="20037" cy="200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20074" y="1745619"/>
            <a:ext cx="27511" cy="2751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33757" y="4519414"/>
            <a:ext cx="22473" cy="2247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35258" y="5845457"/>
            <a:ext cx="25460" cy="2546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487577" y="1663095"/>
            <a:ext cx="22345" cy="2234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25683" y="295685"/>
            <a:ext cx="30140" cy="3014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91608" y="4377225"/>
            <a:ext cx="15548" cy="1554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02109" y="1166613"/>
            <a:ext cx="17218" cy="1721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55541" y="1153936"/>
            <a:ext cx="22868" cy="2286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69526" y="4321827"/>
            <a:ext cx="12786" cy="1278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23668" y="610896"/>
            <a:ext cx="20564" cy="2056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610439" y="2791756"/>
            <a:ext cx="12073" cy="1207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523018" y="4071473"/>
            <a:ext cx="22406" cy="2240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71042" y="5596261"/>
            <a:ext cx="23470" cy="2347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347437" y="4360897"/>
            <a:ext cx="22515" cy="2251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89668" y="6140436"/>
            <a:ext cx="9881" cy="988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925331" y="52274"/>
            <a:ext cx="18983" cy="1898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407571" y="5892785"/>
            <a:ext cx="16190" cy="1619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397162" y="711085"/>
            <a:ext cx="28368" cy="2836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436988" y="2429438"/>
            <a:ext cx="25646" cy="2564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685622" y="5781310"/>
            <a:ext cx="26839" cy="2683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201698" y="325863"/>
            <a:ext cx="9501" cy="95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96758" y="6386779"/>
            <a:ext cx="28744" cy="2874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503277" y="4060264"/>
            <a:ext cx="513460" cy="60634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70485" y="2492325"/>
            <a:ext cx="191856" cy="2952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55998" y="5968509"/>
            <a:ext cx="657186" cy="5616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907709" y="5271249"/>
            <a:ext cx="247334" cy="10630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54256" y="2546759"/>
            <a:ext cx="252733" cy="22206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943682" y="1472473"/>
            <a:ext cx="725516" cy="25065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08269" y="1608450"/>
            <a:ext cx="717247" cy="24826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497209" y="3473502"/>
            <a:ext cx="712793" cy="3107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600839" y="4494632"/>
            <a:ext cx="703367" cy="5191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05 典型地貌：间歇泉、泥浆池、彩色热泉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地热表征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06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波胡图间歇泉喷射高度可达约30米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怀奥塔普香槟池呈现矿物沉淀带来的绚丽色彩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泥浆沸腾池与喷气孔展示强烈的地下热能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颜色、气味、声响和温度让地热景观具有强感官辨识度。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5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7406640" y="2139696"/>
            <a:ext cx="1005840" cy="2249424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7726679" y="2066544"/>
            <a:ext cx="685801" cy="2322576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8046719" y="1993392"/>
            <a:ext cx="365761" cy="2395728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8366759" y="1920240"/>
            <a:ext cx="45721" cy="2468880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412480" y="1993392"/>
            <a:ext cx="274320" cy="2395728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412480" y="2066544"/>
            <a:ext cx="594360" cy="2322576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412480" y="2139696"/>
            <a:ext cx="914400" cy="2249424"/>
          </a:xfrm>
          <a:prstGeom prst="curvedConnector3">
            <a:avLst/>
          </a:prstGeom>
          <a:ln w="3048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7360920" y="4160520"/>
            <a:ext cx="2331720" cy="502920"/>
          </a:xfrm>
          <a:prstGeom prst="ellipse">
            <a:avLst/>
          </a:prstGeom>
          <a:solidFill>
            <a:srgbClr val="5DA9B2"/>
          </a:solidFill>
          <a:ln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91204" y="1594225"/>
            <a:ext cx="14895" cy="1489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66076" y="1012791"/>
            <a:ext cx="26253" cy="2625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6968" y="2869215"/>
            <a:ext cx="22489" cy="2248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04354" y="630330"/>
            <a:ext cx="28030" cy="2803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36833" y="323749"/>
            <a:ext cx="30096" cy="3009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54860" y="479211"/>
            <a:ext cx="14939" cy="1493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21394" y="6456899"/>
            <a:ext cx="17247" cy="1724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26073" y="5450704"/>
            <a:ext cx="12854" cy="1285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36616" y="2639969"/>
            <a:ext cx="22316" cy="2231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14512" y="6529288"/>
            <a:ext cx="24259" cy="2425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80555" y="924907"/>
            <a:ext cx="9872" cy="987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27378" y="2445819"/>
            <a:ext cx="25495" cy="2549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72891" y="4126248"/>
            <a:ext cx="29315" cy="2931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73375" y="274500"/>
            <a:ext cx="26725" cy="2672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46642" y="5821112"/>
            <a:ext cx="22955" cy="2295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74950" y="843180"/>
            <a:ext cx="18216" cy="1821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20727" y="3385799"/>
            <a:ext cx="13944" cy="1394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43379" y="4983317"/>
            <a:ext cx="30201" cy="302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59284" y="6655721"/>
            <a:ext cx="11240" cy="1124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31403" y="1056015"/>
            <a:ext cx="9950" cy="995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86010" y="3402704"/>
            <a:ext cx="24416" cy="2441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82647" y="6056148"/>
            <a:ext cx="30532" cy="305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17853" y="1156703"/>
            <a:ext cx="22089" cy="2208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86694" y="3219183"/>
            <a:ext cx="29964" cy="2996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26609" y="6447302"/>
            <a:ext cx="19994" cy="1999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41793" y="2886824"/>
            <a:ext cx="26628" cy="2662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19240" y="2049013"/>
            <a:ext cx="24293" cy="2429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7488" y="3699498"/>
            <a:ext cx="26127" cy="2612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12569" y="5533179"/>
            <a:ext cx="29283" cy="2928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68605" y="1475246"/>
            <a:ext cx="23070" cy="2307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03000" y="3540869"/>
            <a:ext cx="24281" cy="2428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60326" y="2050199"/>
            <a:ext cx="17606" cy="1760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40261" y="6690378"/>
            <a:ext cx="28328" cy="2832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46724" y="237086"/>
            <a:ext cx="27348" cy="2734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72234" y="3506924"/>
            <a:ext cx="20421" cy="2042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64919" y="401518"/>
            <a:ext cx="11209" cy="1120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04423" y="6076337"/>
            <a:ext cx="19475" cy="1947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98127" y="5226451"/>
            <a:ext cx="23433" cy="2343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37742" y="340869"/>
            <a:ext cx="15601" cy="1560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39058" y="2688908"/>
            <a:ext cx="14160" cy="1416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59940" y="6257062"/>
            <a:ext cx="16778" cy="1677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55840" y="3304094"/>
            <a:ext cx="20031" cy="2003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50400" y="4152277"/>
            <a:ext cx="13501" cy="135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17422" y="3231910"/>
            <a:ext cx="12953" cy="1295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69316" y="616317"/>
            <a:ext cx="14383" cy="1438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04479" y="2444925"/>
            <a:ext cx="20052" cy="2005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19615" y="220433"/>
            <a:ext cx="28145" cy="2814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96249" y="4467161"/>
            <a:ext cx="14631" cy="1463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7736" y="4874505"/>
            <a:ext cx="10301" cy="1030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00240" y="643196"/>
            <a:ext cx="21617" cy="2161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123027" y="2752458"/>
            <a:ext cx="20773" cy="2077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60967" y="6337345"/>
            <a:ext cx="19158" cy="1915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55685" y="6123304"/>
            <a:ext cx="25434" cy="2543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14894" y="4765315"/>
            <a:ext cx="11580" cy="1158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871812" y="2176292"/>
            <a:ext cx="23125" cy="2312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522078" y="2387676"/>
            <a:ext cx="24083" cy="2408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31459" y="1481739"/>
            <a:ext cx="17370" cy="1737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61039" y="861853"/>
            <a:ext cx="20579" cy="2057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84646" y="3143375"/>
            <a:ext cx="12306" cy="1230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8109" y="2732808"/>
            <a:ext cx="28033" cy="2803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434603" y="6320193"/>
            <a:ext cx="21609" cy="2160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91082" y="67238"/>
            <a:ext cx="15075" cy="1507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26410" y="709989"/>
            <a:ext cx="26283" cy="2628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73210" y="1387082"/>
            <a:ext cx="27788" cy="2778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20287" y="6686527"/>
            <a:ext cx="11408" cy="1140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5476600" y="1546795"/>
            <a:ext cx="545838" cy="55843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652755" y="3084516"/>
            <a:ext cx="637534" cy="3134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835510" y="5907536"/>
            <a:ext cx="548612" cy="7543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832077" y="526174"/>
            <a:ext cx="684462" cy="7435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814267" y="3055641"/>
            <a:ext cx="538694" cy="1856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189262" y="2476957"/>
            <a:ext cx="185360" cy="32514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150459" y="5662449"/>
            <a:ext cx="652379" cy="7899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318300" y="6057256"/>
            <a:ext cx="466487" cy="2898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95462" y="5267247"/>
            <a:ext cx="470296" cy="3016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06 峡湾体验：在船行中读懂尺度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旅行方式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07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巡游路线能贴近岩壁、瀑布和海湾转折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雨雾天气强化水汽层次，反而更具峡湾氛围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观察重点：岩壁高度、瀑布落差、海面反光和生物踪迹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乘船不是单纯交通，而是理解峡湾空间尺度的最佳观察方式。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6629400" y="4389120"/>
            <a:ext cx="3611880" cy="0"/>
          </a:xfrm>
          <a:prstGeom prst="curvedConnector3">
            <a:avLst/>
          </a:prstGeom>
          <a:ln w="3175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rapezoid 89"/>
          <p:cNvSpPr/>
          <p:nvPr/>
        </p:nvSpPr>
        <p:spPr>
          <a:xfrm>
            <a:off x="7452360" y="3566160"/>
            <a:ext cx="1828800" cy="594360"/>
          </a:xfrm>
          <a:prstGeom prst="trapezoid">
            <a:avLst/>
          </a:prstGeom>
          <a:solidFill>
            <a:srgbClr val="E8CC99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8183879" y="2286000"/>
            <a:ext cx="0" cy="1280160"/>
          </a:xfrm>
          <a:prstGeom prst="curvedConnector3">
            <a:avLst/>
          </a:prstGeom>
          <a:ln w="2540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183879" y="2286000"/>
            <a:ext cx="960121" cy="777240"/>
          </a:xfrm>
          <a:prstGeom prst="curvedConnector3">
            <a:avLst/>
          </a:prstGeom>
          <a:ln w="25400">
            <a:solidFill>
              <a:srgbClr val="4892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99909" y="4900159"/>
            <a:ext cx="27394" cy="2739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26683" y="3125600"/>
            <a:ext cx="11520" cy="1152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6604" y="4671237"/>
            <a:ext cx="20403" cy="2040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83463" y="3119169"/>
            <a:ext cx="15468" cy="1546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2863" y="6595438"/>
            <a:ext cx="24664" cy="2466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80238" y="3036553"/>
            <a:ext cx="14438" cy="1443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8250" y="4172069"/>
            <a:ext cx="19616" cy="1961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35490" y="2764356"/>
            <a:ext cx="9422" cy="942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32997" y="367105"/>
            <a:ext cx="30137" cy="3013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0526" y="4425009"/>
            <a:ext cx="25731" cy="2573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54768" y="1900006"/>
            <a:ext cx="10905" cy="1090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42000" y="1109769"/>
            <a:ext cx="9391" cy="939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17223" y="543558"/>
            <a:ext cx="29790" cy="2979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4858" y="6733394"/>
            <a:ext cx="14065" cy="1406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07273" y="3713228"/>
            <a:ext cx="18972" cy="1897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0130" y="3442738"/>
            <a:ext cx="22008" cy="2200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28" y="2839377"/>
            <a:ext cx="14198" cy="1419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37555" y="2702335"/>
            <a:ext cx="21763" cy="2176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87629" y="258544"/>
            <a:ext cx="25015" cy="2501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07223" y="4730570"/>
            <a:ext cx="21332" cy="213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21752" y="4333775"/>
            <a:ext cx="11748" cy="1174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26934" y="3835254"/>
            <a:ext cx="17255" cy="1725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46263" y="1233519"/>
            <a:ext cx="14151" cy="1415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62511" y="32710"/>
            <a:ext cx="11319" cy="1131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87834" y="2427544"/>
            <a:ext cx="30971" cy="3097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31577" y="214945"/>
            <a:ext cx="19657" cy="1965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1855" y="298294"/>
            <a:ext cx="13718" cy="1371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05044" y="1149560"/>
            <a:ext cx="15588" cy="1558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44374" y="3620574"/>
            <a:ext cx="19042" cy="19042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68985" y="2259372"/>
            <a:ext cx="28086" cy="2808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87333" y="3977473"/>
            <a:ext cx="25479" cy="2547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56825" y="3551779"/>
            <a:ext cx="25370" cy="2537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51462" y="4163324"/>
            <a:ext cx="11732" cy="117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558676" y="5090181"/>
            <a:ext cx="17569" cy="1756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71368" y="2458866"/>
            <a:ext cx="19344" cy="1934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58032" y="2490182"/>
            <a:ext cx="16919" cy="1691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049203" y="1476196"/>
            <a:ext cx="9613" cy="961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73012" y="1322956"/>
            <a:ext cx="18039" cy="1803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2257" y="3888435"/>
            <a:ext cx="15508" cy="1550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56039" y="3606314"/>
            <a:ext cx="12274" cy="1227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0384" y="6429453"/>
            <a:ext cx="18079" cy="1807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33820" y="152870"/>
            <a:ext cx="27158" cy="2715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59846" y="2256674"/>
            <a:ext cx="24004" cy="2400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74082" y="3602791"/>
            <a:ext cx="12836" cy="1283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68500" y="1736201"/>
            <a:ext cx="15368" cy="1536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13564" y="2234650"/>
            <a:ext cx="28724" cy="2872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90744" y="518873"/>
            <a:ext cx="26668" cy="2666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54358" y="3231171"/>
            <a:ext cx="11395" cy="1139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40248" y="107262"/>
            <a:ext cx="13212" cy="1321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185190" y="1786737"/>
            <a:ext cx="28035" cy="2803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97206" y="5607052"/>
            <a:ext cx="20611" cy="2061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27788" y="5589996"/>
            <a:ext cx="29619" cy="2961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17917" y="3320879"/>
            <a:ext cx="16696" cy="1669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10167" y="2436126"/>
            <a:ext cx="22587" cy="2258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00275" y="3521828"/>
            <a:ext cx="11796" cy="1179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97999" y="6341211"/>
            <a:ext cx="30301" cy="3030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863153" y="3522931"/>
            <a:ext cx="11830" cy="1183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46997" y="6536830"/>
            <a:ext cx="22210" cy="2221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32045" y="4319029"/>
            <a:ext cx="14599" cy="1459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347633" y="3134783"/>
            <a:ext cx="16314" cy="1631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027766" y="5643851"/>
            <a:ext cx="29687" cy="2968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24115" y="5505659"/>
            <a:ext cx="31744" cy="3174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20458" y="5574197"/>
            <a:ext cx="31561" cy="3156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28767" y="6586652"/>
            <a:ext cx="19600" cy="1960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441770" y="4042409"/>
            <a:ext cx="10356" cy="1035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749894" y="5980449"/>
            <a:ext cx="202258" cy="10348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03273" y="5534386"/>
            <a:ext cx="625723" cy="106736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705477" y="2797726"/>
            <a:ext cx="412077" cy="3281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724362" y="3661222"/>
            <a:ext cx="290085" cy="4288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062068" y="5538605"/>
            <a:ext cx="728793" cy="12144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012674" y="1468434"/>
            <a:ext cx="345902" cy="19285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7924" y="6094261"/>
            <a:ext cx="457123" cy="296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009544" y="1941443"/>
            <a:ext cx="723190" cy="3347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930368" y="3828731"/>
            <a:ext cx="582721" cy="75366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07 地热体验：温泉疗愈与蒸汽路径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罗托鲁瓦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08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波利尼西亚温泉将地热资源转化为休闲疗愈体验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步道串联热泉、泥浆池和喷气孔，形成可步行的地热课堂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硫磺气味和升腾蒸汽是现场体验的重要部分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地热旅游将自然科学、身体感受和场地氛围结合在一起。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7315200" y="1600200"/>
            <a:ext cx="91440" cy="594360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7818120" y="1600200"/>
            <a:ext cx="91440" cy="594360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8321040" y="1600200"/>
            <a:ext cx="91440" cy="594360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8823960" y="1600200"/>
            <a:ext cx="91440" cy="594360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9326880" y="1600200"/>
            <a:ext cx="91440" cy="594360"/>
          </a:xfrm>
          <a:prstGeom prst="curvedConnector3">
            <a:avLst/>
          </a:prstGeom>
          <a:ln w="38100">
            <a:solidFill>
              <a:srgbClr val="DCE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040880" y="3246120"/>
            <a:ext cx="3246120" cy="1143000"/>
          </a:xfrm>
          <a:prstGeom prst="ellipse">
            <a:avLst/>
          </a:prstGeom>
          <a:solidFill>
            <a:srgbClr val="5DA9B2"/>
          </a:solidFill>
          <a:ln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54077" y="5327002"/>
            <a:ext cx="10335" cy="1033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60153" y="2307352"/>
            <a:ext cx="16046" cy="1604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093" y="6739392"/>
            <a:ext cx="27910" cy="2791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724" y="2150293"/>
            <a:ext cx="13181" cy="1318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43552" y="6348731"/>
            <a:ext cx="26346" cy="2634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85355" y="1133446"/>
            <a:ext cx="13227" cy="1322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89920" y="4305325"/>
            <a:ext cx="17204" cy="1720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7350" y="4259908"/>
            <a:ext cx="25440" cy="2544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14162" y="5663784"/>
            <a:ext cx="18551" cy="1855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88221" y="1274002"/>
            <a:ext cx="23741" cy="2374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97574" y="3106158"/>
            <a:ext cx="12670" cy="1267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12179" y="6598968"/>
            <a:ext cx="28474" cy="2847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2958" y="3595036"/>
            <a:ext cx="10014" cy="1001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4452" y="6020777"/>
            <a:ext cx="25743" cy="2574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68520" y="6188243"/>
            <a:ext cx="28085" cy="2808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5109" y="3487659"/>
            <a:ext cx="23360" cy="2336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1314" y="5618034"/>
            <a:ext cx="9735" cy="973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95012" y="4306172"/>
            <a:ext cx="31635" cy="3163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9832" y="1490639"/>
            <a:ext cx="9869" cy="986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77852" y="167959"/>
            <a:ext cx="18113" cy="1811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4213" y="5751573"/>
            <a:ext cx="10753" cy="1075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4092" y="3641310"/>
            <a:ext cx="18619" cy="1861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25307" y="6024894"/>
            <a:ext cx="24111" cy="2411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6312" y="4618306"/>
            <a:ext cx="30696" cy="3069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12391" y="4401297"/>
            <a:ext cx="14827" cy="1482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6966" y="543021"/>
            <a:ext cx="30967" cy="30967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9795" y="2333956"/>
            <a:ext cx="27961" cy="2796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48045" y="3488883"/>
            <a:ext cx="27206" cy="2720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69404" y="6681656"/>
            <a:ext cx="29349" cy="29349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68077" y="2430014"/>
            <a:ext cx="18728" cy="1872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91484" y="4958269"/>
            <a:ext cx="15645" cy="1564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3379" y="674765"/>
            <a:ext cx="31473" cy="3147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00456" y="2006585"/>
            <a:ext cx="31091" cy="3109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55711" y="5324788"/>
            <a:ext cx="9607" cy="960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97047" y="4399212"/>
            <a:ext cx="18814" cy="1881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68011" y="2600977"/>
            <a:ext cx="22079" cy="2207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47319" y="3518773"/>
            <a:ext cx="24952" cy="2495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58951" y="2020764"/>
            <a:ext cx="20129" cy="2012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24326" y="1785530"/>
            <a:ext cx="31907" cy="3190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02523" y="652571"/>
            <a:ext cx="30506" cy="30506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96799" y="5325914"/>
            <a:ext cx="25776" cy="2577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42927" y="1093376"/>
            <a:ext cx="25240" cy="2524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23529" y="3945771"/>
            <a:ext cx="13262" cy="1326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76022" y="5874055"/>
            <a:ext cx="17538" cy="1753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92458" y="4212059"/>
            <a:ext cx="11560" cy="1156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1569" y="2846236"/>
            <a:ext cx="10521" cy="1052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39704" y="1888213"/>
            <a:ext cx="25990" cy="2599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05059" y="1009484"/>
            <a:ext cx="28965" cy="2896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543028" y="4848872"/>
            <a:ext cx="13831" cy="1383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78319" y="134502"/>
            <a:ext cx="27790" cy="2779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845387" y="6075173"/>
            <a:ext cx="22740" cy="2274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07261" y="3653441"/>
            <a:ext cx="10417" cy="1041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4174" y="1972964"/>
            <a:ext cx="21003" cy="2100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051714" y="334159"/>
            <a:ext cx="24434" cy="2443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80055" y="2612886"/>
            <a:ext cx="27522" cy="2752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125550" y="3486550"/>
            <a:ext cx="27155" cy="2715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09415" y="2508262"/>
            <a:ext cx="21651" cy="2165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894065" y="5326209"/>
            <a:ext cx="9191" cy="9191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66550" y="1392853"/>
            <a:ext cx="12238" cy="1223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51067" y="3588138"/>
            <a:ext cx="10781" cy="1078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11757" y="3953488"/>
            <a:ext cx="19615" cy="1961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216244" y="4598533"/>
            <a:ext cx="9977" cy="9977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739406" y="4615977"/>
            <a:ext cx="26296" cy="2629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67996" y="6249332"/>
            <a:ext cx="23843" cy="2384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81939" y="5863651"/>
            <a:ext cx="30094" cy="3009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4910869" y="711360"/>
            <a:ext cx="393280" cy="3433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997311" y="1368739"/>
            <a:ext cx="503623" cy="1405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447753" y="5276455"/>
            <a:ext cx="598504" cy="136936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45958" y="796797"/>
            <a:ext cx="260015" cy="2988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770388" y="1841532"/>
            <a:ext cx="240268" cy="7882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767559" y="2615884"/>
            <a:ext cx="355935" cy="11232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582601" y="3783522"/>
            <a:ext cx="561781" cy="8972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050811" y="4954925"/>
            <a:ext cx="433188" cy="3319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187754" y="3432964"/>
            <a:ext cx="569410" cy="13595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08 文化意义：毛利叙事中的热力与绿玉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人地关系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09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毛利人将地热蒸汽视作神灵力量的显现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蒂普亚地热保护区展示传统雕刻、歌舞与地热景观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峡湾地区曾是寻找绿玉 pounamu 的重要区域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这些景观不仅是自然奇观，也是毛利记忆、工艺和地方身份的载体。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5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498079" y="1828800"/>
            <a:ext cx="2057400" cy="2697480"/>
          </a:xfrm>
          <a:prstGeom prst="roundRect">
            <a:avLst/>
          </a:prstGeom>
          <a:solidFill>
            <a:srgbClr val="E8CC99"/>
          </a:solidFill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001000" y="2697480"/>
            <a:ext cx="201168" cy="201168"/>
          </a:xfrm>
          <a:prstGeom prst="ellipse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823960" y="2697480"/>
            <a:ext cx="201168" cy="201168"/>
          </a:xfrm>
          <a:prstGeom prst="ellipse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8183879" y="3337560"/>
            <a:ext cx="685801" cy="0"/>
          </a:xfrm>
          <a:prstGeom prst="curvedConnector3">
            <a:avLst/>
          </a:prstGeom>
          <a:ln w="26670">
            <a:solidFill>
              <a:srgbClr val="E08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651287" y="1278805"/>
            <a:ext cx="15086" cy="1508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77373" y="6080415"/>
            <a:ext cx="30543" cy="3054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97679" y="2854947"/>
            <a:ext cx="26104" cy="2610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45266" y="2032478"/>
            <a:ext cx="12355" cy="1235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1714" y="3957363"/>
            <a:ext cx="17663" cy="1766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67002" y="4466883"/>
            <a:ext cx="22051" cy="2205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57353" y="5146213"/>
            <a:ext cx="27965" cy="2796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87013" y="634130"/>
            <a:ext cx="10312" cy="1031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77630" y="6433248"/>
            <a:ext cx="30511" cy="3051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23642" y="4921568"/>
            <a:ext cx="18532" cy="1853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56415" y="4021651"/>
            <a:ext cx="20555" cy="20555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42" y="1028101"/>
            <a:ext cx="10831" cy="1083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9841" y="6255227"/>
            <a:ext cx="25688" cy="25688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6607" y="1250671"/>
            <a:ext cx="25599" cy="2559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15376" y="653941"/>
            <a:ext cx="27556" cy="2755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82229" y="5098157"/>
            <a:ext cx="22504" cy="2250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47862" y="2483127"/>
            <a:ext cx="10036" cy="1003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80252" y="5888058"/>
            <a:ext cx="10610" cy="10610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34675" y="5675351"/>
            <a:ext cx="17429" cy="1742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6774" y="5567837"/>
            <a:ext cx="14137" cy="1413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3524" y="5332857"/>
            <a:ext cx="23351" cy="2335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89532" y="5221622"/>
            <a:ext cx="9899" cy="989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90735" y="222936"/>
            <a:ext cx="10070" cy="1007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9628" y="5815754"/>
            <a:ext cx="29543" cy="2954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7333" y="3092144"/>
            <a:ext cx="19406" cy="19406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8801" y="2106592"/>
            <a:ext cx="24053" cy="2405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14428" y="4754580"/>
            <a:ext cx="24542" cy="2454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61740" y="3032829"/>
            <a:ext cx="21041" cy="2104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44948" y="5366915"/>
            <a:ext cx="23063" cy="23063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30913" y="3903293"/>
            <a:ext cx="15752" cy="1575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17532" y="2540042"/>
            <a:ext cx="28565" cy="2856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99552" y="952223"/>
            <a:ext cx="30611" cy="3061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58998" y="572496"/>
            <a:ext cx="12245" cy="1224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67406" y="3761907"/>
            <a:ext cx="22599" cy="2259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84498" y="208683"/>
            <a:ext cx="29040" cy="29040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57492" y="1460921"/>
            <a:ext cx="20875" cy="2087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68400" y="5071271"/>
            <a:ext cx="9217" cy="9217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39836" y="3384886"/>
            <a:ext cx="9439" cy="943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4286" y="1033837"/>
            <a:ext cx="16928" cy="1692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7432" y="4446277"/>
            <a:ext cx="24424" cy="2442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7716" y="5901649"/>
            <a:ext cx="14244" cy="14244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12064" y="2619309"/>
            <a:ext cx="14433" cy="1443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75749" y="6171808"/>
            <a:ext cx="10536" cy="1053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79393" y="1085204"/>
            <a:ext cx="25470" cy="25470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74350" y="1815932"/>
            <a:ext cx="11789" cy="1178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66454" y="2555716"/>
            <a:ext cx="16024" cy="16024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34059" y="1630262"/>
            <a:ext cx="18472" cy="18472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30895" y="6245674"/>
            <a:ext cx="14409" cy="1440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341435" y="5300509"/>
            <a:ext cx="23719" cy="2371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30830" y="1426151"/>
            <a:ext cx="11938" cy="11938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19026" y="4410644"/>
            <a:ext cx="21285" cy="2128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30380" y="5778760"/>
            <a:ext cx="17233" cy="17233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63976" y="1260067"/>
            <a:ext cx="10458" cy="10458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16619" y="6552197"/>
            <a:ext cx="20369" cy="2036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63600" y="209360"/>
            <a:ext cx="25786" cy="25786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56082" y="19293"/>
            <a:ext cx="23445" cy="23445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915647" y="230940"/>
            <a:ext cx="24782" cy="24782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90993" y="3564020"/>
            <a:ext cx="29084" cy="29084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78044" y="1137476"/>
            <a:ext cx="30089" cy="30089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75070" y="6130082"/>
            <a:ext cx="14559" cy="14559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030949" y="2914287"/>
            <a:ext cx="16963" cy="16963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463498" y="1112968"/>
            <a:ext cx="20081" cy="2008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0795" y="4567625"/>
            <a:ext cx="24011" cy="24011"/>
          </a:xfrm>
          <a:prstGeom prst="ellipse">
            <a:avLst/>
          </a:prstGeom>
          <a:solidFill>
            <a:srgbClr val="E8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85460" y="6657672"/>
            <a:ext cx="22885" cy="22885"/>
          </a:xfrm>
          <a:prstGeom prst="ellipse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462420" y="5087864"/>
            <a:ext cx="24021" cy="24021"/>
          </a:xfrm>
          <a:prstGeom prst="ellipse">
            <a:avLst/>
          </a:prstGeom>
          <a:solidFill>
            <a:srgbClr val="DC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4035062" y="2459093"/>
            <a:ext cx="276781" cy="41690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814967" y="3548991"/>
            <a:ext cx="446861" cy="25213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520466" y="1124607"/>
            <a:ext cx="545838" cy="55827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680161" y="2602358"/>
            <a:ext cx="292662" cy="64759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079744" y="5178122"/>
            <a:ext cx="410695" cy="134594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66310" y="4501008"/>
            <a:ext cx="491282" cy="18223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53946" y="5941075"/>
            <a:ext cx="404698" cy="52788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801100" y="3467348"/>
            <a:ext cx="499952" cy="119595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17785" y="2845079"/>
            <a:ext cx="368837" cy="8751"/>
          </a:xfrm>
          <a:prstGeom prst="curvedConnector3">
            <a:avLst/>
          </a:prstGeom>
          <a:ln w="8890">
            <a:solidFill>
              <a:srgbClr val="E2D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4360" y="320040"/>
            <a:ext cx="8138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7474F"/>
                </a:solidFill>
                <a:latin typeface="KaiTi"/>
              </a:rPr>
              <a:t>09 总结路线：冰川之海与火山之泉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356616"/>
            <a:ext cx="2011680" cy="347472"/>
          </a:xfrm>
          <a:prstGeom prst="roundRect">
            <a:avLst/>
          </a:prstGeom>
          <a:solidFill>
            <a:srgbClr val="F0F8F4"/>
          </a:solidFill>
          <a:ln w="13970">
            <a:solidFill>
              <a:srgbClr val="489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3768" y="4114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8928F"/>
                </a:solidFill>
                <a:latin typeface="Microsoft YaHei"/>
              </a:rPr>
              <a:t>演示收束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84280" y="6327648"/>
            <a:ext cx="411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97077"/>
                </a:solidFill>
                <a:latin typeface="Microsoft YaHei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713232" y="1389888"/>
            <a:ext cx="164592" cy="164592"/>
          </a:xfrm>
          <a:prstGeom prst="ellipse">
            <a:avLst/>
          </a:prstGeom>
          <a:solidFill>
            <a:srgbClr val="489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" y="1325880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南岛峡湾：冰川侵蚀、海水淹没、雨林瀑布生态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" y="2011679"/>
            <a:ext cx="164592" cy="164592"/>
          </a:xfrm>
          <a:prstGeom prst="ellipse">
            <a:avLst/>
          </a:prstGeom>
          <a:solidFill>
            <a:srgbClr val="78A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7552" y="1947672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北岛地热：火山热源、地下水循环、彩色热泉景观</a:t>
            </a:r>
          </a:p>
        </p:txBody>
      </p:sp>
      <p:sp>
        <p:nvSpPr>
          <p:cNvPr id="84" name="Oval 83"/>
          <p:cNvSpPr/>
          <p:nvPr/>
        </p:nvSpPr>
        <p:spPr>
          <a:xfrm>
            <a:off x="713232" y="2633472"/>
            <a:ext cx="164592" cy="164592"/>
          </a:xfrm>
          <a:prstGeom prst="ellipse">
            <a:avLst/>
          </a:prstGeom>
          <a:solidFill>
            <a:srgbClr val="E08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552" y="2569464"/>
            <a:ext cx="4617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37474F"/>
                </a:solidFill>
                <a:latin typeface="Microsoft YaHei"/>
              </a:rPr>
              <a:t>共同价值：高辨识度自然景观与深厚文化体验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5074920" cy="841248"/>
          </a:xfrm>
          <a:prstGeom prst="roundRect">
            <a:avLst/>
          </a:prstGeom>
          <a:solidFill>
            <a:srgbClr val="FFFBEE"/>
          </a:solidFill>
          <a:ln w="13970">
            <a:solidFill>
              <a:srgbClr val="DCA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1832" y="515721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7077"/>
                </a:solidFill>
                <a:latin typeface="Microsoft YaHei"/>
              </a:rPr>
              <a:t>用一条旅行线索串起两种地貌机制：看见时间、力量与文化如何塑造新西兰。</a:t>
            </a:r>
          </a:p>
        </p:txBody>
      </p:sp>
      <p:sp>
        <p:nvSpPr>
          <p:cNvPr id="88" name="Cloud 87"/>
          <p:cNvSpPr/>
          <p:nvPr/>
        </p:nvSpPr>
        <p:spPr>
          <a:xfrm>
            <a:off x="6400800" y="1234440"/>
            <a:ext cx="4389120" cy="4297680"/>
          </a:xfrm>
          <a:prstGeom prst="cloud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6675120" y="4133087"/>
            <a:ext cx="475488" cy="256033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242048" y="3859870"/>
            <a:ext cx="475488" cy="63671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08975" y="3762137"/>
            <a:ext cx="475488" cy="48166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75904" y="3911330"/>
            <a:ext cx="475488" cy="223772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42832" y="4223099"/>
            <a:ext cx="475487" cy="429037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509760" y="4494882"/>
            <a:ext cx="475488" cy="475242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076688" y="4528513"/>
            <a:ext cx="475488" cy="319907"/>
          </a:xfrm>
          <a:prstGeom prst="curvedConnector3">
            <a:avLst/>
          </a:prstGeom>
          <a:ln w="29209">
            <a:solidFill>
              <a:srgbClr val="E086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766560" y="1965960"/>
            <a:ext cx="804672" cy="1024127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571232" y="1965960"/>
            <a:ext cx="804672" cy="1024127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220102" y="2126894"/>
            <a:ext cx="351130" cy="292608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571232" y="2126894"/>
            <a:ext cx="307238" cy="329184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001000" y="1828800"/>
            <a:ext cx="955548" cy="1216152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956548" y="1828800"/>
            <a:ext cx="955548" cy="1216152"/>
          </a:xfrm>
          <a:prstGeom prst="curvedConnector3">
            <a:avLst/>
          </a:prstGeom>
          <a:ln w="2794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539581" y="2019909"/>
            <a:ext cx="416967" cy="347472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956548" y="2019909"/>
            <a:ext cx="364845" cy="390906"/>
          </a:xfrm>
          <a:prstGeom prst="curvedConnector3">
            <a:avLst/>
          </a:prstGeom>
          <a:ln w="20320">
            <a:solidFill>
              <a:srgbClr val="5DA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9418320" y="3291840"/>
            <a:ext cx="411480" cy="411480"/>
          </a:xfrm>
          <a:prstGeom prst="ellipse">
            <a:avLst/>
          </a:prstGeom>
          <a:solidFill>
            <a:srgbClr val="E0866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84848" y="5074920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7077"/>
                </a:solidFill>
                <a:latin typeface="Microsoft YaHei"/>
              </a:rPr>
              <a:t>South Island fjords  -&gt;  North Island geothermal fields</a:t>
            </a:r>
          </a:p>
        </p:txBody>
      </p:sp>
    </p:spTree>
  </p:cSld>
  <p:clrMapOvr>
    <a:masterClrMapping/>
  </p:clrMapOvr>
  <p:transition spd="med" advClick="1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