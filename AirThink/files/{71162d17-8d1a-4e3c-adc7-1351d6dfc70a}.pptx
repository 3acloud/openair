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开场：强调这是天文学尺度上的缓慢过程，主要由引力和气体相互作用驱动。</a:t>
            </a:r>
          </a:p>
          <a:p>
            <a:r>
              <a:t>动画设计：使用淡入切换，并按从标题、要点到简笔画的阅读顺序布置对象，适合在 PowerPoint 中进一步套用“擦除/淡入”逐步显现。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解释仙女座星系的基本量级，建立尺度感。</a:t>
            </a:r>
          </a:p>
          <a:p>
            <a:r>
              <a:t>动画设计：使用淡入切换，并按从标题、要点到简笔画的阅读顺序布置对象，适合在 PowerPoint 中进一步套用“擦除/淡入”逐步显现。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说明径向速度与横向速度共同决定轨道；HST测量降低了不确定性。</a:t>
            </a:r>
          </a:p>
          <a:p>
            <a:r>
              <a:t>动画设计：使用淡入切换，并按从标题、要点到简笔画的阅读顺序布置对象，适合在 PowerPoint 中进一步套用“擦除/淡入”逐步显现。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把碰撞理解为数十亿年尺度的演化，而不是瞬间灾难。</a:t>
            </a:r>
          </a:p>
          <a:p>
            <a:r>
              <a:t>动画设计：使用淡入切换，并按从标题、要点到简笔画的阅读顺序布置对象，适合在 PowerPoint 中进一步套用“擦除/淡入”逐步显现。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强调碰撞的物理本质：不是恒星撞恒星，而是引力场和气体介质相互作用。</a:t>
            </a:r>
          </a:p>
          <a:p>
            <a:r>
              <a:t>动画设计：使用淡入切换，并按从标题、要点到简笔画的阅读顺序布置对象，适合在 PowerPoint 中进一步套用“擦除/淡入”逐步显现。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把气体云碰撞和恒星形成联系起来，是星系合并中最直观的可观测后果之一。</a:t>
            </a:r>
          </a:p>
          <a:p>
            <a:r>
              <a:t>动画设计：使用淡入切换，并按从标题、要点到简笔画的阅读顺序布置对象，适合在 PowerPoint 中进一步套用“擦除/淡入”逐步显现。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黑洞合并通常发生在星系主体合并之后更晚阶段，时间尺度存在不确定性。</a:t>
            </a:r>
          </a:p>
          <a:p>
            <a:r>
              <a:t>动画设计：使用淡入切换，并按从标题、要点到简笔画的阅读顺序布置对象，适合在 PowerPoint 中进一步套用“擦除/淡入”逐步显现。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区分太阳系的动力学命运与地球宜居性命运，避免灾难片式误读。</a:t>
            </a:r>
          </a:p>
          <a:p>
            <a:r>
              <a:t>动画设计：使用淡入切换，并按从标题、要点到简笔画的阅读顺序布置对象，适合在 PowerPoint 中进一步套用“擦除/淡入”逐步显现。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给出最终图景：合并后不是两个螺旋星系并排，而是共同演化为新的大星系。</a:t>
            </a:r>
          </a:p>
          <a:p>
            <a:r>
              <a:t>动画设计：使用淡入切换，并按从标题、要点到简笔画的阅读顺序布置对象，适合在 PowerPoint 中进一步套用“擦除/淡入”逐步显现。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收束：强调四个关键词，适合作为演示结束页或问答过渡。</a:t>
            </a:r>
          </a:p>
          <a:p>
            <a:r>
              <a:t>动画设计：使用淡入切换，并按从标题、要点到简笔画的阅读顺序布置对象，适合在 PowerPoint 中进一步套用“擦除/淡入”逐步显现。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2532829" y="290532"/>
            <a:ext cx="86695" cy="742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69641" y="2581440"/>
            <a:ext cx="83286" cy="1095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637916" y="1964219"/>
            <a:ext cx="53985" cy="1098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779515" y="1383897"/>
            <a:ext cx="112633" cy="549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459136" y="747386"/>
            <a:ext cx="107186" cy="1352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58691" y="251803"/>
            <a:ext cx="86185" cy="500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66824" y="2753362"/>
            <a:ext cx="131029" cy="448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178002" y="4421716"/>
            <a:ext cx="49913" cy="279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11572" y="235448"/>
            <a:ext cx="147546" cy="379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317" y="4920503"/>
            <a:ext cx="134008" cy="487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277863" y="1727903"/>
            <a:ext cx="74560" cy="752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323170" y="5395123"/>
            <a:ext cx="113383" cy="1298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06800" y="6438633"/>
            <a:ext cx="71301" cy="1024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7778" y="541148"/>
            <a:ext cx="139842" cy="365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25318" y="4030235"/>
            <a:ext cx="147199" cy="1059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36022" y="1297203"/>
            <a:ext cx="63029" cy="113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341803" y="6665217"/>
            <a:ext cx="94455" cy="1063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96294" y="6437642"/>
            <a:ext cx="57717" cy="719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3576" y="2450750"/>
            <a:ext cx="122214" cy="314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56906" y="5551761"/>
            <a:ext cx="95771" cy="108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2020626" y="1102880"/>
            <a:ext cx="68666" cy="48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41527" y="1077966"/>
            <a:ext cx="60217" cy="917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532529" y="5159504"/>
            <a:ext cx="154969" cy="586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8958" y="5290042"/>
            <a:ext cx="122279" cy="942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454192" y="6155650"/>
            <a:ext cx="146017" cy="459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22389" y="1113152"/>
            <a:ext cx="155963" cy="240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770813" y="3657697"/>
            <a:ext cx="152596" cy="1299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328523" y="6209741"/>
            <a:ext cx="95585" cy="430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576918" y="3671425"/>
            <a:ext cx="64103" cy="870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78297" y="4099946"/>
            <a:ext cx="56029" cy="263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4487" y="247244"/>
            <a:ext cx="117219" cy="345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640964" y="2159956"/>
            <a:ext cx="64645" cy="1194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391007" y="5656661"/>
            <a:ext cx="101003" cy="457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01879" y="6268594"/>
            <a:ext cx="48468" cy="644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535264" y="410879"/>
            <a:ext cx="131083" cy="451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31314" y="2185316"/>
            <a:ext cx="117286" cy="1305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431812" y="2265702"/>
            <a:ext cx="162202" cy="1241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567062" y="2162083"/>
            <a:ext cx="47736" cy="622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759093" y="5441547"/>
            <a:ext cx="99774" cy="5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424688" y="4734393"/>
            <a:ext cx="110430" cy="931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23583" y="2219170"/>
            <a:ext cx="158056" cy="952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985519" y="1066653"/>
            <a:ext cx="90975" cy="21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934140" y="6281377"/>
            <a:ext cx="148305" cy="1173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644906" y="1860476"/>
            <a:ext cx="102548" cy="1101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28437" y="3462788"/>
            <a:ext cx="93465" cy="1369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809848" y="6514700"/>
            <a:ext cx="159734" cy="138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228962" y="6639257"/>
            <a:ext cx="96057" cy="928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683593" y="2382804"/>
            <a:ext cx="132570" cy="1252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06424" y="1875212"/>
            <a:ext cx="91906" cy="863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01945" y="4316050"/>
            <a:ext cx="133713" cy="1326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391836" y="4565290"/>
            <a:ext cx="71349" cy="1072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444411" y="2668567"/>
            <a:ext cx="83519" cy="349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816176" y="539664"/>
            <a:ext cx="56335" cy="5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066529" y="1641708"/>
            <a:ext cx="72520" cy="423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322965" y="3408623"/>
            <a:ext cx="94466" cy="1083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7820976" y="58244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789965" y="653942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931817" y="132179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928822" y="234737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779846" y="492184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97316" y="173460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910847" y="514717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413002" y="482217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24167" y="495957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834026" y="81108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005819" y="230340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46795" y="496545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986782" y="18240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37144" y="621163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504486" y="64299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38873" y="296772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604911" y="445582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177090" y="422371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807957" y="527116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463647" y="77525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607861" y="568365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27797" y="459107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503631" y="205006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541638" y="192725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170954" y="236010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090050" y="232195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790919" y="48091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055356" y="22959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704040" y="249895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960551" y="247081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265865" y="421098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898848" y="34343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547198" y="88950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209681" y="144522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63367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7A8B"/>
                </a:solidFill>
                <a:latin typeface="Comic Sans MS"/>
              </a:defRPr>
            </a:pPr>
            <a:r>
              <a:t>01/10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84048"/>
            <a:ext cx="804672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2F3437"/>
                </a:solidFill>
                <a:latin typeface="YouYuan"/>
              </a:defRPr>
            </a:pPr>
            <a:r>
              <a:t>与仙女座星系碰撞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" y="1033271"/>
            <a:ext cx="7132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D7A8B"/>
                </a:solidFill>
                <a:latin typeface="Microsoft YaHei"/>
              </a:defRPr>
            </a:pPr>
            <a:r>
              <a:t>40亿年后的银河系命运：一次缓慢的引力重排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4360" y="932688"/>
            <a:ext cx="4800600" cy="0"/>
          </a:xfrm>
          <a:prstGeom prst="line">
            <a:avLst/>
          </a:prstGeom>
          <a:ln w="1270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3771407" y="4206121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535163" y="2982985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854917" y="2093553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141127" y="1371648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275429" y="5288448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519858" y="4260583"/>
            <a:ext cx="22860" cy="2286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92566" y="4150527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402415" y="6016627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358690" y="2341505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083157" y="3818796"/>
            <a:ext cx="45720" cy="4572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333949" y="3943876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540994" y="1780830"/>
            <a:ext cx="27432" cy="27432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854107" y="4097382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653745" y="2166649"/>
            <a:ext cx="36576" cy="36576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013043" y="4279931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187868" y="3960740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514118" y="4059444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152406" y="3451517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45943" y="5458092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12060" y="3422129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198771" y="2472767"/>
            <a:ext cx="22860" cy="2286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914594" y="5518153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370685" y="3698183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568609" y="2479762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331942" y="5162667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753092" y="2346821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161634" y="1904648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70623" y="3600071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518087" y="5493941"/>
            <a:ext cx="27432" cy="27432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460656" y="5480797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584181" y="2861496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391109" y="5171424"/>
            <a:ext cx="45720" cy="4572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800448" y="2159385"/>
            <a:ext cx="22860" cy="2286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882409" y="2090072"/>
            <a:ext cx="36576" cy="36576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632849" y="1634685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678656" y="5013115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824481" y="4452805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610522" y="3556949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001502" y="3863914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942157" y="3481702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987926" y="4331541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636858" y="3362327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126511" y="4854930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540378" y="1676003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2650071" y="2381994"/>
            <a:ext cx="27432" cy="27432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72272" y="1928823"/>
            <a:ext cx="27432" cy="27432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053678" y="2314418"/>
            <a:ext cx="27432" cy="27432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2616695" y="2636625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05741" y="6207926"/>
            <a:ext cx="45720" cy="4572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1321731" y="5296094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274153" y="2233117"/>
            <a:ext cx="45720" cy="4572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1375536" y="3764134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294591" y="3237041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842306" y="4971706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580139" y="2716388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672494" y="6267194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91740" y="4181780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81004" y="5357936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714478" y="1807116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2515160" y="4366670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06252" y="3468338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413997" y="5049828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008621" y="3734205"/>
            <a:ext cx="45720" cy="4572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062784" y="5789181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663806" y="3826874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44072" y="5362098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256437" y="4036169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221920" y="2934066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600112" y="2028029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399711" y="4045536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289584" y="1412333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469888" y="1810313"/>
            <a:ext cx="36576" cy="36576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Connector 166"/>
          <p:cNvCxnSpPr/>
          <p:nvPr/>
        </p:nvCxnSpPr>
        <p:spPr>
          <a:xfrm flipH="1">
            <a:off x="3795741" y="3668011"/>
            <a:ext cx="7396" cy="359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795741" y="3671604"/>
            <a:ext cx="20810" cy="501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816551" y="3676136"/>
            <a:ext cx="17299" cy="48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833850" y="3676136"/>
            <a:ext cx="3269" cy="964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3837119" y="3685779"/>
            <a:ext cx="4323" cy="1438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3841442" y="3700167"/>
            <a:ext cx="12609" cy="356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854051" y="3696781"/>
            <a:ext cx="4493" cy="695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3858544" y="3696781"/>
            <a:ext cx="17429" cy="2917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3864805" y="3725957"/>
            <a:ext cx="11168" cy="170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3863701" y="3727664"/>
            <a:ext cx="1104" cy="1340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863701" y="3741064"/>
            <a:ext cx="6203" cy="838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3854649" y="3749450"/>
            <a:ext cx="15255" cy="398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3840828" y="3753431"/>
            <a:ext cx="13821" cy="2180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3840828" y="3771920"/>
            <a:ext cx="265" cy="331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3823604" y="3771920"/>
            <a:ext cx="17489" cy="1503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 flipV="1">
            <a:off x="3793409" y="3785290"/>
            <a:ext cx="30195" cy="166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3770024" y="3785290"/>
            <a:ext cx="23385" cy="702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>
            <a:off x="3739912" y="3792312"/>
            <a:ext cx="30112" cy="1842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 flipV="1">
            <a:off x="3735762" y="3802216"/>
            <a:ext cx="4150" cy="851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>
            <a:off x="3696425" y="3802216"/>
            <a:ext cx="39337" cy="906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>
            <a:off x="3680987" y="3811278"/>
            <a:ext cx="15438" cy="988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 flipV="1">
            <a:off x="3644133" y="3809035"/>
            <a:ext cx="36854" cy="1212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>
            <a:off x="3618818" y="3809035"/>
            <a:ext cx="25315" cy="582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 flipV="1">
            <a:off x="3587819" y="3799315"/>
            <a:ext cx="30999" cy="1554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 flipV="1">
            <a:off x="3564380" y="3796988"/>
            <a:ext cx="23439" cy="232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 flipV="1">
            <a:off x="3519284" y="3781538"/>
            <a:ext cx="45096" cy="1545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 flipV="1">
            <a:off x="3481847" y="3779167"/>
            <a:ext cx="37437" cy="237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 flipV="1">
            <a:off x="3457542" y="3745923"/>
            <a:ext cx="24305" cy="33244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H="1" flipV="1">
            <a:off x="3439180" y="3728161"/>
            <a:ext cx="18362" cy="1776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>
            <a:off x="3409756" y="3728161"/>
            <a:ext cx="29424" cy="2454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H="1" flipV="1">
            <a:off x="3405256" y="3697158"/>
            <a:ext cx="4500" cy="3345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H="1" flipV="1">
            <a:off x="3372165" y="3686708"/>
            <a:ext cx="33091" cy="1045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 flipV="1">
            <a:off x="3367130" y="3673787"/>
            <a:ext cx="5035" cy="1292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367130" y="3640017"/>
            <a:ext cx="5465" cy="3377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 flipV="1">
            <a:off x="3355650" y="3603597"/>
            <a:ext cx="16945" cy="3642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355650" y="3580551"/>
            <a:ext cx="19331" cy="2304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H="1" flipV="1">
            <a:off x="3360500" y="3554701"/>
            <a:ext cx="14481" cy="2585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360500" y="3540494"/>
            <a:ext cx="18804" cy="1420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3379304" y="3517095"/>
            <a:ext cx="8349" cy="2339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387653" y="3480562"/>
            <a:ext cx="42132" cy="3653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429785" y="3446623"/>
            <a:ext cx="14948" cy="3393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444733" y="3422677"/>
            <a:ext cx="38641" cy="2394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483374" y="3411468"/>
            <a:ext cx="42292" cy="1120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3525666" y="3392551"/>
            <a:ext cx="39496" cy="1891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3565162" y="3382749"/>
            <a:ext cx="47087" cy="980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3612249" y="3360169"/>
            <a:ext cx="51791" cy="2258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3664040" y="3338018"/>
            <a:ext cx="36721" cy="2215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3700761" y="3338018"/>
            <a:ext cx="57419" cy="276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3758180" y="3323087"/>
            <a:ext cx="78554" cy="1769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3836734" y="3323087"/>
            <a:ext cx="53935" cy="1000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3890669" y="3322598"/>
            <a:ext cx="55179" cy="1049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3945848" y="3322598"/>
            <a:ext cx="61874" cy="2029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4007722" y="3326755"/>
            <a:ext cx="81771" cy="1613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4089493" y="3326755"/>
            <a:ext cx="59176" cy="2314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4148669" y="3349901"/>
            <a:ext cx="77539" cy="986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4226208" y="3359768"/>
            <a:ext cx="41327" cy="2734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4267535" y="3387115"/>
            <a:ext cx="60198" cy="2191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4327733" y="3409034"/>
            <a:ext cx="65279" cy="1797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4393012" y="3427011"/>
            <a:ext cx="43091" cy="3683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4436103" y="3463849"/>
            <a:ext cx="59992" cy="3442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4496095" y="3498276"/>
            <a:ext cx="43614" cy="3261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4539709" y="3530888"/>
            <a:ext cx="25384" cy="4606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4565093" y="3576956"/>
            <a:ext cx="19954" cy="1709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585047" y="3594055"/>
            <a:ext cx="25547" cy="4180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4610594" y="3635863"/>
            <a:ext cx="9480" cy="5496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4620074" y="3690823"/>
            <a:ext cx="21795" cy="4856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H="1">
            <a:off x="4622848" y="3739389"/>
            <a:ext cx="19021" cy="5829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H="1">
            <a:off x="4615797" y="3797686"/>
            <a:ext cx="7051" cy="2924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4596989" y="3826935"/>
            <a:ext cx="18808" cy="4395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4573064" y="3870886"/>
            <a:ext cx="23925" cy="4764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H="1">
            <a:off x="4523939" y="3918526"/>
            <a:ext cx="49125" cy="4879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H="1">
            <a:off x="4500552" y="3967317"/>
            <a:ext cx="23387" cy="3010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H="1">
            <a:off x="4440577" y="3997417"/>
            <a:ext cx="59975" cy="6455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4383271" y="4061968"/>
            <a:ext cx="57306" cy="1688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H="1">
            <a:off x="4315011" y="4078857"/>
            <a:ext cx="68260" cy="4781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H="1">
            <a:off x="4222107" y="4126674"/>
            <a:ext cx="92904" cy="3140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H="1">
            <a:off x="4144813" y="4158077"/>
            <a:ext cx="77294" cy="3624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H="1">
            <a:off x="4074960" y="4194317"/>
            <a:ext cx="69853" cy="8154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H="1">
            <a:off x="3956666" y="4202471"/>
            <a:ext cx="118294" cy="1991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3880468" y="4222386"/>
            <a:ext cx="76198" cy="886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H="1">
            <a:off x="3760067" y="4231251"/>
            <a:ext cx="120401" cy="2060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H="1" flipV="1">
            <a:off x="3658172" y="4250203"/>
            <a:ext cx="101895" cy="165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H="1" flipV="1">
            <a:off x="3578083" y="4249978"/>
            <a:ext cx="80089" cy="22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H="1">
            <a:off x="3470250" y="4249978"/>
            <a:ext cx="107833" cy="236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Oval 250"/>
          <p:cNvSpPr/>
          <p:nvPr/>
        </p:nvSpPr>
        <p:spPr>
          <a:xfrm>
            <a:off x="3685032" y="3602735"/>
            <a:ext cx="219456" cy="146304"/>
          </a:xfrm>
          <a:prstGeom prst="ellipse">
            <a:avLst/>
          </a:prstGeom>
          <a:solidFill>
            <a:srgbClr val="5D7A8B"/>
          </a:solidFill>
          <a:ln w="1016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Connector 251"/>
          <p:cNvCxnSpPr/>
          <p:nvPr/>
        </p:nvCxnSpPr>
        <p:spPr>
          <a:xfrm>
            <a:off x="8034313" y="3240255"/>
            <a:ext cx="28473" cy="1508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8062786" y="3245848"/>
            <a:ext cx="25723" cy="9489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 flipV="1">
            <a:off x="8084854" y="3240955"/>
            <a:ext cx="3655" cy="489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8084854" y="3240955"/>
            <a:ext cx="25032" cy="30257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8109886" y="3270270"/>
            <a:ext cx="8554" cy="94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 flipV="1">
            <a:off x="8113796" y="3269764"/>
            <a:ext cx="4644" cy="506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113796" y="3269764"/>
            <a:ext cx="21012" cy="21546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8134808" y="3291310"/>
            <a:ext cx="683" cy="805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H="1" flipV="1">
            <a:off x="8125368" y="3294230"/>
            <a:ext cx="10123" cy="513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8122542" y="3294230"/>
            <a:ext cx="2826" cy="2526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8122542" y="3319495"/>
            <a:ext cx="738" cy="819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H="1">
            <a:off x="8115043" y="3320314"/>
            <a:ext cx="8237" cy="26671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>
            <a:off x="8098474" y="3346985"/>
            <a:ext cx="16569" cy="304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 flipV="1">
            <a:off x="8089817" y="3349767"/>
            <a:ext cx="8657" cy="26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>
            <a:off x="8067451" y="3349767"/>
            <a:ext cx="22366" cy="16270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H="1" flipV="1">
            <a:off x="8039502" y="3365582"/>
            <a:ext cx="27949" cy="45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>
            <a:off x="8038056" y="3365582"/>
            <a:ext cx="1446" cy="11867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H="1">
            <a:off x="8008554" y="3377449"/>
            <a:ext cx="29502" cy="7130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 flipV="1">
            <a:off x="7967959" y="3383891"/>
            <a:ext cx="40595" cy="688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 flipV="1">
            <a:off x="7941338" y="3383764"/>
            <a:ext cx="26621" cy="127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>
            <a:off x="7915953" y="3383764"/>
            <a:ext cx="25385" cy="486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H="1">
            <a:off x="7868716" y="3388626"/>
            <a:ext cx="47237" cy="809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H="1" flipV="1">
            <a:off x="7834757" y="3396677"/>
            <a:ext cx="33959" cy="4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H="1" flipV="1">
            <a:off x="7814735" y="3380144"/>
            <a:ext cx="20022" cy="1653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H="1" flipV="1">
            <a:off x="7775164" y="3378309"/>
            <a:ext cx="39571" cy="183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H="1" flipV="1">
            <a:off x="7745660" y="3372459"/>
            <a:ext cx="29504" cy="5850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H="1" flipV="1">
            <a:off x="7700355" y="3353847"/>
            <a:ext cx="45305" cy="1861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H="1" flipV="1">
            <a:off x="7661181" y="3325601"/>
            <a:ext cx="39174" cy="28246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H="1" flipV="1">
            <a:off x="7628971" y="3317666"/>
            <a:ext cx="32210" cy="793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H="1" flipV="1">
            <a:off x="7614179" y="3291422"/>
            <a:ext cx="14792" cy="26244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H="1" flipV="1">
            <a:off x="7581364" y="3275107"/>
            <a:ext cx="32815" cy="1631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581364" y="3265691"/>
            <a:ext cx="3805" cy="9416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H="1" flipV="1">
            <a:off x="7556430" y="3233871"/>
            <a:ext cx="28739" cy="31820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H="1" flipV="1">
            <a:off x="7548893" y="3197870"/>
            <a:ext cx="7537" cy="36001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7548893" y="3164663"/>
            <a:ext cx="8512" cy="33207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H="1" flipV="1">
            <a:off x="7552720" y="3130878"/>
            <a:ext cx="4685" cy="3378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7552720" y="3108176"/>
            <a:ext cx="9086" cy="2270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7561806" y="3075320"/>
            <a:ext cx="4047" cy="32856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7565853" y="3052123"/>
            <a:ext cx="22402" cy="23197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7588255" y="3016813"/>
            <a:ext cx="18215" cy="35310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7606470" y="3000711"/>
            <a:ext cx="41913" cy="1610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7648383" y="2968458"/>
            <a:ext cx="26755" cy="3225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7675138" y="2933504"/>
            <a:ext cx="53835" cy="34954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7728973" y="2915640"/>
            <a:ext cx="34297" cy="17864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7763270" y="2914060"/>
            <a:ext cx="72876" cy="1580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7836146" y="2873460"/>
            <a:ext cx="46330" cy="40600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7882476" y="2860357"/>
            <a:ext cx="74344" cy="1310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7956820" y="2860357"/>
            <a:ext cx="57344" cy="1138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8014164" y="2850671"/>
            <a:ext cx="61541" cy="21071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8075705" y="2848784"/>
            <a:ext cx="74175" cy="1887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8149880" y="2848784"/>
            <a:ext cx="88520" cy="1240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8238400" y="2850024"/>
            <a:ext cx="57944" cy="742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8296344" y="2857446"/>
            <a:ext cx="93191" cy="2736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8389535" y="2860182"/>
            <a:ext cx="63632" cy="5046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8453167" y="2865228"/>
            <a:ext cx="84574" cy="12371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8537741" y="2877599"/>
            <a:ext cx="47148" cy="38430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8584889" y="2916029"/>
            <a:ext cx="78515" cy="18728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8663404" y="2934757"/>
            <a:ext cx="68462" cy="2885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8731866" y="2963610"/>
            <a:ext cx="49923" cy="30824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8781789" y="2994434"/>
            <a:ext cx="72943" cy="38887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8854732" y="3033321"/>
            <a:ext cx="22901" cy="39768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8877633" y="3073089"/>
            <a:ext cx="63470" cy="39768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8941103" y="3112857"/>
            <a:ext cx="27947" cy="64519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8969050" y="3177376"/>
            <a:ext cx="25228" cy="27959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8994278" y="3205335"/>
            <a:ext cx="6607" cy="56316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9000885" y="3261651"/>
            <a:ext cx="11366" cy="67968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H="1">
            <a:off x="9000488" y="3329619"/>
            <a:ext cx="11763" cy="3465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H="1">
            <a:off x="9000406" y="3364271"/>
            <a:ext cx="82" cy="60668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H="1">
            <a:off x="8965666" y="3424939"/>
            <a:ext cx="34740" cy="53774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>
            <a:off x="8929480" y="3478713"/>
            <a:ext cx="36186" cy="62057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H="1">
            <a:off x="8890314" y="3540770"/>
            <a:ext cx="39166" cy="27528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>
            <a:off x="8840508" y="3568298"/>
            <a:ext cx="49806" cy="5868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>
            <a:off x="8794880" y="3626981"/>
            <a:ext cx="45628" cy="3875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H="1">
            <a:off x="8721622" y="3665733"/>
            <a:ext cx="73258" cy="5513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>
            <a:off x="8634022" y="3720868"/>
            <a:ext cx="87600" cy="45451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H="1">
            <a:off x="8555612" y="3766319"/>
            <a:ext cx="78410" cy="18136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H="1">
            <a:off x="8464019" y="3784455"/>
            <a:ext cx="91593" cy="5621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H="1">
            <a:off x="8339776" y="3840670"/>
            <a:ext cx="124243" cy="12413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H="1">
            <a:off x="8251012" y="3853083"/>
            <a:ext cx="88764" cy="9459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H="1">
            <a:off x="8137046" y="3862542"/>
            <a:ext cx="113966" cy="29432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H="1">
            <a:off x="8021822" y="3891974"/>
            <a:ext cx="115224" cy="8165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H="1" flipV="1">
            <a:off x="7899174" y="3897789"/>
            <a:ext cx="122648" cy="2350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H="1">
            <a:off x="7776362" y="3897789"/>
            <a:ext cx="122812" cy="12317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H="1" flipV="1">
            <a:off x="7673617" y="3882398"/>
            <a:ext cx="102745" cy="27708"/>
          </a:xfrm>
          <a:prstGeom prst="line">
            <a:avLst/>
          </a:prstGeom>
          <a:ln w="1397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Oval 335"/>
          <p:cNvSpPr/>
          <p:nvPr/>
        </p:nvSpPr>
        <p:spPr>
          <a:xfrm>
            <a:off x="7936992" y="3172968"/>
            <a:ext cx="219456" cy="146304"/>
          </a:xfrm>
          <a:prstGeom prst="ellipse">
            <a:avLst/>
          </a:prstGeom>
          <a:solidFill>
            <a:srgbClr val="A97770"/>
          </a:solidFill>
          <a:ln w="10160">
            <a:solidFill>
              <a:srgbClr val="A9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 flipV="1">
            <a:off x="4892040" y="3337560"/>
            <a:ext cx="1828800" cy="228600"/>
          </a:xfrm>
          <a:prstGeom prst="line">
            <a:avLst/>
          </a:prstGeom>
          <a:ln w="17780">
            <a:solidFill>
              <a:srgbClr val="B29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Rounded Rectangle 337"/>
          <p:cNvSpPr/>
          <p:nvPr/>
        </p:nvSpPr>
        <p:spPr>
          <a:xfrm>
            <a:off x="804672" y="5166360"/>
            <a:ext cx="512064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8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不是“星星互撞”，而是两个巨大引力系统的合舞。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308740" y="3178949"/>
            <a:ext cx="91829" cy="645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6954881" y="2785048"/>
            <a:ext cx="131510" cy="493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13579" y="3528658"/>
            <a:ext cx="57612" cy="348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554744" y="6076447"/>
            <a:ext cx="130084" cy="604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2660" y="6962"/>
            <a:ext cx="47022" cy="461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538626" y="3082902"/>
            <a:ext cx="150227" cy="897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601507" y="1084398"/>
            <a:ext cx="90564" cy="845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132947" y="4937571"/>
            <a:ext cx="96851" cy="610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676862" y="3255692"/>
            <a:ext cx="55374" cy="61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666744" y="4951725"/>
            <a:ext cx="78450" cy="1130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915895" y="2850447"/>
            <a:ext cx="164186" cy="1253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01403" y="5309633"/>
            <a:ext cx="64399" cy="161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84391" y="4683507"/>
            <a:ext cx="50749" cy="783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76844" y="1756875"/>
            <a:ext cx="80673" cy="1241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21809" y="1520025"/>
            <a:ext cx="125331" cy="1090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69408" y="3853108"/>
            <a:ext cx="113535" cy="1211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101973" y="4747401"/>
            <a:ext cx="68359" cy="457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744429" y="651306"/>
            <a:ext cx="104067" cy="1134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938300" y="1624029"/>
            <a:ext cx="134297" cy="1211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034157" y="1839452"/>
            <a:ext cx="89295" cy="1109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398804" y="1949394"/>
            <a:ext cx="98777" cy="64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833100" y="887882"/>
            <a:ext cx="133722" cy="877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325023" y="4142044"/>
            <a:ext cx="151030" cy="1233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305873" y="2451900"/>
            <a:ext cx="104727" cy="302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116385" y="1336566"/>
            <a:ext cx="93525" cy="926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889591" y="5901583"/>
            <a:ext cx="158987" cy="89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646555" y="1343073"/>
            <a:ext cx="95123" cy="82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399073" y="6262600"/>
            <a:ext cx="123151" cy="299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76419" y="5464485"/>
            <a:ext cx="117956" cy="436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659575" y="5618823"/>
            <a:ext cx="55635" cy="959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252767" y="1422218"/>
            <a:ext cx="164153" cy="360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67509" y="4151534"/>
            <a:ext cx="101046" cy="840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172422" y="5982883"/>
            <a:ext cx="46409" cy="33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434604" y="3580748"/>
            <a:ext cx="132163" cy="1359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617371" y="4413658"/>
            <a:ext cx="83828" cy="1138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704808" y="2060543"/>
            <a:ext cx="58016" cy="383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60189" y="723352"/>
            <a:ext cx="47155" cy="347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004753" y="4112325"/>
            <a:ext cx="87918" cy="1266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451308" y="125136"/>
            <a:ext cx="107362" cy="1259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973121" y="-2152"/>
            <a:ext cx="118072" cy="647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136234" y="2876980"/>
            <a:ext cx="94717" cy="928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266639" y="6667086"/>
            <a:ext cx="159047" cy="854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27334" y="6656636"/>
            <a:ext cx="87949" cy="31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1085417" y="1043112"/>
            <a:ext cx="80794" cy="941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905897" y="6585545"/>
            <a:ext cx="71081" cy="1109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85401" y="1201188"/>
            <a:ext cx="155502" cy="647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629475" y="2359385"/>
            <a:ext cx="66944" cy="730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83423" y="6491326"/>
            <a:ext cx="154004" cy="119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761176" y="3862444"/>
            <a:ext cx="110763" cy="321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061468" y="1717463"/>
            <a:ext cx="100796" cy="659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59551" y="4580569"/>
            <a:ext cx="49847" cy="1331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584737" y="2855512"/>
            <a:ext cx="64164" cy="156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840651" y="748491"/>
            <a:ext cx="57614" cy="234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963525" y="1197659"/>
            <a:ext cx="63461" cy="239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8469" y="4872957"/>
            <a:ext cx="49511" cy="1312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6164352" y="25081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816170" y="308544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122518" y="109024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61353" y="532346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584091" y="254397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18748" y="421309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237790" y="119798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438610" y="552230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780331" y="486192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449741" y="59854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554878" y="87535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901360" y="388109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303711" y="408101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93979" y="126537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685763" y="54824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60893" y="385170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591262" y="432395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397552" y="598236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556639" y="623748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965944" y="498370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859804" y="401218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022334" y="46217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902017" y="468783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7245" y="278386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795949" y="18522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62938" y="99904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040352" y="571649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505432" y="470062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916388" y="19259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410961" y="618198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644518" y="33076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844167" y="13570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90357" y="393550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283519" y="289611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63367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7A8B"/>
                </a:solidFill>
                <a:latin typeface="Comic Sans MS"/>
              </a:defRPr>
            </a:pPr>
            <a:r>
              <a:t>02/10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84048"/>
            <a:ext cx="804672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2F3437"/>
                </a:solidFill>
                <a:latin typeface="YouYuan"/>
              </a:defRPr>
            </a:pPr>
            <a:r>
              <a:t>1. 近邻巨型星系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" y="1033271"/>
            <a:ext cx="7132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D7A8B"/>
                </a:solidFill>
                <a:latin typeface="Microsoft YaHei"/>
              </a:defRPr>
            </a:pPr>
            <a:r>
              <a:t>M31：银河系最大的近邻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4360" y="932688"/>
            <a:ext cx="4800600" cy="0"/>
          </a:xfrm>
          <a:prstGeom prst="line">
            <a:avLst/>
          </a:prstGeom>
          <a:ln w="1270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685800" y="1618488"/>
            <a:ext cx="118872" cy="118872"/>
          </a:xfrm>
          <a:prstGeom prst="ellipse">
            <a:avLst/>
          </a:prstGeom>
          <a:solidFill>
            <a:srgbClr val="5D7A8B"/>
          </a:solidFill>
          <a:ln w="889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1832" y="1554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直径约22万光年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比银河系更宽，盘面和晕结构都更庞大。</a:t>
            </a:r>
          </a:p>
        </p:txBody>
      </p:sp>
      <p:sp>
        <p:nvSpPr>
          <p:cNvPr id="97" name="Oval 96"/>
          <p:cNvSpPr/>
          <p:nvPr/>
        </p:nvSpPr>
        <p:spPr>
          <a:xfrm>
            <a:off x="685800" y="2514600"/>
            <a:ext cx="118872" cy="118872"/>
          </a:xfrm>
          <a:prstGeom prst="ellipse">
            <a:avLst/>
          </a:prstGeom>
          <a:solidFill>
            <a:srgbClr val="788E79"/>
          </a:solidFill>
          <a:ln w="8890"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41832" y="24505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约1万亿颗恒星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恒星总数高于银河系，是本星系群的重量级成员。</a:t>
            </a:r>
          </a:p>
        </p:txBody>
      </p:sp>
      <p:sp>
        <p:nvSpPr>
          <p:cNvPr id="99" name="Oval 98"/>
          <p:cNvSpPr/>
          <p:nvPr/>
        </p:nvSpPr>
        <p:spPr>
          <a:xfrm>
            <a:off x="685800" y="3410712"/>
            <a:ext cx="118872" cy="118872"/>
          </a:xfrm>
          <a:prstGeom prst="ellipse">
            <a:avLst/>
          </a:prstGeom>
          <a:solidFill>
            <a:srgbClr val="B29760"/>
          </a:solidFill>
          <a:ln w="8890">
            <a:solidFill>
              <a:srgbClr val="B29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1832" y="334670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距离约250万光年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在宇宙尺度上很近，但仍远超人类日常直觉。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8603759" y="3286218"/>
            <a:ext cx="3786" cy="1743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607545" y="3282126"/>
            <a:ext cx="21974" cy="2152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629519" y="3282126"/>
            <a:ext cx="21556" cy="2561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651075" y="3298037"/>
            <a:ext cx="21470" cy="970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8666341" y="3298037"/>
            <a:ext cx="6204" cy="527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666341" y="3303308"/>
            <a:ext cx="8919" cy="2676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675260" y="3330070"/>
            <a:ext cx="25219" cy="2864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8691504" y="3332934"/>
            <a:ext cx="8975" cy="2188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8691480" y="3354819"/>
            <a:ext cx="24" cy="411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691480" y="3358938"/>
            <a:ext cx="4871" cy="360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8693936" y="3362543"/>
            <a:ext cx="2415" cy="3678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8688982" y="3399325"/>
            <a:ext cx="4954" cy="1505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8673301" y="3414376"/>
            <a:ext cx="15681" cy="315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 flipV="1">
            <a:off x="8651400" y="3413974"/>
            <a:ext cx="21901" cy="355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8634699" y="3413974"/>
            <a:ext cx="16701" cy="1153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613006" y="3425505"/>
            <a:ext cx="21693" cy="2230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8559002" y="3447810"/>
            <a:ext cx="54004" cy="1232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8529859" y="3460132"/>
            <a:ext cx="29143" cy="103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8498987" y="3461168"/>
            <a:ext cx="30872" cy="1181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8460379" y="3472983"/>
            <a:ext cx="38608" cy="749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8423428" y="3479307"/>
            <a:ext cx="36951" cy="117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8392496" y="3462936"/>
            <a:ext cx="30932" cy="1637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8348843" y="3462936"/>
            <a:ext cx="43653" cy="1732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 flipV="1">
            <a:off x="8308550" y="3462420"/>
            <a:ext cx="40293" cy="1783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8267859" y="3441781"/>
            <a:ext cx="40691" cy="2063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 flipV="1">
            <a:off x="8222248" y="3428629"/>
            <a:ext cx="45611" cy="1315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 flipV="1">
            <a:off x="8180688" y="3426195"/>
            <a:ext cx="41560" cy="2434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 flipV="1">
            <a:off x="8145416" y="3408245"/>
            <a:ext cx="35272" cy="1795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8105871" y="3369540"/>
            <a:ext cx="39545" cy="3870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 flipV="1">
            <a:off x="8067833" y="3348395"/>
            <a:ext cx="38038" cy="2114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 flipV="1">
            <a:off x="8042590" y="3326304"/>
            <a:ext cx="25243" cy="2209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 flipV="1">
            <a:off x="8033756" y="3311693"/>
            <a:ext cx="8834" cy="1461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 flipV="1">
            <a:off x="8003761" y="3270128"/>
            <a:ext cx="29995" cy="4156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7988715" y="3240677"/>
            <a:ext cx="15046" cy="2945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 flipV="1">
            <a:off x="7975895" y="3208789"/>
            <a:ext cx="12820" cy="3188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7975895" y="3173249"/>
            <a:ext cx="17072" cy="3554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7992967" y="3125385"/>
            <a:ext cx="18522" cy="47864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011489" y="3093426"/>
            <a:ext cx="4376" cy="3195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015865" y="3069393"/>
            <a:ext cx="14358" cy="2403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030223" y="3009406"/>
            <a:ext cx="25312" cy="5998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055535" y="2994441"/>
            <a:ext cx="63421" cy="1496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8118956" y="2952152"/>
            <a:ext cx="33346" cy="4228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8152302" y="2929625"/>
            <a:ext cx="59080" cy="2252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8211382" y="2889382"/>
            <a:ext cx="63547" cy="4024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8274929" y="2876082"/>
            <a:ext cx="58810" cy="1330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8333739" y="2856188"/>
            <a:ext cx="62467" cy="19894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8396206" y="2836839"/>
            <a:ext cx="88288" cy="1934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8484494" y="2831033"/>
            <a:ext cx="84659" cy="580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8569153" y="2815716"/>
            <a:ext cx="62853" cy="1531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8632006" y="2811843"/>
            <a:ext cx="95554" cy="387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8727560" y="2791905"/>
            <a:ext cx="100580" cy="1993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828140" y="2791905"/>
            <a:ext cx="80232" cy="1241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908372" y="2804320"/>
            <a:ext cx="87151" cy="495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995523" y="2809275"/>
            <a:ext cx="106035" cy="2385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9101558" y="2833128"/>
            <a:ext cx="84257" cy="1486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9185815" y="2847990"/>
            <a:ext cx="71940" cy="4442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257755" y="2892411"/>
            <a:ext cx="95937" cy="3154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9353692" y="2923954"/>
            <a:ext cx="86802" cy="2501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9440494" y="2948964"/>
            <a:ext cx="50110" cy="51971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9490604" y="3000935"/>
            <a:ext cx="71944" cy="2914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9562548" y="3030077"/>
            <a:ext cx="67828" cy="5211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9630376" y="3082189"/>
            <a:ext cx="44698" cy="4376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9675074" y="3125952"/>
            <a:ext cx="50083" cy="6602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9725157" y="3191974"/>
            <a:ext cx="11550" cy="56570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9736707" y="3248544"/>
            <a:ext cx="23151" cy="5686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9759858" y="3305406"/>
            <a:ext cx="3505" cy="62106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9756589" y="3367512"/>
            <a:ext cx="6774" cy="6576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9756589" y="3433280"/>
            <a:ext cx="5577" cy="63055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9717717" y="3496335"/>
            <a:ext cx="44449" cy="9079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9679310" y="3587127"/>
            <a:ext cx="38407" cy="5784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9645979" y="3644974"/>
            <a:ext cx="33331" cy="5601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9575046" y="3700987"/>
            <a:ext cx="70933" cy="60818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9504520" y="3761805"/>
            <a:ext cx="70526" cy="44134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9413696" y="3805939"/>
            <a:ext cx="90824" cy="6043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9318368" y="3866376"/>
            <a:ext cx="95328" cy="4544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9210140" y="3911818"/>
            <a:ext cx="108228" cy="4757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9090628" y="3959390"/>
            <a:ext cx="119512" cy="45897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8965420" y="4005287"/>
            <a:ext cx="125208" cy="20594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8833737" y="4025881"/>
            <a:ext cx="131683" cy="3701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8712042" y="4062894"/>
            <a:ext cx="121695" cy="19002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8567693" y="4081896"/>
            <a:ext cx="144349" cy="572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8405801" y="4087619"/>
            <a:ext cx="161892" cy="1957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 flipV="1">
            <a:off x="8283049" y="4082453"/>
            <a:ext cx="122752" cy="24739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 flipV="1">
            <a:off x="8129876" y="4073850"/>
            <a:ext cx="153173" cy="8603"/>
          </a:xfrm>
          <a:prstGeom prst="line">
            <a:avLst/>
          </a:prstGeom>
          <a:ln w="1397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Oval 184"/>
          <p:cNvSpPr/>
          <p:nvPr/>
        </p:nvSpPr>
        <p:spPr>
          <a:xfrm>
            <a:off x="8485632" y="3218688"/>
            <a:ext cx="219456" cy="146304"/>
          </a:xfrm>
          <a:prstGeom prst="ellipse">
            <a:avLst/>
          </a:prstGeom>
          <a:solidFill>
            <a:srgbClr val="5D7A8B"/>
          </a:solidFill>
          <a:ln w="1016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7818120" y="4992624"/>
            <a:ext cx="1874519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5D7A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M31 / Andromeda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44911" y="6092252"/>
            <a:ext cx="110021" cy="1092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994630" y="3303135"/>
            <a:ext cx="46055" cy="267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8439025" y="5855902"/>
            <a:ext cx="108479" cy="1265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153439" y="342797"/>
            <a:ext cx="113409" cy="214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568564" y="4432114"/>
            <a:ext cx="88879" cy="618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802984" y="391662"/>
            <a:ext cx="153062" cy="1132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84204" y="5452470"/>
            <a:ext cx="54967" cy="70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098063" y="2048647"/>
            <a:ext cx="98312" cy="349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848896" y="2720644"/>
            <a:ext cx="113822" cy="1249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05603" y="3491622"/>
            <a:ext cx="146905" cy="943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671787" y="6506522"/>
            <a:ext cx="110102" cy="947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1598" y="3010552"/>
            <a:ext cx="162869" cy="802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541359" y="5890916"/>
            <a:ext cx="120363" cy="923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633878" y="4988045"/>
            <a:ext cx="51155" cy="1090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319256" y="6339156"/>
            <a:ext cx="129235" cy="1114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33676" y="3667023"/>
            <a:ext cx="102269" cy="437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89486" y="4830535"/>
            <a:ext cx="49419" cy="22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803829" y="879749"/>
            <a:ext cx="123551" cy="654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71831" y="3163877"/>
            <a:ext cx="96681" cy="278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9849" y="6147800"/>
            <a:ext cx="123024" cy="1249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42237" y="3698914"/>
            <a:ext cx="67424" cy="81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39916" y="989306"/>
            <a:ext cx="137985" cy="639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163485" y="6122895"/>
            <a:ext cx="88545" cy="804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888280" y="4363642"/>
            <a:ext cx="138111" cy="287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201449" y="4169803"/>
            <a:ext cx="65513" cy="133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38519" y="5622878"/>
            <a:ext cx="72766" cy="181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32640" y="3731811"/>
            <a:ext cx="48070" cy="53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213326" y="3342392"/>
            <a:ext cx="151914" cy="1290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615682" y="5798814"/>
            <a:ext cx="95059" cy="357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322106" y="180175"/>
            <a:ext cx="108586" cy="946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858314" y="1668323"/>
            <a:ext cx="70292" cy="239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010571" y="4182342"/>
            <a:ext cx="112415" cy="315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23345" y="6348078"/>
            <a:ext cx="50265" cy="1090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075750" y="6624730"/>
            <a:ext cx="71434" cy="360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886509" y="1815932"/>
            <a:ext cx="76783" cy="1238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158313" y="480964"/>
            <a:ext cx="108735" cy="774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135424" y="5758"/>
            <a:ext cx="70331" cy="130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85076" y="5712570"/>
            <a:ext cx="108204" cy="690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1888558" y="785077"/>
            <a:ext cx="50684" cy="540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81567" y="3587982"/>
            <a:ext cx="151352" cy="1302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52105" y="3982939"/>
            <a:ext cx="79782" cy="768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477572" y="6369702"/>
            <a:ext cx="162639" cy="752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43785" y="4645343"/>
            <a:ext cx="76803" cy="19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1777036" y="920551"/>
            <a:ext cx="69630" cy="609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62781" y="2667876"/>
            <a:ext cx="108605" cy="283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5629" y="3290557"/>
            <a:ext cx="118755" cy="742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03313" y="38603"/>
            <a:ext cx="89936" cy="1010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403079" y="4528763"/>
            <a:ext cx="161832" cy="68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502888" y="5004221"/>
            <a:ext cx="95537" cy="715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639932" y="828183"/>
            <a:ext cx="96046" cy="1116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41557" y="1653315"/>
            <a:ext cx="141907" cy="1089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10435" y="5644912"/>
            <a:ext cx="83723" cy="680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521666" y="3705643"/>
            <a:ext cx="104950" cy="1005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760940" y="1349111"/>
            <a:ext cx="55689" cy="1040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65333" y="1449785"/>
            <a:ext cx="129629" cy="1017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132084" y="397001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44385" y="318368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34119" y="489729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69456" y="40870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858692" y="497604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22147" y="653463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63788" y="166443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98006" y="133348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139483" y="132734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377530" y="361905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543269" y="518329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146849" y="576432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688576" y="152845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79262" y="510871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122722" y="457617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97917" y="470847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98172" y="40533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804685" y="127366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483126" y="283367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945022" y="580850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430218" y="139177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400935" y="151664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203388" y="38125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726827" y="413796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714021" y="456530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100099" y="118100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22942" y="185363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932930" y="222360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789467" y="245430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722203" y="202539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613625" y="166205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058916" y="310539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279259" y="4530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996183" y="462805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63367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7A8B"/>
                </a:solidFill>
                <a:latin typeface="Comic Sans MS"/>
              </a:defRPr>
            </a:pPr>
            <a:r>
              <a:t>03/10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84048"/>
            <a:ext cx="804672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2F3437"/>
                </a:solidFill>
                <a:latin typeface="YouYuan"/>
              </a:defRPr>
            </a:pPr>
            <a:r>
              <a:t>2. 它正在靠近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" y="1033271"/>
            <a:ext cx="7132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D7A8B"/>
                </a:solidFill>
                <a:latin typeface="Microsoft YaHei"/>
              </a:defRPr>
            </a:pPr>
            <a:r>
              <a:t>从光谱红移到哈勃空间望远镜的轨道测量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4360" y="932688"/>
            <a:ext cx="4800600" cy="0"/>
          </a:xfrm>
          <a:prstGeom prst="line">
            <a:avLst/>
          </a:prstGeom>
          <a:ln w="1270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713232" y="1645920"/>
            <a:ext cx="118872" cy="118872"/>
          </a:xfrm>
          <a:prstGeom prst="ellipse">
            <a:avLst/>
          </a:prstGeom>
          <a:solidFill>
            <a:srgbClr val="A97770"/>
          </a:solidFill>
          <a:ln w="8890">
            <a:solidFill>
              <a:srgbClr val="A9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9264" y="1581912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1920年代：多普勒效应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光谱显示仙女座相对银河系接近。</a:t>
            </a:r>
          </a:p>
        </p:txBody>
      </p:sp>
      <p:sp>
        <p:nvSpPr>
          <p:cNvPr id="97" name="Oval 96"/>
          <p:cNvSpPr/>
          <p:nvPr/>
        </p:nvSpPr>
        <p:spPr>
          <a:xfrm>
            <a:off x="713232" y="2542032"/>
            <a:ext cx="118872" cy="118872"/>
          </a:xfrm>
          <a:prstGeom prst="ellipse">
            <a:avLst/>
          </a:prstGeom>
          <a:solidFill>
            <a:srgbClr val="5D7A8B"/>
          </a:solidFill>
          <a:ln w="889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2478024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径向速度约110 km/s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这是沿视线方向的接近速度，不能单独决定碰撞结局。</a:t>
            </a:r>
          </a:p>
        </p:txBody>
      </p:sp>
      <p:sp>
        <p:nvSpPr>
          <p:cNvPr id="99" name="Oval 98"/>
          <p:cNvSpPr/>
          <p:nvPr/>
        </p:nvSpPr>
        <p:spPr>
          <a:xfrm>
            <a:off x="713232" y="3438144"/>
            <a:ext cx="118872" cy="118872"/>
          </a:xfrm>
          <a:prstGeom prst="ellipse">
            <a:avLst/>
          </a:prstGeom>
          <a:solidFill>
            <a:srgbClr val="788E79"/>
          </a:solidFill>
          <a:ln w="8890"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9264" y="3374136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HST补齐横向运动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精密天体测量让未来轨道预测更可靠。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7452360" y="1920240"/>
            <a:ext cx="0" cy="2880360"/>
          </a:xfrm>
          <a:prstGeom prst="line">
            <a:avLst/>
          </a:prstGeom>
          <a:ln w="2540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854696" y="1920240"/>
            <a:ext cx="0" cy="2880360"/>
          </a:xfrm>
          <a:prstGeom prst="line">
            <a:avLst/>
          </a:prstGeom>
          <a:ln w="2540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257032" y="1920240"/>
            <a:ext cx="0" cy="2880360"/>
          </a:xfrm>
          <a:prstGeom prst="line">
            <a:avLst/>
          </a:prstGeom>
          <a:ln w="25400">
            <a:solidFill>
              <a:srgbClr val="B29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659368" y="1920240"/>
            <a:ext cx="0" cy="2880360"/>
          </a:xfrm>
          <a:prstGeom prst="line">
            <a:avLst/>
          </a:prstGeom>
          <a:ln w="2540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6903720" y="5074920"/>
            <a:ext cx="3337560" cy="502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9777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谱线整体向蓝端偏移 -&gt; 接近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5583640" y="2638259"/>
            <a:ext cx="120551" cy="679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829324" y="3135494"/>
            <a:ext cx="110647" cy="959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7404" y="756561"/>
            <a:ext cx="137814" cy="407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235835" y="5868250"/>
            <a:ext cx="156173" cy="200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0081" y="713078"/>
            <a:ext cx="83056" cy="1077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0104" y="1157692"/>
            <a:ext cx="118284" cy="749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348716" y="4888108"/>
            <a:ext cx="144370" cy="1030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639075" y="3522110"/>
            <a:ext cx="59667" cy="882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08265" y="1804844"/>
            <a:ext cx="134295" cy="674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835766" y="983009"/>
            <a:ext cx="78023" cy="56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194119" y="346338"/>
            <a:ext cx="160907" cy="1073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41456" y="676909"/>
            <a:ext cx="131704" cy="815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24419" y="2043573"/>
            <a:ext cx="102840" cy="1146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09383" y="1637517"/>
            <a:ext cx="98649" cy="1022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727016" y="2358693"/>
            <a:ext cx="132434" cy="185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79252" y="5008246"/>
            <a:ext cx="53374" cy="1076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92310" y="6536127"/>
            <a:ext cx="150359" cy="872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59275" y="3797158"/>
            <a:ext cx="98932" cy="511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489731" y="4417266"/>
            <a:ext cx="158591" cy="1303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711408" y="2301615"/>
            <a:ext cx="152667" cy="511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715621" y="5892022"/>
            <a:ext cx="143004" cy="712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10428" y="3094895"/>
            <a:ext cx="155949" cy="769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67358" y="2132054"/>
            <a:ext cx="144597" cy="152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40842" y="1839327"/>
            <a:ext cx="147557" cy="860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688057" y="459406"/>
            <a:ext cx="119831" cy="587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755257" y="2913120"/>
            <a:ext cx="54929" cy="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1022" y="128894"/>
            <a:ext cx="107859" cy="230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1645" y="3278872"/>
            <a:ext cx="48447" cy="459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33171" y="4528765"/>
            <a:ext cx="64264" cy="662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755195" y="1072730"/>
            <a:ext cx="79134" cy="518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302984" y="2223646"/>
            <a:ext cx="96237" cy="1201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97398" y="1650637"/>
            <a:ext cx="58416" cy="625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155900" y="450031"/>
            <a:ext cx="84149" cy="1157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617522" y="1736581"/>
            <a:ext cx="162529" cy="571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708702" y="3214132"/>
            <a:ext cx="102622" cy="951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807058" y="3747006"/>
            <a:ext cx="78284" cy="1101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395825" y="3284502"/>
            <a:ext cx="87292" cy="237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743110" y="5261453"/>
            <a:ext cx="134661" cy="372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166430" y="6002436"/>
            <a:ext cx="140414" cy="1106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592925" y="1085909"/>
            <a:ext cx="84242" cy="386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009857" y="2012097"/>
            <a:ext cx="127692" cy="416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324907" y="1438151"/>
            <a:ext cx="85430" cy="970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025117" y="1132685"/>
            <a:ext cx="139854" cy="780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465499" y="3765466"/>
            <a:ext cx="58300" cy="1156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1522" y="4450457"/>
            <a:ext cx="107943" cy="258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607021" y="4754149"/>
            <a:ext cx="156356" cy="1101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19282" y="2354308"/>
            <a:ext cx="145415" cy="330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1502" y="5797698"/>
            <a:ext cx="129454" cy="640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39555" y="3882341"/>
            <a:ext cx="158184" cy="1362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71126" y="3226893"/>
            <a:ext cx="117948" cy="334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336866" y="3260664"/>
            <a:ext cx="53009" cy="1280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660226" y="6027722"/>
            <a:ext cx="94515" cy="484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428015" y="4182412"/>
            <a:ext cx="67318" cy="1140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086176" y="486902"/>
            <a:ext cx="74886" cy="108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072899" y="4187595"/>
            <a:ext cx="117089" cy="1200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9381967" y="376019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63233" y="405069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053344" y="584842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946797" y="247138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414225" y="605972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90793" y="459078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822237" y="424561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29883" y="116875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205812" y="100233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996703" y="548820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977384" y="450154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618040" y="327037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817280" y="204191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52663" y="102796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144997" y="561216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59637" y="562736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49840" y="538277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308380" y="291250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605724" y="537839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19027" y="446386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057456" y="617240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270254" y="179030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663122" y="173717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02689" y="481102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188016" y="393898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859184" y="112996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261464" y="259098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016108" y="348452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346089" y="132191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859646" y="174180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219089" y="140696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440940" y="391557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02082" y="553190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023967" y="664825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63367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7A8B"/>
                </a:solidFill>
                <a:latin typeface="Comic Sans MS"/>
              </a:defRPr>
            </a:pPr>
            <a:r>
              <a:t>04/10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84048"/>
            <a:ext cx="804672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2F3437"/>
                </a:solidFill>
                <a:latin typeface="YouYuan"/>
              </a:defRPr>
            </a:pPr>
            <a:r>
              <a:t>3. 时间线：缓慢但不可避免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" y="1033271"/>
            <a:ext cx="7132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D7A8B"/>
                </a:solidFill>
                <a:latin typeface="Microsoft YaHei"/>
              </a:defRPr>
            </a:pPr>
            <a:r>
              <a:t>首次近掠、反复穿越、最终合并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4360" y="932688"/>
            <a:ext cx="4800600" cy="0"/>
          </a:xfrm>
          <a:prstGeom prst="line">
            <a:avLst/>
          </a:prstGeom>
          <a:ln w="1270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05840" y="3108960"/>
            <a:ext cx="9966960" cy="0"/>
          </a:xfrm>
          <a:prstGeom prst="line">
            <a:avLst/>
          </a:prstGeom>
          <a:ln w="1778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1051560" y="2999232"/>
            <a:ext cx="219456" cy="219456"/>
          </a:xfrm>
          <a:prstGeom prst="ellipse">
            <a:avLst/>
          </a:prstGeom>
          <a:solidFill>
            <a:srgbClr val="5D7A8B"/>
          </a:solidFill>
          <a:ln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57199" y="1691640"/>
            <a:ext cx="1737360" cy="7498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5D7A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现在</a:t>
            </a:r>
            <a:br/>
            <a:r>
              <a:t>相隔约250万光年</a:t>
            </a:r>
          </a:p>
        </p:txBody>
      </p:sp>
      <p:sp>
        <p:nvSpPr>
          <p:cNvPr id="98" name="Oval 97"/>
          <p:cNvSpPr/>
          <p:nvPr/>
        </p:nvSpPr>
        <p:spPr>
          <a:xfrm>
            <a:off x="3886200" y="2999232"/>
            <a:ext cx="219456" cy="219456"/>
          </a:xfrm>
          <a:prstGeom prst="ellipse">
            <a:avLst/>
          </a:prstGeom>
          <a:solidFill>
            <a:srgbClr val="A97770"/>
          </a:solidFill>
          <a:ln>
            <a:solidFill>
              <a:srgbClr val="A9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3291840" y="1691640"/>
            <a:ext cx="1737360" cy="7498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9777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约40亿年后</a:t>
            </a:r>
            <a:br/>
            <a:r>
              <a:t>首次接近/穿越</a:t>
            </a:r>
          </a:p>
        </p:txBody>
      </p:sp>
      <p:sp>
        <p:nvSpPr>
          <p:cNvPr id="100" name="Oval 99"/>
          <p:cNvSpPr/>
          <p:nvPr/>
        </p:nvSpPr>
        <p:spPr>
          <a:xfrm>
            <a:off x="6720840" y="2999232"/>
            <a:ext cx="219456" cy="219456"/>
          </a:xfrm>
          <a:prstGeom prst="ellipse">
            <a:avLst/>
          </a:prstGeom>
          <a:solidFill>
            <a:srgbClr val="B29760"/>
          </a:solidFill>
          <a:ln>
            <a:solidFill>
              <a:srgbClr val="B29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126479" y="3703320"/>
            <a:ext cx="1737360" cy="7498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297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再经20-30亿年</a:t>
            </a:r>
            <a:br/>
            <a:r>
              <a:t>多次摆动与潮汐拉伸</a:t>
            </a:r>
          </a:p>
        </p:txBody>
      </p:sp>
      <p:sp>
        <p:nvSpPr>
          <p:cNvPr id="102" name="Oval 101"/>
          <p:cNvSpPr/>
          <p:nvPr/>
        </p:nvSpPr>
        <p:spPr>
          <a:xfrm>
            <a:off x="9921240" y="2999232"/>
            <a:ext cx="219456" cy="219456"/>
          </a:xfrm>
          <a:prstGeom prst="ellipse">
            <a:avLst/>
          </a:prstGeom>
          <a:solidFill>
            <a:srgbClr val="788E79"/>
          </a:solidFill>
          <a:ln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9326880" y="3703320"/>
            <a:ext cx="1737360" cy="7498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8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最终</a:t>
            </a:r>
            <a:br/>
            <a:r>
              <a:t>合并成椭圆星系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295605" y="4720448"/>
            <a:ext cx="108116" cy="675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757181" y="5765843"/>
            <a:ext cx="140376" cy="1054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106673" y="2536720"/>
            <a:ext cx="145638" cy="1212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307700" y="1834359"/>
            <a:ext cx="124901" cy="51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12951" y="6492144"/>
            <a:ext cx="163471" cy="1031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390556" y="4670678"/>
            <a:ext cx="163192" cy="1110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602" y="931039"/>
            <a:ext cx="150625" cy="454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212581" y="2378775"/>
            <a:ext cx="86241" cy="1009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39106" y="1688902"/>
            <a:ext cx="55999" cy="1299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22267" y="5798408"/>
            <a:ext cx="162468" cy="1127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19966" y="4354233"/>
            <a:ext cx="150680" cy="1099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52053" y="2421780"/>
            <a:ext cx="156932" cy="837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7200" y="3542351"/>
            <a:ext cx="51682" cy="348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625253" y="3441200"/>
            <a:ext cx="119257" cy="367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7026" y="3627941"/>
            <a:ext cx="97933" cy="765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5934" y="2975722"/>
            <a:ext cx="52547" cy="565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077469" y="1263559"/>
            <a:ext cx="162643" cy="1226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85278" y="822152"/>
            <a:ext cx="123887" cy="103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7772" y="2843156"/>
            <a:ext cx="63470" cy="156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16456" y="1707371"/>
            <a:ext cx="114773" cy="443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33932" y="545849"/>
            <a:ext cx="84417" cy="1036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702626" y="5302695"/>
            <a:ext cx="99286" cy="673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26133" y="4993729"/>
            <a:ext cx="77950" cy="893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47714" y="1525994"/>
            <a:ext cx="73574" cy="1359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941000" y="1511544"/>
            <a:ext cx="153948" cy="677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13826" y="2925829"/>
            <a:ext cx="146072" cy="280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59628" y="2734070"/>
            <a:ext cx="124585" cy="428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435576" y="4107328"/>
            <a:ext cx="87241" cy="1138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003482" y="3774444"/>
            <a:ext cx="70611" cy="922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870826" y="262457"/>
            <a:ext cx="60436" cy="1109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904157" y="1590614"/>
            <a:ext cx="158562" cy="444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92643" y="1723515"/>
            <a:ext cx="63878" cy="983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291677" y="269921"/>
            <a:ext cx="104462" cy="197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108414" y="1956587"/>
            <a:ext cx="152894" cy="136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15781" y="4707395"/>
            <a:ext cx="141830" cy="712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9813" y="959985"/>
            <a:ext cx="148381" cy="253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04912" y="5357825"/>
            <a:ext cx="75108" cy="858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33769" y="3791851"/>
            <a:ext cx="146285" cy="562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116622" y="6506431"/>
            <a:ext cx="163533" cy="692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508467" y="4098329"/>
            <a:ext cx="164405" cy="113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884403" y="6595316"/>
            <a:ext cx="73750" cy="267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793413" y="5637577"/>
            <a:ext cx="144895" cy="422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1159644" y="1380085"/>
            <a:ext cx="47147" cy="1038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737006" y="2483165"/>
            <a:ext cx="114158" cy="678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668962" y="6266147"/>
            <a:ext cx="156620" cy="1027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535679" y="4456661"/>
            <a:ext cx="70045" cy="271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399060" y="4702782"/>
            <a:ext cx="154855" cy="462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831680" y="6496202"/>
            <a:ext cx="155824" cy="931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419632" y="2686393"/>
            <a:ext cx="89889" cy="1195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52635" y="5667207"/>
            <a:ext cx="134019" cy="771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416824" y="382082"/>
            <a:ext cx="66871" cy="398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824639" y="623256"/>
            <a:ext cx="121203" cy="424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33102" y="178968"/>
            <a:ext cx="112108" cy="141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294788" y="2570553"/>
            <a:ext cx="117691" cy="596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037969" y="3071280"/>
            <a:ext cx="164101" cy="328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58963" y="639523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261278" y="89115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774" y="639674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74983" y="607443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66987" y="571062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756403" y="29333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012774" y="567016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381083" y="360982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854407" y="102679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527787" y="359591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977628" y="265881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38880" y="645555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615760" y="411007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865811" y="218440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27708" y="228579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717585" y="301827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494845" y="83479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19490" y="469751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725401" y="548313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554309" y="374521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2077" y="590747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542924" y="527897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61660" y="19592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844523" y="68241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06369" y="318775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719235" y="579782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765733" y="566320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03514" y="208570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675619" y="163932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193547" y="98826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172373" y="131182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220081" y="79214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803774" y="92767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74441" y="123972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63367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7A8B"/>
                </a:solidFill>
                <a:latin typeface="Comic Sans MS"/>
              </a:defRPr>
            </a:pPr>
            <a:r>
              <a:t>05/10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84048"/>
            <a:ext cx="804672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2F3437"/>
                </a:solidFill>
                <a:latin typeface="YouYuan"/>
              </a:defRPr>
            </a:pPr>
            <a:r>
              <a:t>4. 碰撞机制：恒星几乎不会直接撞上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" y="1033271"/>
            <a:ext cx="7132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D7A8B"/>
                </a:solidFill>
                <a:latin typeface="Microsoft YaHei"/>
              </a:defRPr>
            </a:pPr>
            <a:r>
              <a:t>星系很大，恒星却相隔极远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4360" y="932688"/>
            <a:ext cx="4800600" cy="0"/>
          </a:xfrm>
          <a:prstGeom prst="line">
            <a:avLst/>
          </a:prstGeom>
          <a:ln w="1270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685800" y="1618488"/>
            <a:ext cx="118872" cy="118872"/>
          </a:xfrm>
          <a:prstGeom prst="ellipse">
            <a:avLst/>
          </a:prstGeom>
          <a:solidFill>
            <a:srgbClr val="5D7A8B"/>
          </a:solidFill>
          <a:ln w="889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1832" y="1554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空间极其空旷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平均到星系体积里，恒星之间相隔数光年。</a:t>
            </a:r>
          </a:p>
        </p:txBody>
      </p:sp>
      <p:sp>
        <p:nvSpPr>
          <p:cNvPr id="97" name="Oval 96"/>
          <p:cNvSpPr/>
          <p:nvPr/>
        </p:nvSpPr>
        <p:spPr>
          <a:xfrm>
            <a:off x="685800" y="2514600"/>
            <a:ext cx="118872" cy="118872"/>
          </a:xfrm>
          <a:prstGeom prst="ellipse">
            <a:avLst/>
          </a:prstGeom>
          <a:solidFill>
            <a:srgbClr val="A97770"/>
          </a:solidFill>
          <a:ln w="8890">
            <a:solidFill>
              <a:srgbClr val="A9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41832" y="24505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主角是引力扰动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轨道被重新洗牌，盘面被拉伸，潮汐尾出现。</a:t>
            </a:r>
          </a:p>
        </p:txBody>
      </p:sp>
      <p:sp>
        <p:nvSpPr>
          <p:cNvPr id="99" name="Oval 98"/>
          <p:cNvSpPr/>
          <p:nvPr/>
        </p:nvSpPr>
        <p:spPr>
          <a:xfrm>
            <a:off x="685800" y="3410712"/>
            <a:ext cx="118872" cy="118872"/>
          </a:xfrm>
          <a:prstGeom prst="ellipse">
            <a:avLst/>
          </a:prstGeom>
          <a:solidFill>
            <a:srgbClr val="788E79"/>
          </a:solidFill>
          <a:ln w="8890"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1832" y="334670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气体云会真正“相撞”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气体压缩后可触发大量新恒星形成。</a:t>
            </a:r>
          </a:p>
        </p:txBody>
      </p:sp>
      <p:sp>
        <p:nvSpPr>
          <p:cNvPr id="101" name="Oval 100"/>
          <p:cNvSpPr/>
          <p:nvPr/>
        </p:nvSpPr>
        <p:spPr>
          <a:xfrm>
            <a:off x="8817519" y="2637689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677957" y="2494539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412862" y="3735842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670521" y="5704065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702349" y="4697761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082413" y="5177366"/>
            <a:ext cx="36576" cy="36576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196668" y="4926191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936790" y="3818537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140472" y="5137252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970656" y="4953501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461220" y="5286864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837974" y="3710599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108025" y="3329864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462352" y="2618100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179219" y="2934006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731155" y="4953469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754717" y="2985858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393127" y="3515625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115493" y="5326732"/>
            <a:ext cx="36576" cy="36576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302702" y="3491502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291533" y="5062395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884905" y="3144635"/>
            <a:ext cx="27432" cy="27432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866671" y="2380768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169907" y="3263090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 flipH="1">
            <a:off x="6629400" y="1920240"/>
            <a:ext cx="502920" cy="2697480"/>
          </a:xfrm>
          <a:prstGeom prst="line">
            <a:avLst/>
          </a:prstGeom>
          <a:ln w="1778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7315200" y="1920240"/>
            <a:ext cx="502920" cy="2697480"/>
          </a:xfrm>
          <a:prstGeom prst="line">
            <a:avLst/>
          </a:prstGeom>
          <a:ln w="1778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8001000" y="1920240"/>
            <a:ext cx="502920" cy="2697480"/>
          </a:xfrm>
          <a:prstGeom prst="line">
            <a:avLst/>
          </a:prstGeom>
          <a:ln w="1778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778240" y="1920240"/>
            <a:ext cx="502920" cy="2697480"/>
          </a:xfrm>
          <a:prstGeom prst="line">
            <a:avLst/>
          </a:prstGeom>
          <a:ln w="1778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9555480" y="1920240"/>
            <a:ext cx="502920" cy="2697480"/>
          </a:xfrm>
          <a:prstGeom prst="line">
            <a:avLst/>
          </a:prstGeom>
          <a:ln w="1778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6903720" y="5212080"/>
            <a:ext cx="333756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5D7A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直接恒星撞击概率极低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61761" y="2861464"/>
            <a:ext cx="116785" cy="425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276824" y="6377875"/>
            <a:ext cx="157661" cy="29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0420387" y="5056074"/>
            <a:ext cx="99066" cy="980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273824" y="5999826"/>
            <a:ext cx="63270" cy="1336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80232" y="2017174"/>
            <a:ext cx="135651" cy="373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443825" y="2888563"/>
            <a:ext cx="120541" cy="280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069631" y="1654386"/>
            <a:ext cx="137601" cy="973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816252" y="2949075"/>
            <a:ext cx="88184" cy="942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440471" y="6602963"/>
            <a:ext cx="135383" cy="928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537745" y="5465552"/>
            <a:ext cx="152201" cy="1140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13728" y="1191832"/>
            <a:ext cx="157384" cy="1219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021901" y="4401745"/>
            <a:ext cx="103737" cy="540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780932" y="3126272"/>
            <a:ext cx="91807" cy="1345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9331" y="114250"/>
            <a:ext cx="126587" cy="758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63216" y="83421"/>
            <a:ext cx="159250" cy="589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168136" y="5022746"/>
            <a:ext cx="162494" cy="215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800061" y="4146938"/>
            <a:ext cx="92395" cy="161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40369" y="1191845"/>
            <a:ext cx="68555" cy="210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263629" y="4962041"/>
            <a:ext cx="156528" cy="261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371854" y="4695467"/>
            <a:ext cx="108361" cy="1314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71640" y="3553984"/>
            <a:ext cx="146463" cy="589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06927" y="2951047"/>
            <a:ext cx="162277" cy="1110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937337" y="6203776"/>
            <a:ext cx="85063" cy="57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39755" y="1166506"/>
            <a:ext cx="61599" cy="865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31633" y="2370348"/>
            <a:ext cx="53701" cy="1189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77039" y="6426053"/>
            <a:ext cx="69977" cy="623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602076" y="5691926"/>
            <a:ext cx="104773" cy="634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247542" y="689218"/>
            <a:ext cx="162828" cy="733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556489" y="3429667"/>
            <a:ext cx="129529" cy="499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40255" y="4486715"/>
            <a:ext cx="61458" cy="1278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762890" y="2525936"/>
            <a:ext cx="68424" cy="428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454116" y="4784347"/>
            <a:ext cx="109301" cy="1237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78331" y="3845279"/>
            <a:ext cx="81370" cy="223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47107" y="6136541"/>
            <a:ext cx="65714" cy="973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77993" y="3351395"/>
            <a:ext cx="90745" cy="646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35" y="131067"/>
            <a:ext cx="46524" cy="315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974845" y="3709911"/>
            <a:ext cx="72650" cy="1091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13967" y="4812283"/>
            <a:ext cx="82039" cy="1168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734194" y="2379632"/>
            <a:ext cx="141169" cy="849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123325" y="1482123"/>
            <a:ext cx="57670" cy="343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591564" y="1597224"/>
            <a:ext cx="140977" cy="250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869133" y="4329233"/>
            <a:ext cx="49940" cy="1320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885374" y="4787821"/>
            <a:ext cx="146276" cy="624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860550" y="714507"/>
            <a:ext cx="136356" cy="1106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395622" y="2836965"/>
            <a:ext cx="73031" cy="680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361613" y="529319"/>
            <a:ext cx="52458" cy="375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682076" y="2685506"/>
            <a:ext cx="47824" cy="1212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550688" y="4320828"/>
            <a:ext cx="109989" cy="98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77627" y="3210731"/>
            <a:ext cx="136210" cy="1184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386159" y="3035524"/>
            <a:ext cx="52298" cy="199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851392" y="5714250"/>
            <a:ext cx="163528" cy="187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78469" y="3019029"/>
            <a:ext cx="140044" cy="609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990434" y="6680813"/>
            <a:ext cx="121423" cy="868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30534" y="5617895"/>
            <a:ext cx="102639" cy="378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588258" y="4254146"/>
            <a:ext cx="89862" cy="939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2310161" y="483628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414748" y="485350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14795" y="361071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779559" y="396501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4418" y="652279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001805" y="22458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802105" y="467169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571884" y="505018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585535" y="533622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35998" y="564865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239428" y="336592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478783" y="441345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17954" y="605970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23509" y="481370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344833" y="644890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732959" y="312077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276100" y="175437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23095" y="246077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703764" y="59318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414" y="168885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34731" y="509738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114717" y="115029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5211" y="615547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683789" y="107405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314653" y="310988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876287" y="553878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218910" y="200069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120691" y="349742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250402" y="12297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068586" y="146880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448057" y="34594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025697" y="265465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151546" y="24957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573879" y="295152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63367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7A8B"/>
                </a:solidFill>
                <a:latin typeface="Comic Sans MS"/>
              </a:defRPr>
            </a:pPr>
            <a:r>
              <a:t>06/10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84048"/>
            <a:ext cx="804672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2F3437"/>
                </a:solidFill>
                <a:latin typeface="YouYuan"/>
              </a:defRPr>
            </a:pPr>
            <a:r>
              <a:t>5. 新恒星的爆发式诞生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" y="1033271"/>
            <a:ext cx="7132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D7A8B"/>
                </a:solidFill>
                <a:latin typeface="Microsoft YaHei"/>
              </a:defRPr>
            </a:pPr>
            <a:r>
              <a:t>气体云压缩：把混乱转化为星形成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4360" y="932688"/>
            <a:ext cx="4800600" cy="0"/>
          </a:xfrm>
          <a:prstGeom prst="line">
            <a:avLst/>
          </a:prstGeom>
          <a:ln w="1270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713232" y="1645920"/>
            <a:ext cx="118872" cy="118872"/>
          </a:xfrm>
          <a:prstGeom prst="ellipse">
            <a:avLst/>
          </a:prstGeom>
          <a:solidFill>
            <a:srgbClr val="788E79"/>
          </a:solidFill>
          <a:ln w="8890"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9264" y="15819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气体云相遇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比恒星更弥散、更容易发生碰撞与压缩。</a:t>
            </a:r>
          </a:p>
        </p:txBody>
      </p:sp>
      <p:sp>
        <p:nvSpPr>
          <p:cNvPr id="97" name="Oval 96"/>
          <p:cNvSpPr/>
          <p:nvPr/>
        </p:nvSpPr>
        <p:spPr>
          <a:xfrm>
            <a:off x="713232" y="2542032"/>
            <a:ext cx="118872" cy="118872"/>
          </a:xfrm>
          <a:prstGeom prst="ellipse">
            <a:avLst/>
          </a:prstGeom>
          <a:solidFill>
            <a:srgbClr val="B29760"/>
          </a:solidFill>
          <a:ln w="8890">
            <a:solidFill>
              <a:srgbClr val="B29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247802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密度升高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冷气体坍缩，点亮新的恒星形成区。</a:t>
            </a:r>
          </a:p>
        </p:txBody>
      </p:sp>
      <p:sp>
        <p:nvSpPr>
          <p:cNvPr id="99" name="Oval 98"/>
          <p:cNvSpPr/>
          <p:nvPr/>
        </p:nvSpPr>
        <p:spPr>
          <a:xfrm>
            <a:off x="713232" y="3438144"/>
            <a:ext cx="118872" cy="118872"/>
          </a:xfrm>
          <a:prstGeom prst="ellipse">
            <a:avLst/>
          </a:prstGeom>
          <a:solidFill>
            <a:srgbClr val="5D7A8B"/>
          </a:solidFill>
          <a:ln w="889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9264" y="337413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星系颜色短暂变蓝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大量年轻炽热恒星让局部区域更明亮。</a:t>
            </a:r>
          </a:p>
        </p:txBody>
      </p:sp>
      <p:sp>
        <p:nvSpPr>
          <p:cNvPr id="101" name="Oval 100"/>
          <p:cNvSpPr/>
          <p:nvPr/>
        </p:nvSpPr>
        <p:spPr>
          <a:xfrm>
            <a:off x="7980363" y="5064824"/>
            <a:ext cx="59095" cy="59095"/>
          </a:xfrm>
          <a:prstGeom prst="ellipse">
            <a:avLst/>
          </a:prstGeom>
          <a:solidFill>
            <a:srgbClr val="788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539676" y="1566151"/>
            <a:ext cx="92443" cy="92443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919440" y="3246167"/>
            <a:ext cx="74186" cy="7418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208983" y="2609326"/>
            <a:ext cx="91991" cy="91991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532874" y="4128397"/>
            <a:ext cx="78220" cy="7822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871939" y="2353038"/>
            <a:ext cx="85571" cy="85571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663788" y="5341478"/>
            <a:ext cx="102140" cy="10214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290665" y="3270887"/>
            <a:ext cx="67277" cy="67277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538900" y="2099011"/>
            <a:ext cx="115254" cy="115254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851947" y="4314847"/>
            <a:ext cx="59205" cy="59205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321143" y="5169733"/>
            <a:ext cx="52699" cy="52699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24032" y="4370287"/>
            <a:ext cx="83883" cy="83883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081316" y="5015187"/>
            <a:ext cx="59484" cy="59484"/>
          </a:xfrm>
          <a:prstGeom prst="ellipse">
            <a:avLst/>
          </a:prstGeom>
          <a:solidFill>
            <a:srgbClr val="788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841331" y="2582089"/>
            <a:ext cx="47413" cy="47413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66863" y="3684741"/>
            <a:ext cx="67907" cy="67907"/>
          </a:xfrm>
          <a:prstGeom prst="ellipse">
            <a:avLst/>
          </a:prstGeom>
          <a:solidFill>
            <a:srgbClr val="788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068157" y="3690720"/>
            <a:ext cx="73464" cy="73464"/>
          </a:xfrm>
          <a:prstGeom prst="ellipse">
            <a:avLst/>
          </a:prstGeom>
          <a:solidFill>
            <a:srgbClr val="788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011502" y="2442188"/>
            <a:ext cx="70315" cy="70315"/>
          </a:xfrm>
          <a:prstGeom prst="ellipse">
            <a:avLst/>
          </a:prstGeom>
          <a:solidFill>
            <a:srgbClr val="788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109678" y="2124166"/>
            <a:ext cx="71573" cy="71573"/>
          </a:xfrm>
          <a:prstGeom prst="ellipse">
            <a:avLst/>
          </a:prstGeom>
          <a:solidFill>
            <a:srgbClr val="788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955582" y="5348095"/>
            <a:ext cx="105823" cy="105823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606052" y="1724247"/>
            <a:ext cx="84746" cy="84746"/>
          </a:xfrm>
          <a:prstGeom prst="ellipse">
            <a:avLst/>
          </a:prstGeom>
          <a:solidFill>
            <a:srgbClr val="788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Cloud 120"/>
          <p:cNvSpPr/>
          <p:nvPr/>
        </p:nvSpPr>
        <p:spPr>
          <a:xfrm>
            <a:off x="6766559" y="2788920"/>
            <a:ext cx="1280160" cy="640080"/>
          </a:xfrm>
          <a:prstGeom prst="cloud">
            <a:avLst/>
          </a:prstGeom>
          <a:ln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Cloud 121"/>
          <p:cNvSpPr/>
          <p:nvPr/>
        </p:nvSpPr>
        <p:spPr>
          <a:xfrm>
            <a:off x="8229600" y="2468879"/>
            <a:ext cx="1280160" cy="640080"/>
          </a:xfrm>
          <a:prstGeom prst="cloud">
            <a:avLst/>
          </a:prstGeom>
          <a:ln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Cloud 122"/>
          <p:cNvSpPr/>
          <p:nvPr/>
        </p:nvSpPr>
        <p:spPr>
          <a:xfrm>
            <a:off x="9006840" y="3108960"/>
            <a:ext cx="1280160" cy="640080"/>
          </a:xfrm>
          <a:prstGeom prst="cloud">
            <a:avLst/>
          </a:prstGeom>
          <a:ln>
            <a:solidFill>
              <a:srgbClr val="B29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460028" y="3703036"/>
            <a:ext cx="160881" cy="954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3790225" y="305864"/>
            <a:ext cx="141797" cy="348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972372" y="1854381"/>
            <a:ext cx="139110" cy="122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768782" y="360632"/>
            <a:ext cx="155104" cy="863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49281" y="1227352"/>
            <a:ext cx="114261" cy="543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1129" y="4790131"/>
            <a:ext cx="135332" cy="1244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339134" y="4096440"/>
            <a:ext cx="49660" cy="917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08190" y="3795098"/>
            <a:ext cx="101596" cy="571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966450" y="2342124"/>
            <a:ext cx="124234" cy="852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098016" y="3156716"/>
            <a:ext cx="145715" cy="1234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067042" y="1674480"/>
            <a:ext cx="78980" cy="420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676246" y="2170747"/>
            <a:ext cx="140311" cy="1033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527401" y="3430088"/>
            <a:ext cx="132590" cy="622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136794" y="3016721"/>
            <a:ext cx="123462" cy="943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809944" y="4692644"/>
            <a:ext cx="74849" cy="350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38020" y="2212041"/>
            <a:ext cx="87387" cy="398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62176" y="4490980"/>
            <a:ext cx="151311" cy="1258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882007" y="1442521"/>
            <a:ext cx="63145" cy="196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63083" y="4884645"/>
            <a:ext cx="79346" cy="844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85992" y="4030628"/>
            <a:ext cx="149459" cy="1290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01850" y="5748134"/>
            <a:ext cx="55468" cy="679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167982" y="4957720"/>
            <a:ext cx="154969" cy="1156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97166" y="3764537"/>
            <a:ext cx="92265" cy="375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7544" y="6611326"/>
            <a:ext cx="142843" cy="949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92589" y="6277351"/>
            <a:ext cx="61808" cy="1145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80613" y="2476932"/>
            <a:ext cx="140372" cy="472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181634" y="6290968"/>
            <a:ext cx="136953" cy="1187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816026" y="2435985"/>
            <a:ext cx="150702" cy="438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04066" y="2268010"/>
            <a:ext cx="125988" cy="651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369838" y="906023"/>
            <a:ext cx="77342" cy="312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55129" y="1097074"/>
            <a:ext cx="73267" cy="1296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60077" y="1153565"/>
            <a:ext cx="66566" cy="588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538173" y="6595725"/>
            <a:ext cx="90209" cy="626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795870" y="310961"/>
            <a:ext cx="83568" cy="241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493429" y="5946542"/>
            <a:ext cx="92198" cy="447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4570" y="3786522"/>
            <a:ext cx="72492" cy="665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814279" y="3190456"/>
            <a:ext cx="50564" cy="148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67501" y="1309493"/>
            <a:ext cx="61036" cy="1028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05576" y="469422"/>
            <a:ext cx="68707" cy="54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148728" y="2169967"/>
            <a:ext cx="92811" cy="932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358396" y="1030452"/>
            <a:ext cx="55186" cy="704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498392" y="857102"/>
            <a:ext cx="155928" cy="223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5404" y="5593320"/>
            <a:ext cx="151166" cy="865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519520" y="6710089"/>
            <a:ext cx="98890" cy="51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300924" y="3539484"/>
            <a:ext cx="88299" cy="619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118795" y="3724187"/>
            <a:ext cx="67524" cy="946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192574" y="5576105"/>
            <a:ext cx="54806" cy="350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62386" y="3810720"/>
            <a:ext cx="123432" cy="635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78988" y="611928"/>
            <a:ext cx="157923" cy="351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98388" y="6246066"/>
            <a:ext cx="54495" cy="1282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140967" y="688237"/>
            <a:ext cx="144482" cy="498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15784" y="4104745"/>
            <a:ext cx="82373" cy="632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607894" y="3556690"/>
            <a:ext cx="120339" cy="466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36302" y="1732756"/>
            <a:ext cx="68966" cy="1336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48923" y="694377"/>
            <a:ext cx="58135" cy="918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2778783" y="346440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89130" y="574934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079634" y="208186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079817" y="174994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382211" y="118633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651391" y="554188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66532" y="297861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920263" y="273672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37611" y="209983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76500" y="506095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292061" y="312570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472599" y="425648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852869" y="405172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956283" y="552294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490181" y="214501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724124" y="566744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297610" y="206179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84774" y="332514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734757" y="636243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777441" y="137054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880462" y="252856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205154" y="52262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059290" y="470615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396490" y="621674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335228" y="382618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36609" y="342147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737007" y="146127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804868" y="431057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384331" y="638998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57366" y="184600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351910" y="586003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424677" y="404581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685007" y="57015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967443" y="25092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63367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7A8B"/>
                </a:solidFill>
                <a:latin typeface="Comic Sans MS"/>
              </a:defRPr>
            </a:pPr>
            <a:r>
              <a:t>07/10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84048"/>
            <a:ext cx="804672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2F3437"/>
                </a:solidFill>
                <a:latin typeface="YouYuan"/>
              </a:defRPr>
            </a:pPr>
            <a:r>
              <a:t>6. 中心黑洞也会走向合并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" y="1033271"/>
            <a:ext cx="7132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D7A8B"/>
                </a:solidFill>
                <a:latin typeface="Microsoft YaHei"/>
              </a:defRPr>
            </a:pPr>
            <a:r>
              <a:t>两座星系中心的超大质量黑洞逐渐靠近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4360" y="932688"/>
            <a:ext cx="4800600" cy="0"/>
          </a:xfrm>
          <a:prstGeom prst="line">
            <a:avLst/>
          </a:prstGeom>
          <a:ln w="1270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713232" y="1618488"/>
            <a:ext cx="118872" cy="118872"/>
          </a:xfrm>
          <a:prstGeom prst="ellipse">
            <a:avLst/>
          </a:prstGeom>
          <a:solidFill>
            <a:srgbClr val="A97770"/>
          </a:solidFill>
          <a:ln w="8890">
            <a:solidFill>
              <a:srgbClr val="A9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9264" y="15544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动力摩擦拖慢轨道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黑洞和恒星背景相互作用，逐步失去轨道能量。</a:t>
            </a:r>
          </a:p>
        </p:txBody>
      </p:sp>
      <p:sp>
        <p:nvSpPr>
          <p:cNvPr id="97" name="Oval 96"/>
          <p:cNvSpPr/>
          <p:nvPr/>
        </p:nvSpPr>
        <p:spPr>
          <a:xfrm>
            <a:off x="713232" y="2514600"/>
            <a:ext cx="118872" cy="118872"/>
          </a:xfrm>
          <a:prstGeom prst="ellipse">
            <a:avLst/>
          </a:prstGeom>
          <a:solidFill>
            <a:srgbClr val="5D7A8B"/>
          </a:solidFill>
          <a:ln w="889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2450592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最终并合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中心可能形成更大的超大质量黑洞。</a:t>
            </a:r>
          </a:p>
        </p:txBody>
      </p:sp>
      <p:sp>
        <p:nvSpPr>
          <p:cNvPr id="99" name="Oval 98"/>
          <p:cNvSpPr/>
          <p:nvPr/>
        </p:nvSpPr>
        <p:spPr>
          <a:xfrm>
            <a:off x="713232" y="3410712"/>
            <a:ext cx="118872" cy="118872"/>
          </a:xfrm>
          <a:prstGeom prst="ellipse">
            <a:avLst/>
          </a:prstGeom>
          <a:solidFill>
            <a:srgbClr val="B29760"/>
          </a:solidFill>
          <a:ln w="8890">
            <a:solidFill>
              <a:srgbClr val="B29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9264" y="3346704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产生引力波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合并阶段会释放低频引力波信号。</a:t>
            </a:r>
          </a:p>
        </p:txBody>
      </p:sp>
      <p:sp>
        <p:nvSpPr>
          <p:cNvPr id="101" name="Oval 100"/>
          <p:cNvSpPr/>
          <p:nvPr/>
        </p:nvSpPr>
        <p:spPr>
          <a:xfrm>
            <a:off x="7498080" y="2743200"/>
            <a:ext cx="640080" cy="640080"/>
          </a:xfrm>
          <a:prstGeom prst="ellipse">
            <a:avLst/>
          </a:prstGeom>
          <a:solidFill>
            <a:srgbClr val="2F3437"/>
          </a:solidFill>
          <a:ln>
            <a:solidFill>
              <a:srgbClr val="2F3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357262" y="2768803"/>
            <a:ext cx="928115" cy="588873"/>
          </a:xfrm>
          <a:prstGeom prst="ellipse">
            <a:avLst/>
          </a:prstGeom>
          <a:noFill/>
          <a:ln w="12700">
            <a:solidFill>
              <a:srgbClr val="B29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116568" y="2807208"/>
            <a:ext cx="512064" cy="512064"/>
          </a:xfrm>
          <a:prstGeom prst="ellipse">
            <a:avLst/>
          </a:prstGeom>
          <a:solidFill>
            <a:srgbClr val="2F3437"/>
          </a:solidFill>
          <a:ln>
            <a:solidFill>
              <a:srgbClr val="2F3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003913" y="2827690"/>
            <a:ext cx="742492" cy="471098"/>
          </a:xfrm>
          <a:prstGeom prst="ellipse">
            <a:avLst/>
          </a:prstGeom>
          <a:noFill/>
          <a:ln w="12700">
            <a:solidFill>
              <a:srgbClr val="B29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8247888" y="3063240"/>
            <a:ext cx="667512" cy="0"/>
          </a:xfrm>
          <a:prstGeom prst="line">
            <a:avLst/>
          </a:prstGeom>
          <a:ln w="17780">
            <a:solidFill>
              <a:srgbClr val="A97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6812280" y="4937760"/>
            <a:ext cx="3840480" cy="5669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297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引力波：时空涟漪的远古回声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4667904" y="3668699"/>
            <a:ext cx="138620" cy="444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5538485" y="4817239"/>
            <a:ext cx="52223" cy="382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04245" y="2551968"/>
            <a:ext cx="61159" cy="362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80909" y="175780"/>
            <a:ext cx="149450" cy="19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831490" y="1686905"/>
            <a:ext cx="75655" cy="387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188024" y="5273368"/>
            <a:ext cx="72719" cy="131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43310" y="919394"/>
            <a:ext cx="146188" cy="220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926989" y="4938480"/>
            <a:ext cx="122555" cy="112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90929" y="4642045"/>
            <a:ext cx="51776" cy="425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9465" y="4224418"/>
            <a:ext cx="91486" cy="138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70860" y="4791065"/>
            <a:ext cx="67922" cy="276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155379" y="6463706"/>
            <a:ext cx="133101" cy="709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006458" y="5764801"/>
            <a:ext cx="103531" cy="383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302635" y="4356047"/>
            <a:ext cx="156653" cy="327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56525" y="5651268"/>
            <a:ext cx="85860" cy="934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429492" y="1469954"/>
            <a:ext cx="63712" cy="179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342378" y="3268002"/>
            <a:ext cx="65586" cy="1272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126228" y="5422940"/>
            <a:ext cx="93394" cy="578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994108" y="5029132"/>
            <a:ext cx="137152" cy="569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5414" y="1741557"/>
            <a:ext cx="96752" cy="1102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159849" y="3352807"/>
            <a:ext cx="65474" cy="5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0195" y="5546849"/>
            <a:ext cx="88071" cy="60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0490" y="2306362"/>
            <a:ext cx="60523" cy="278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914963" y="5313133"/>
            <a:ext cx="65085" cy="542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278361" y="1555947"/>
            <a:ext cx="81884" cy="15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64954" y="4988195"/>
            <a:ext cx="97219" cy="37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791007" y="4041921"/>
            <a:ext cx="105550" cy="256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750630" y="3007623"/>
            <a:ext cx="100058" cy="807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440967" y="572195"/>
            <a:ext cx="126935" cy="410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080519" y="6271100"/>
            <a:ext cx="150364" cy="840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828024" y="2617578"/>
            <a:ext cx="73741" cy="902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51340" y="2733368"/>
            <a:ext cx="100311" cy="567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935736" y="1002507"/>
            <a:ext cx="76224" cy="1356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538891" y="4293356"/>
            <a:ext cx="112534" cy="1343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772121" y="1602582"/>
            <a:ext cx="87982" cy="1174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288052" y="388244"/>
            <a:ext cx="89838" cy="1021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681470" y="5572038"/>
            <a:ext cx="96801" cy="258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34713" y="982096"/>
            <a:ext cx="100126" cy="963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771399" y="2177300"/>
            <a:ext cx="54551" cy="345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39831" y="3884380"/>
            <a:ext cx="133449" cy="406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531886" y="481972"/>
            <a:ext cx="123534" cy="941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129342" y="3102903"/>
            <a:ext cx="132410" cy="539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814284" y="6073143"/>
            <a:ext cx="86323" cy="212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39063" y="6005865"/>
            <a:ext cx="86864" cy="1257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609507" y="6462768"/>
            <a:ext cx="58793" cy="510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925177" y="3942354"/>
            <a:ext cx="111971" cy="46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3623" y="4376238"/>
            <a:ext cx="148594" cy="172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57686" y="2970719"/>
            <a:ext cx="61768" cy="326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98980" y="4073931"/>
            <a:ext cx="126708" cy="209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950035" y="3176180"/>
            <a:ext cx="137209" cy="554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907677" y="1658682"/>
            <a:ext cx="132842" cy="285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193409" y="5623793"/>
            <a:ext cx="95836" cy="617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75829" y="129263"/>
            <a:ext cx="71652" cy="983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455078" y="5844734"/>
            <a:ext cx="122928" cy="376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599787" y="3249021"/>
            <a:ext cx="55979" cy="689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591762" y="297115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831122" y="35273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487839" y="446428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421705" y="54239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60487" y="46607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686453" y="592264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992911" y="627411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191080" y="164539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3345" y="19193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448918" y="128425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073956" y="658102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069407" y="203622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570042" y="240140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213428" y="143084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484904" y="448494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92767" y="529712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241345" y="490475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03154" y="520036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782875" y="257400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912796" y="512985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950767" y="286936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760466" y="20308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219717" y="293483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51239" y="477476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87888" y="452682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596400" y="390538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714098" y="549609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953514" y="262313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692538" y="235043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46968" y="512966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089520" y="333122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664798" y="534752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172664" y="219434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657037" y="487442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63367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7A8B"/>
                </a:solidFill>
                <a:latin typeface="Comic Sans MS"/>
              </a:defRPr>
            </a:pPr>
            <a:r>
              <a:t>08/10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84048"/>
            <a:ext cx="804672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2F3437"/>
                </a:solidFill>
                <a:latin typeface="YouYuan"/>
              </a:defRPr>
            </a:pPr>
            <a:r>
              <a:t>7. 太阳系：大概率幸存，但位置会改变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" y="1033271"/>
            <a:ext cx="7132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D7A8B"/>
                </a:solidFill>
                <a:latin typeface="Microsoft YaHei"/>
              </a:defRPr>
            </a:pPr>
            <a:r>
              <a:t>真正决定地球命运的，可能不是仙女座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4360" y="932688"/>
            <a:ext cx="4800600" cy="0"/>
          </a:xfrm>
          <a:prstGeom prst="line">
            <a:avLst/>
          </a:prstGeom>
          <a:ln w="1270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713232" y="1600200"/>
            <a:ext cx="118872" cy="118872"/>
          </a:xfrm>
          <a:prstGeom prst="ellipse">
            <a:avLst/>
          </a:prstGeom>
          <a:solidFill>
            <a:srgbClr val="5D7A8B"/>
          </a:solidFill>
          <a:ln w="889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9264" y="1536192"/>
            <a:ext cx="5806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太阳系可能被抛到外缘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轨道受扰后，太阳可能迁移到合并星系外围。</a:t>
            </a:r>
          </a:p>
        </p:txBody>
      </p:sp>
      <p:sp>
        <p:nvSpPr>
          <p:cNvPr id="97" name="Oval 96"/>
          <p:cNvSpPr/>
          <p:nvPr/>
        </p:nvSpPr>
        <p:spPr>
          <a:xfrm>
            <a:off x="713232" y="2496311"/>
            <a:ext cx="118872" cy="118872"/>
          </a:xfrm>
          <a:prstGeom prst="ellipse">
            <a:avLst/>
          </a:prstGeom>
          <a:solidFill>
            <a:srgbClr val="788E79"/>
          </a:solidFill>
          <a:ln w="8890"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2432303"/>
            <a:ext cx="5806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行星直接撞击风险很低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恒星距离太大，太阳系整体存活概率高。</a:t>
            </a:r>
          </a:p>
        </p:txBody>
      </p:sp>
      <p:sp>
        <p:nvSpPr>
          <p:cNvPr id="99" name="Oval 98"/>
          <p:cNvSpPr/>
          <p:nvPr/>
        </p:nvSpPr>
        <p:spPr>
          <a:xfrm>
            <a:off x="713232" y="3392423"/>
            <a:ext cx="118872" cy="118872"/>
          </a:xfrm>
          <a:prstGeom prst="ellipse">
            <a:avLst/>
          </a:prstGeom>
          <a:solidFill>
            <a:srgbClr val="A97770"/>
          </a:solidFill>
          <a:ln w="8890">
            <a:solidFill>
              <a:srgbClr val="A9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9264" y="3328415"/>
            <a:ext cx="5806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地球早已不宜居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约40亿年后太阳演化已让地球环境发生根本变化。</a:t>
            </a:r>
          </a:p>
        </p:txBody>
      </p:sp>
      <p:sp>
        <p:nvSpPr>
          <p:cNvPr id="101" name="Oval 100"/>
          <p:cNvSpPr/>
          <p:nvPr/>
        </p:nvSpPr>
        <p:spPr>
          <a:xfrm>
            <a:off x="8458200" y="3246120"/>
            <a:ext cx="256032" cy="256032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083296" y="3097529"/>
            <a:ext cx="1005840" cy="553212"/>
          </a:xfrm>
          <a:prstGeom prst="ellipse">
            <a:avLst/>
          </a:prstGeom>
          <a:noFill/>
          <a:ln w="10160">
            <a:solidFill>
              <a:srgbClr val="D7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763256" y="2921508"/>
            <a:ext cx="1645920" cy="905256"/>
          </a:xfrm>
          <a:prstGeom prst="ellipse">
            <a:avLst/>
          </a:prstGeom>
          <a:noFill/>
          <a:ln w="10160">
            <a:solidFill>
              <a:srgbClr val="D7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15784" y="2730398"/>
            <a:ext cx="2340864" cy="1287475"/>
          </a:xfrm>
          <a:prstGeom prst="ellipse">
            <a:avLst/>
          </a:prstGeom>
          <a:noFill/>
          <a:ln w="10160">
            <a:solidFill>
              <a:srgbClr val="D7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031736" y="2519172"/>
            <a:ext cx="3108960" cy="1709928"/>
          </a:xfrm>
          <a:prstGeom prst="ellipse">
            <a:avLst/>
          </a:prstGeom>
          <a:noFill/>
          <a:ln w="10160">
            <a:solidFill>
              <a:srgbClr val="D7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9418320" y="1417320"/>
            <a:ext cx="1143000" cy="685800"/>
          </a:xfrm>
          <a:prstGeom prst="line">
            <a:avLst/>
          </a:prstGeom>
          <a:ln w="17780">
            <a:solidFill>
              <a:srgbClr val="5D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7452360" y="5074920"/>
            <a:ext cx="2834640" cy="49377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5D7A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位置改变 != 立即毁灭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70208" y="1407499"/>
            <a:ext cx="78112" cy="1102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825059" y="505346"/>
            <a:ext cx="129559" cy="737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4569374" y="2511163"/>
            <a:ext cx="140399" cy="921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0012900" y="4510500"/>
            <a:ext cx="52718" cy="58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116422" y="3347450"/>
            <a:ext cx="100904" cy="1272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723810" y="6383667"/>
            <a:ext cx="82457" cy="473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77282" y="3703115"/>
            <a:ext cx="100551" cy="569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868" y="6077291"/>
            <a:ext cx="78490" cy="575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23899" y="4739513"/>
            <a:ext cx="93231" cy="337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4781" y="4207998"/>
            <a:ext cx="49838" cy="422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93540" y="3944578"/>
            <a:ext cx="156445" cy="602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94300" y="5157792"/>
            <a:ext cx="67751" cy="477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277282" y="4519323"/>
            <a:ext cx="119491" cy="66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88849" y="2456590"/>
            <a:ext cx="67786" cy="1216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904673" y="5676987"/>
            <a:ext cx="73559" cy="611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56831" y="79600"/>
            <a:ext cx="79515" cy="797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00750" y="6080972"/>
            <a:ext cx="112257" cy="670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693888" y="5892787"/>
            <a:ext cx="94595" cy="1257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721198" y="3858713"/>
            <a:ext cx="101763" cy="737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44813" y="1470627"/>
            <a:ext cx="103208" cy="703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81104" y="979384"/>
            <a:ext cx="56970" cy="568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160111" y="4361466"/>
            <a:ext cx="116315" cy="1107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67823" y="4485387"/>
            <a:ext cx="126623" cy="923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70372" y="4686838"/>
            <a:ext cx="109997" cy="1368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01681" y="2997859"/>
            <a:ext cx="105947" cy="1288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63793" y="2783191"/>
            <a:ext cx="111446" cy="467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19155" y="5382416"/>
            <a:ext cx="92529" cy="729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05746" y="1766216"/>
            <a:ext cx="71832" cy="775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72413" y="3425724"/>
            <a:ext cx="95050" cy="457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54492" y="3645067"/>
            <a:ext cx="118001" cy="120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403626" y="3750928"/>
            <a:ext cx="93887" cy="298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22143" y="4284170"/>
            <a:ext cx="96932" cy="484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72320" y="5834339"/>
            <a:ext cx="81563" cy="28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41297" y="2691720"/>
            <a:ext cx="91625" cy="1119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24911" y="2087664"/>
            <a:ext cx="146601" cy="630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603004" y="2897511"/>
            <a:ext cx="65563" cy="269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10190" y="20234"/>
            <a:ext cx="107804" cy="750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284576" y="4200262"/>
            <a:ext cx="152078" cy="1185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01888" y="4504688"/>
            <a:ext cx="87026" cy="1219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72504" y="678736"/>
            <a:ext cx="58490" cy="843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731152" y="847243"/>
            <a:ext cx="56247" cy="340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245514" y="4403668"/>
            <a:ext cx="157626" cy="10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472792" y="5820052"/>
            <a:ext cx="69395" cy="780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488574" y="5202442"/>
            <a:ext cx="159664" cy="699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744305" y="5818243"/>
            <a:ext cx="128171" cy="871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435536" y="3293414"/>
            <a:ext cx="143149" cy="653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29152" y="3618508"/>
            <a:ext cx="125591" cy="674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81369" y="4411250"/>
            <a:ext cx="126273" cy="403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589127" y="6043247"/>
            <a:ext cx="141741" cy="733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10425" y="2587821"/>
            <a:ext cx="121333" cy="496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52662" y="844236"/>
            <a:ext cx="130154" cy="568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264691" y="3683471"/>
            <a:ext cx="134805" cy="993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705633" y="5343835"/>
            <a:ext cx="125730" cy="535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10698" y="1026482"/>
            <a:ext cx="142744" cy="1086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238990" y="1434451"/>
            <a:ext cx="145570" cy="486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9161526" y="163427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326219" y="438082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074056" y="362438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017960" y="314997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627974" y="577711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910388" y="88560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724588" y="567133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70974" y="75938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7110" y="335459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699732" y="168719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59839" y="397410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95313" y="523234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229965" y="557215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353144" y="596723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575641" y="655083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67986" y="109521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090620" y="46665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78905" y="473841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65330" y="211243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592836" y="598703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423194" y="643108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534713" y="98802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814041" y="17941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876034" y="445881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78393" y="443346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56836" y="243904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898709" y="648006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857699" y="29465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544089" y="15425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173044" y="60447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092519" y="117869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104329" y="644346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060996" y="335287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104031" y="472501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63367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7A8B"/>
                </a:solidFill>
                <a:latin typeface="Comic Sans MS"/>
              </a:defRPr>
            </a:pPr>
            <a:r>
              <a:t>09/10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84048"/>
            <a:ext cx="804672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2F3437"/>
                </a:solidFill>
                <a:latin typeface="YouYuan"/>
              </a:defRPr>
            </a:pPr>
            <a:r>
              <a:t>8. 新星系：Milkomeda / Lactomeda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" y="1033271"/>
            <a:ext cx="7132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D7A8B"/>
                </a:solidFill>
                <a:latin typeface="Microsoft YaHei"/>
              </a:defRPr>
            </a:pPr>
            <a:r>
              <a:t>螺旋盘被重塑，最终趋向椭圆形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4360" y="932688"/>
            <a:ext cx="4800600" cy="0"/>
          </a:xfrm>
          <a:prstGeom prst="line">
            <a:avLst/>
          </a:prstGeom>
          <a:ln w="1270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713232" y="1618488"/>
            <a:ext cx="118872" cy="118872"/>
          </a:xfrm>
          <a:prstGeom prst="ellipse">
            <a:avLst/>
          </a:prstGeom>
          <a:solidFill>
            <a:srgbClr val="A97770"/>
          </a:solidFill>
          <a:ln w="8890">
            <a:solidFill>
              <a:srgbClr val="A9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9264" y="1554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螺旋结构被打散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潮汐作用让原有盘面结构逐渐失去秩序。</a:t>
            </a:r>
          </a:p>
        </p:txBody>
      </p:sp>
      <p:sp>
        <p:nvSpPr>
          <p:cNvPr id="97" name="Oval 96"/>
          <p:cNvSpPr/>
          <p:nvPr/>
        </p:nvSpPr>
        <p:spPr>
          <a:xfrm>
            <a:off x="713232" y="2514600"/>
            <a:ext cx="118872" cy="118872"/>
          </a:xfrm>
          <a:prstGeom prst="ellipse">
            <a:avLst/>
          </a:prstGeom>
          <a:solidFill>
            <a:srgbClr val="5D7A8B"/>
          </a:solidFill>
          <a:ln w="889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9264" y="24505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恒星轨道随机化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合并后的系统更接近椭圆星系。</a:t>
            </a:r>
          </a:p>
        </p:txBody>
      </p:sp>
      <p:sp>
        <p:nvSpPr>
          <p:cNvPr id="99" name="Oval 98"/>
          <p:cNvSpPr/>
          <p:nvPr/>
        </p:nvSpPr>
        <p:spPr>
          <a:xfrm>
            <a:off x="713232" y="3410712"/>
            <a:ext cx="118872" cy="118872"/>
          </a:xfrm>
          <a:prstGeom prst="ellipse">
            <a:avLst/>
          </a:prstGeom>
          <a:solidFill>
            <a:srgbClr val="788E79"/>
          </a:solidFill>
          <a:ln w="8890"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9264" y="334670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F3437"/>
                </a:solidFill>
                <a:latin typeface="Microsoft YaHei"/>
              </a:defRPr>
            </a:pPr>
            <a:r>
              <a:t>夜空会改变</a:t>
            </a:r>
          </a:p>
          <a:p>
            <a:pPr>
              <a:spcBef>
                <a:spcPts val="300"/>
              </a:spcBef>
              <a:defRPr sz="1200">
                <a:solidFill>
                  <a:srgbClr val="525658"/>
                </a:solidFill>
                <a:latin typeface="Microsoft YaHei"/>
              </a:defRPr>
            </a:pPr>
            <a:r>
              <a:t>若有观察者，天空中的星系带会比今天壮观得多。</a:t>
            </a:r>
          </a:p>
        </p:txBody>
      </p:sp>
      <p:sp>
        <p:nvSpPr>
          <p:cNvPr id="101" name="Oval 100"/>
          <p:cNvSpPr/>
          <p:nvPr/>
        </p:nvSpPr>
        <p:spPr>
          <a:xfrm>
            <a:off x="6720840" y="1874519"/>
            <a:ext cx="3840480" cy="2423160"/>
          </a:xfrm>
          <a:prstGeom prst="ellipse">
            <a:avLst/>
          </a:prstGeom>
          <a:noFill/>
          <a:ln w="1143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830568" y="1947672"/>
            <a:ext cx="3611880" cy="2286000"/>
          </a:xfrm>
          <a:prstGeom prst="ellipse">
            <a:avLst/>
          </a:prstGeom>
          <a:noFill/>
          <a:ln w="11430">
            <a:solidFill>
              <a:srgbClr val="A9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940296" y="2020824"/>
            <a:ext cx="3383280" cy="2148840"/>
          </a:xfrm>
          <a:prstGeom prst="ellipse">
            <a:avLst/>
          </a:prstGeom>
          <a:noFill/>
          <a:ln w="11430">
            <a:solidFill>
              <a:srgbClr val="B29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050024" y="2093976"/>
            <a:ext cx="3154680" cy="2011680"/>
          </a:xfrm>
          <a:prstGeom prst="ellipse">
            <a:avLst/>
          </a:prstGeom>
          <a:noFill/>
          <a:ln w="11430"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159752" y="2167127"/>
            <a:ext cx="2926080" cy="1874519"/>
          </a:xfrm>
          <a:prstGeom prst="ellipse">
            <a:avLst/>
          </a:prstGeom>
          <a:noFill/>
          <a:ln w="1143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269479" y="2240279"/>
            <a:ext cx="2697480" cy="1737360"/>
          </a:xfrm>
          <a:prstGeom prst="ellipse">
            <a:avLst/>
          </a:prstGeom>
          <a:noFill/>
          <a:ln w="11430">
            <a:solidFill>
              <a:srgbClr val="A9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379208" y="2313432"/>
            <a:ext cx="2468880" cy="1600200"/>
          </a:xfrm>
          <a:prstGeom prst="ellipse">
            <a:avLst/>
          </a:prstGeom>
          <a:noFill/>
          <a:ln w="11430">
            <a:solidFill>
              <a:srgbClr val="B29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431592" y="3025358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132628" y="4273133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746607" y="4349445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939507" y="2482506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520435" y="4413695"/>
            <a:ext cx="36576" cy="36576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573987" y="2308605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290937" y="4356840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192522" y="4605900"/>
            <a:ext cx="36576" cy="36576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444232" y="4163734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143907" y="2316758"/>
            <a:ext cx="22860" cy="2286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293348" y="1923219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9679163" y="4948570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9450077" y="3868599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993375" y="2012492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932483" y="4345314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341882" y="3182496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891663" y="3956164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313443" y="4574347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794385" y="4911158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338036" y="4795173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690978" y="4852503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701060" y="4916134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271255" y="1970128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183456" y="2990119"/>
            <a:ext cx="45720" cy="4572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225426" y="2530617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101846" y="1963520"/>
            <a:ext cx="27432" cy="27432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845628" y="4521569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712052" y="3021815"/>
            <a:ext cx="22860" cy="2286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1045589" y="2614777"/>
            <a:ext cx="36576" cy="36576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639153" y="3825174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587637" y="1798253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495527" y="1842263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502710" y="1723475"/>
            <a:ext cx="36576" cy="36576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644596" y="1738970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564105" y="4664670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659671" y="4225619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917202" y="4867564"/>
            <a:ext cx="45720" cy="4572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765609" y="2311078"/>
            <a:ext cx="36576" cy="36576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566327" y="3009753"/>
            <a:ext cx="22860" cy="22860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368716" y="2029344"/>
            <a:ext cx="27432" cy="27432"/>
          </a:xfrm>
          <a:prstGeom prst="ellipse">
            <a:avLst/>
          </a:prstGeom>
          <a:solidFill>
            <a:srgbClr val="5D7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875427" y="4695516"/>
            <a:ext cx="22860" cy="22860"/>
          </a:xfrm>
          <a:prstGeom prst="ellipse">
            <a:avLst/>
          </a:prstGeom>
          <a:solidFill>
            <a:srgbClr val="B2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304668" y="4268016"/>
            <a:ext cx="22860" cy="22860"/>
          </a:xfrm>
          <a:prstGeom prst="ellipse">
            <a:avLst/>
          </a:prstGeom>
          <a:solidFill>
            <a:srgbClr val="2F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7132320" y="5166360"/>
            <a:ext cx="3566160" cy="502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8E7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一个更圆、更厚、更安静的恒星系统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9934734" y="4245082"/>
            <a:ext cx="55711" cy="311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2815279" y="2545026"/>
            <a:ext cx="163950" cy="862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935509" y="1060363"/>
            <a:ext cx="79555" cy="116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795568" y="3104962"/>
            <a:ext cx="60871" cy="1051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04911" y="673272"/>
            <a:ext cx="150291" cy="166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601139" y="5836305"/>
            <a:ext cx="87853" cy="1351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236741" y="6565109"/>
            <a:ext cx="148633" cy="466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0380" y="5550597"/>
            <a:ext cx="117869" cy="294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108747" y="1084657"/>
            <a:ext cx="133652" cy="1110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52173" y="4082025"/>
            <a:ext cx="131249" cy="674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469541" y="4533569"/>
            <a:ext cx="97955" cy="1325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29414" y="4769613"/>
            <a:ext cx="45950" cy="1267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480209" y="1329325"/>
            <a:ext cx="109554" cy="314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985739" y="4620604"/>
            <a:ext cx="59219" cy="606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24003" y="5192861"/>
            <a:ext cx="52616" cy="206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48636" y="4235796"/>
            <a:ext cx="153392" cy="346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66046" y="5736160"/>
            <a:ext cx="140598" cy="284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602706" y="943188"/>
            <a:ext cx="82184" cy="1242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684509" y="657093"/>
            <a:ext cx="67208" cy="233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98724" y="6265658"/>
            <a:ext cx="69518" cy="181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85997" y="3597975"/>
            <a:ext cx="56366" cy="441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565023" y="6345468"/>
            <a:ext cx="128167" cy="870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88829" y="310050"/>
            <a:ext cx="89652" cy="873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11061" y="1386513"/>
            <a:ext cx="104029" cy="1113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29002" y="1170719"/>
            <a:ext cx="90392" cy="44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78421" y="4229092"/>
            <a:ext cx="155998" cy="1316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997531" y="57833"/>
            <a:ext cx="102739" cy="1203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19209" y="509505"/>
            <a:ext cx="86381" cy="207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402999" y="4306922"/>
            <a:ext cx="71196" cy="614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901377" y="6057403"/>
            <a:ext cx="117355" cy="110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556150" y="1049797"/>
            <a:ext cx="126426" cy="723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347674" y="6190805"/>
            <a:ext cx="67829" cy="300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209073" y="6621153"/>
            <a:ext cx="53761" cy="53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650935" y="6638621"/>
            <a:ext cx="143542" cy="1103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524597" y="2705716"/>
            <a:ext cx="161745" cy="303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813415" y="2359942"/>
            <a:ext cx="99063" cy="85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088025" y="4026901"/>
            <a:ext cx="139822" cy="1077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919138" y="4538189"/>
            <a:ext cx="50037" cy="7194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82896" y="1827479"/>
            <a:ext cx="54162" cy="9235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338817" y="3401893"/>
            <a:ext cx="53747" cy="8107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1673" y="6470219"/>
            <a:ext cx="136097" cy="192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100500" y="5209923"/>
            <a:ext cx="135075" cy="1225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1545467" y="6062202"/>
            <a:ext cx="50207" cy="1312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9461" y="583120"/>
            <a:ext cx="163703" cy="397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697245" y="1606494"/>
            <a:ext cx="110452" cy="363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184740" y="2770067"/>
            <a:ext cx="132340" cy="364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492688" y="5753429"/>
            <a:ext cx="49677" cy="10711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49466" y="5975628"/>
            <a:ext cx="64496" cy="1023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69489" y="384005"/>
            <a:ext cx="152793" cy="9839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791627" y="4037672"/>
            <a:ext cx="130518" cy="5058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475372" y="3234177"/>
            <a:ext cx="91333" cy="2280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195986" y="2919416"/>
            <a:ext cx="76347" cy="1168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78940" y="341757"/>
            <a:ext cx="116408" cy="4112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72782" y="3173741"/>
            <a:ext cx="109698" cy="745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140402" y="6414511"/>
            <a:ext cx="52749" cy="566"/>
          </a:xfrm>
          <a:prstGeom prst="line">
            <a:avLst/>
          </a:prstGeom>
          <a:ln w="4445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710859" y="169405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02890" y="65500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16131" y="34995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1501" y="230435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126399" y="526454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50980" y="49635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825501" y="421597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466506" y="485390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10016" y="50055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056975" y="367901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852729" y="116257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697977" y="8649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58692" y="517779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966114" y="604436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688949" y="263314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32334" y="361541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1183" y="4315478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474369" y="376201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263688" y="565307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800909" y="270302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965571" y="560602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105681" y="260056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337978" y="3253912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996708" y="1108583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412974" y="6309521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370979" y="617202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613981" y="1022387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5356" y="281154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856195" y="1601789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561299" y="2149870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388955" y="3161714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910354" y="376488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588725" y="1413325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705488" y="6666656"/>
            <a:ext cx="10972" cy="10972"/>
          </a:xfrm>
          <a:prstGeom prst="ellipse">
            <a:avLst/>
          </a:prstGeom>
          <a:solidFill>
            <a:srgbClr val="D7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63367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7A8B"/>
                </a:solidFill>
                <a:latin typeface="Comic Sans MS"/>
              </a:defRPr>
            </a:pPr>
            <a:r>
              <a:t>10/10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384048"/>
            <a:ext cx="804672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2F3437"/>
                </a:solidFill>
                <a:latin typeface="YouYuan"/>
              </a:defRPr>
            </a:pPr>
            <a:r>
              <a:t>核心结论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" y="1033271"/>
            <a:ext cx="7132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100">
                <a:solidFill>
                  <a:srgbClr val="5D7A8B"/>
                </a:solidFill>
                <a:latin typeface="Microsoft YaHei"/>
              </a:defRPr>
            </a:pPr>
            <a:r>
              <a:t>把“宇宙碰撞”理解为长期演化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94360" y="932688"/>
            <a:ext cx="4800600" cy="0"/>
          </a:xfrm>
          <a:prstGeom prst="line">
            <a:avLst/>
          </a:prstGeom>
          <a:ln w="12700">
            <a:solidFill>
              <a:srgbClr val="D7D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822960" y="1463040"/>
            <a:ext cx="118872" cy="118872"/>
          </a:xfrm>
          <a:prstGeom prst="ellipse">
            <a:avLst/>
          </a:prstGeom>
          <a:solidFill>
            <a:srgbClr val="5D7A8B"/>
          </a:solidFill>
          <a:ln w="8890">
            <a:solidFill>
              <a:srgbClr val="5D7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78992" y="1399032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F3437"/>
                </a:solidFill>
                <a:latin typeface="Microsoft YaHei"/>
              </a:defRPr>
            </a:pPr>
            <a:r>
              <a:t>尺度</a:t>
            </a:r>
          </a:p>
          <a:p>
            <a:pPr>
              <a:spcBef>
                <a:spcPts val="300"/>
              </a:spcBef>
              <a:defRPr sz="1100">
                <a:solidFill>
                  <a:srgbClr val="525658"/>
                </a:solidFill>
                <a:latin typeface="Microsoft YaHei"/>
              </a:defRPr>
            </a:pPr>
            <a:r>
              <a:t>仙女座巨大且很近，但仍在百万光年距离上运动。</a:t>
            </a:r>
          </a:p>
        </p:txBody>
      </p:sp>
      <p:sp>
        <p:nvSpPr>
          <p:cNvPr id="97" name="Oval 96"/>
          <p:cNvSpPr/>
          <p:nvPr/>
        </p:nvSpPr>
        <p:spPr>
          <a:xfrm>
            <a:off x="822960" y="2359152"/>
            <a:ext cx="118872" cy="118872"/>
          </a:xfrm>
          <a:prstGeom prst="ellipse">
            <a:avLst/>
          </a:prstGeom>
          <a:solidFill>
            <a:srgbClr val="A97770"/>
          </a:solidFill>
          <a:ln w="8890">
            <a:solidFill>
              <a:srgbClr val="A9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78992" y="2295144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F3437"/>
                </a:solidFill>
                <a:latin typeface="Microsoft YaHei"/>
              </a:defRPr>
            </a:pPr>
            <a:r>
              <a:t>机制</a:t>
            </a:r>
          </a:p>
          <a:p>
            <a:pPr>
              <a:spcBef>
                <a:spcPts val="300"/>
              </a:spcBef>
              <a:defRPr sz="1100">
                <a:solidFill>
                  <a:srgbClr val="525658"/>
                </a:solidFill>
                <a:latin typeface="Microsoft YaHei"/>
              </a:defRPr>
            </a:pPr>
            <a:r>
              <a:t>碰撞主要是引力扰动和气体相互作用。</a:t>
            </a:r>
          </a:p>
        </p:txBody>
      </p:sp>
      <p:sp>
        <p:nvSpPr>
          <p:cNvPr id="99" name="Oval 98"/>
          <p:cNvSpPr/>
          <p:nvPr/>
        </p:nvSpPr>
        <p:spPr>
          <a:xfrm>
            <a:off x="822960" y="3255264"/>
            <a:ext cx="118872" cy="118872"/>
          </a:xfrm>
          <a:prstGeom prst="ellipse">
            <a:avLst/>
          </a:prstGeom>
          <a:solidFill>
            <a:srgbClr val="B29760"/>
          </a:solidFill>
          <a:ln w="8890">
            <a:solidFill>
              <a:srgbClr val="B29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78992" y="3191256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F3437"/>
                </a:solidFill>
                <a:latin typeface="Microsoft YaHei"/>
              </a:defRPr>
            </a:pPr>
            <a:r>
              <a:t>后果</a:t>
            </a:r>
          </a:p>
          <a:p>
            <a:pPr>
              <a:spcBef>
                <a:spcPts val="300"/>
              </a:spcBef>
              <a:defRPr sz="1100">
                <a:solidFill>
                  <a:srgbClr val="525658"/>
                </a:solidFill>
                <a:latin typeface="Microsoft YaHei"/>
              </a:defRPr>
            </a:pPr>
            <a:r>
              <a:t>形成新恒星、新星系和可能的黑洞并合。</a:t>
            </a:r>
          </a:p>
        </p:txBody>
      </p:sp>
      <p:sp>
        <p:nvSpPr>
          <p:cNvPr id="101" name="Oval 100"/>
          <p:cNvSpPr/>
          <p:nvPr/>
        </p:nvSpPr>
        <p:spPr>
          <a:xfrm>
            <a:off x="822960" y="4151376"/>
            <a:ext cx="118872" cy="118872"/>
          </a:xfrm>
          <a:prstGeom prst="ellipse">
            <a:avLst/>
          </a:prstGeom>
          <a:solidFill>
            <a:srgbClr val="788E79"/>
          </a:solidFill>
          <a:ln w="8890"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78992" y="4087368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F3437"/>
                </a:solidFill>
                <a:latin typeface="Microsoft YaHei"/>
              </a:defRPr>
            </a:pPr>
            <a:r>
              <a:t>人类视角</a:t>
            </a:r>
          </a:p>
          <a:p>
            <a:pPr>
              <a:spcBef>
                <a:spcPts val="300"/>
              </a:spcBef>
              <a:defRPr sz="1100">
                <a:solidFill>
                  <a:srgbClr val="525658"/>
                </a:solidFill>
                <a:latin typeface="Microsoft YaHei"/>
              </a:defRPr>
            </a:pPr>
            <a:r>
              <a:t>地球宜居性会先被太阳演化改变。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60120" y="5486400"/>
            <a:ext cx="7040880" cy="585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5D7A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>
              <a:defRPr sz="1300">
                <a:solidFill>
                  <a:srgbClr val="2F3437"/>
                </a:solidFill>
                <a:latin typeface="Microsoft YaHei"/>
              </a:defRPr>
            </a:pPr>
            <a:r>
              <a:t>一句话总结：星系会相撞，恒星多半错身而过，结构却会被彻底重写。</a:t>
            </a:r>
          </a:p>
        </p:txBody>
      </p:sp>
      <p:cxnSp>
        <p:nvCxnSpPr>
          <p:cNvPr id="104" name="Connector 103"/>
          <p:cNvCxnSpPr/>
          <p:nvPr/>
        </p:nvCxnSpPr>
        <p:spPr>
          <a:xfrm flipH="1">
            <a:off x="9740894" y="3421566"/>
            <a:ext cx="10320" cy="2110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40894" y="3423676"/>
            <a:ext cx="31318" cy="710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9770230" y="3430785"/>
            <a:ext cx="1982" cy="14793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770230" y="3441002"/>
            <a:ext cx="23565" cy="4576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9788478" y="3437094"/>
            <a:ext cx="5317" cy="3908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788478" y="3437094"/>
            <a:ext cx="9598" cy="25524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798076" y="3459685"/>
            <a:ext cx="3214" cy="2933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9796347" y="3459685"/>
            <a:ext cx="4943" cy="864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796347" y="3460549"/>
            <a:ext cx="13147" cy="20558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9794200" y="3481107"/>
            <a:ext cx="15294" cy="310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9787366" y="3481417"/>
            <a:ext cx="6834" cy="15095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787366" y="3496512"/>
            <a:ext cx="1291" cy="6916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9777291" y="3503428"/>
            <a:ext cx="11366" cy="8915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9769257" y="3512343"/>
            <a:ext cx="8034" cy="6208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 flipV="1">
            <a:off x="9757405" y="3518487"/>
            <a:ext cx="11852" cy="64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9751206" y="3518487"/>
            <a:ext cx="6199" cy="1793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9718694" y="3536426"/>
            <a:ext cx="32512" cy="11864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9711947" y="3528780"/>
            <a:ext cx="6747" cy="19510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9687400" y="3528780"/>
            <a:ext cx="24547" cy="13923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9662676" y="3536865"/>
            <a:ext cx="24724" cy="5838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9634131" y="3536865"/>
            <a:ext cx="28545" cy="1063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9589442" y="3547504"/>
            <a:ext cx="44689" cy="980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 flipV="1">
            <a:off x="9578727" y="3537624"/>
            <a:ext cx="10715" cy="1968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9541299" y="3537624"/>
            <a:ext cx="37428" cy="247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 flipV="1">
            <a:off x="9534908" y="3529544"/>
            <a:ext cx="6391" cy="1055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9503747" y="3509700"/>
            <a:ext cx="31161" cy="19844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9467038" y="3509700"/>
            <a:ext cx="36709" cy="8634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 flipV="1">
            <a:off x="9453427" y="3512932"/>
            <a:ext cx="13611" cy="5402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 flipV="1">
            <a:off x="9415770" y="3478139"/>
            <a:ext cx="37657" cy="34793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9404110" y="3478139"/>
            <a:ext cx="11660" cy="186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 flipV="1">
            <a:off x="9384723" y="3446158"/>
            <a:ext cx="19387" cy="32167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 flipV="1">
            <a:off x="9382059" y="3424661"/>
            <a:ext cx="2664" cy="21497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 flipV="1">
            <a:off x="9361956" y="3403109"/>
            <a:ext cx="20103" cy="21552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9357526" y="3395352"/>
            <a:ext cx="4430" cy="7757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 flipV="1">
            <a:off x="9340842" y="3364924"/>
            <a:ext cx="16684" cy="30428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340842" y="3335798"/>
            <a:ext cx="13651" cy="29126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9347297" y="3316983"/>
            <a:ext cx="7196" cy="18815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347297" y="3311715"/>
            <a:ext cx="24195" cy="5268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371492" y="3293105"/>
            <a:ext cx="10696" cy="18610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382188" y="3252125"/>
            <a:ext cx="32273" cy="40980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414461" y="3236521"/>
            <a:ext cx="18915" cy="15604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433376" y="3215667"/>
            <a:ext cx="17225" cy="20854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450601" y="3204460"/>
            <a:ext cx="50465" cy="11207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501066" y="3176968"/>
            <a:ext cx="23191" cy="27492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524257" y="3153421"/>
            <a:ext cx="48239" cy="23547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572496" y="3146600"/>
            <a:ext cx="37496" cy="6821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609992" y="3144980"/>
            <a:ext cx="56716" cy="1620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666708" y="3114425"/>
            <a:ext cx="52671" cy="30555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719379" y="3113104"/>
            <a:ext cx="46606" cy="1321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765985" y="3110019"/>
            <a:ext cx="52711" cy="3085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9818696" y="3110019"/>
            <a:ext cx="67887" cy="9950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9886583" y="3119969"/>
            <a:ext cx="38774" cy="2885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9925357" y="3122854"/>
            <a:ext cx="72221" cy="4747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997578" y="3125333"/>
            <a:ext cx="56182" cy="2268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053760" y="3125333"/>
            <a:ext cx="54939" cy="17236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108699" y="3142569"/>
            <a:ext cx="63323" cy="16120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172022" y="3158689"/>
            <a:ext cx="51819" cy="4178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223841" y="3200478"/>
            <a:ext cx="38183" cy="13222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262024" y="3213700"/>
            <a:ext cx="57874" cy="21598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319898" y="3235298"/>
            <a:ext cx="35916" cy="25193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355814" y="3260491"/>
            <a:ext cx="32149" cy="26926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87963" y="3287417"/>
            <a:ext cx="45843" cy="35301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433806" y="3322718"/>
            <a:ext cx="17422" cy="56612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51228" y="3379330"/>
            <a:ext cx="19762" cy="28531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70990" y="3407861"/>
            <a:ext cx="22868" cy="27630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10490845" y="3435491"/>
            <a:ext cx="3013" cy="48942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10473897" y="3484433"/>
            <a:ext cx="16948" cy="54942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473897" y="3539375"/>
            <a:ext cx="8672" cy="37681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10461767" y="3577056"/>
            <a:ext cx="20802" cy="28256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10420731" y="3605312"/>
            <a:ext cx="41036" cy="5242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10401780" y="3657741"/>
            <a:ext cx="18951" cy="22172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10371406" y="3679913"/>
            <a:ext cx="30374" cy="36518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10298084" y="3716431"/>
            <a:ext cx="73322" cy="37073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10243439" y="3753504"/>
            <a:ext cx="54645" cy="51802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10193657" y="3805306"/>
            <a:ext cx="49782" cy="15934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10120872" y="3821240"/>
            <a:ext cx="72785" cy="34462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10048236" y="3855702"/>
            <a:ext cx="72636" cy="20146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9967797" y="3875848"/>
            <a:ext cx="80439" cy="12991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9879528" y="3888839"/>
            <a:ext cx="88269" cy="27548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9804960" y="3916387"/>
            <a:ext cx="74568" cy="3747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>
            <a:off x="9705310" y="3920134"/>
            <a:ext cx="99650" cy="888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>
            <a:off x="9629453" y="3929023"/>
            <a:ext cx="75857" cy="5900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 flipV="1">
            <a:off x="9521486" y="3929967"/>
            <a:ext cx="107967" cy="4956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>
            <a:off x="9429276" y="3929967"/>
            <a:ext cx="92210" cy="8469"/>
          </a:xfrm>
          <a:prstGeom prst="line">
            <a:avLst/>
          </a:prstGeom>
          <a:ln w="13970">
            <a:solidFill>
              <a:srgbClr val="788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9628632" y="3355848"/>
            <a:ext cx="219456" cy="146304"/>
          </a:xfrm>
          <a:prstGeom prst="ellipse">
            <a:avLst/>
          </a:prstGeom>
          <a:solidFill>
            <a:srgbClr val="788E79"/>
          </a:solidFill>
          <a:ln w="10160">
            <a:solidFill>
              <a:srgbClr val="78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