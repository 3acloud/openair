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狂野非洲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一份用“食材与步骤”打开的自然冒险手账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封面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B1532D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B1532D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B1532D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B1532D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2319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42796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03273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63750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24228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阳光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草原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脚印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看见生命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读懂地貌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尊重文化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01/30</a:t>
            </a:r>
          </a:p>
        </p:txBody>
      </p:sp>
      <p:sp>
        <p:nvSpPr>
          <p:cNvPr id="40" name="Oval 39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演示结构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30 页从动物、景观到冒险文化的渐进式解读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导览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01 野生动物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狮子、大象、斑马、长颈鹿、猎豹与生态链。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02 自然景观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沙漠、草原、雨林、湿地与瀑布构成舞台。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931920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03 冒险文化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Safari、登山、漂流、部落传统与可持续旅游。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3931920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04 总结表达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用复古纸笔视觉形成轻盈而完整的演示。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动物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景观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人文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先建立地图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再进入细节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最后沉淀行动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02/30</a:t>
            </a:r>
          </a:p>
        </p:txBody>
      </p:sp>
      <p:sp>
        <p:nvSpPr>
          <p:cNvPr id="35" name="Oval 34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主题总览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狂野不是混乱，而是自然系统自我运转的秩序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导览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4A7D7E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4A7D7E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4A7D7E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4A7D7E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74850" y="5089550"/>
            <a:ext cx="345643" cy="419709"/>
          </a:xfrm>
          <a:prstGeom prst="ellipse">
            <a:avLst/>
          </a:prstGeom>
          <a:solidFill>
            <a:srgbClr val="6F9696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2367381" y="5410504"/>
            <a:ext cx="259233" cy="493776"/>
          </a:xfrm>
          <a:prstGeom prst="line">
            <a:avLst/>
          </a:prstGeom>
          <a:ln w="2540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核心意象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原始、广阔、充满生命张力。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叙事方法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用“手账食谱”把复杂生态讲得亲切。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931920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观看重点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每一页保留一个明确主句，避免信息拥挤。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57800" y="3931920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视觉策略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泛黄纸感、暖色插画、简笔画符号。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生命力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迁徙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共生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观察关系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理解边界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形成敬畏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03/30</a:t>
            </a:r>
          </a:p>
        </p:txBody>
      </p:sp>
      <p:sp>
        <p:nvSpPr>
          <p:cNvPr id="41" name="Oval 40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非洲野生动物总览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动物是狂野非洲最直接的生命符号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野生动物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FFF6DB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FFF6DB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FFF6DB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FFF6DB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1021842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194663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367485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540306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713128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多样性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草食动物、肉食动物与清道夫共同构成生态网络。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生存法则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速度、力量、协作和伪装都是适应环境的答案。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足迹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水源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草叶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寻找栖息地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辨认角色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串起食物链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04/30</a:t>
            </a:r>
          </a:p>
        </p:txBody>
      </p:sp>
      <p:sp>
        <p:nvSpPr>
          <p:cNvPr id="42" name="Oval 41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狮子：非洲王者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强壮体魄与群体协作，让狮群成为草原顶级捕食者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野生动物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B1532D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B1532D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B1532D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B1532D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2319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42796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03273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63750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24228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核心特征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狮子常以群体生活，狩猎和育幼体现明确分工。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保护提醒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栖息地缩减与人兽冲突正在压缩狮子的生存空间。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狮群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草原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黄昏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潜伏接近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协作围猎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守护领地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05/30</a:t>
            </a:r>
          </a:p>
        </p:txBody>
      </p:sp>
      <p:sp>
        <p:nvSpPr>
          <p:cNvPr id="42" name="Oval 41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大象：陆地巨人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非洲象以智慧、记忆和家族纽带塑造草原生态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野生动物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4A7D7E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4A7D7E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4A7D7E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4A7D7E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74850" y="5089550"/>
            <a:ext cx="345643" cy="419709"/>
          </a:xfrm>
          <a:prstGeom prst="ellipse">
            <a:avLst/>
          </a:prstGeom>
          <a:solidFill>
            <a:srgbClr val="6F9696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2367381" y="5410504"/>
            <a:ext cx="259233" cy="493776"/>
          </a:xfrm>
          <a:prstGeom prst="line">
            <a:avLst/>
          </a:prstGeom>
          <a:ln w="2540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生态价值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大象取食和迁徙会打开林地、传播种子，影响大片区域。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现实压力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偷猎和栖息地破碎化让保护工作尤其紧迫。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水坑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树皮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亲族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迁移找水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传播种子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维护路径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06/30</a:t>
            </a:r>
          </a:p>
        </p:txBody>
      </p:sp>
      <p:sp>
        <p:nvSpPr>
          <p:cNvPr id="39" name="Oval 38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斑马：条纹的秘密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醒目的黑白纹样在群体中形成视觉保护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野生动物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FFF6DB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FFF6DB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FFF6DB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FFF6DB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1021842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194663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367485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540306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713128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生存策略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斑马依靠群居、速度和警戒来降低被捕食风险。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画面提示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条纹可以作为全套 PPT 的装饰线索。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条纹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群体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草束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结伴行动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迷惑捕食者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保持警觉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07/30</a:t>
            </a:r>
          </a:p>
        </p:txBody>
      </p:sp>
      <p:sp>
        <p:nvSpPr>
          <p:cNvPr id="42" name="Oval 41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长颈鹿：高处的浏览者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长颈鹿以身高优势使用其他动物难以触及的树冠资源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野生动物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D3993F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4336542"/>
            <a:ext cx="518464" cy="518464"/>
          </a:xfrm>
          <a:prstGeom prst="ellipse">
            <a:avLst/>
          </a:prstGeom>
          <a:solidFill>
            <a:srgbClr val="D3993F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D3993F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D3993F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10638" y="4459986"/>
            <a:ext cx="172821" cy="790041"/>
          </a:xfrm>
          <a:prstGeom prst="rect">
            <a:avLst/>
          </a:prstGeom>
          <a:solidFill>
            <a:srgbClr val="D3993F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生态位置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它们减少与低矮草食动物的直接竞争。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视觉记忆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高挑轮廓适合做竖向留白中的简笔画。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金合欢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长颈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高视野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抬头觅食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观察远方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温和移动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08/30</a:t>
            </a:r>
          </a:p>
        </p:txBody>
      </p:sp>
      <p:sp>
        <p:nvSpPr>
          <p:cNvPr id="38" name="Oval 37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猎豹：速度的瞬间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猎豹将轻盈身体、爆发力和精确判断压缩在短距离追逐中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野生动物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CF7664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CF7664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CF7664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CF7664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2319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42796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03273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63750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24228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速度优势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高速奔跑适合开阔草原，但也需要巨大的能量消耗。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保护重点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幼崽存活率、栖息地连通性和基因多样性都影响未来。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疾风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开阔地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斑点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锁定目标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短距冲刺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迅速恢复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09/30</a:t>
            </a:r>
          </a:p>
        </p:txBody>
      </p:sp>
      <p:sp>
        <p:nvSpPr>
          <p:cNvPr id="42" name="Oval 41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食物链与生态平衡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每种动物都不是孤立存在，而是生态关系中的一个节点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野生动物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草食动物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把植物能量转化为大型动物群落。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捕食者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控制种群数量，推动自然选择。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931920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分解者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让生命最终回到土壤和新的生长。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3931920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平衡观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保护一个物种，往往也是保护一整张关系网。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草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猎物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捕食者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从植物开始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进入能量流动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回到土地循环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10/30</a:t>
            </a:r>
          </a:p>
        </p:txBody>
      </p:sp>
      <p:sp>
        <p:nvSpPr>
          <p:cNvPr id="35" name="Oval 34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保护的紧迫性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狂野之美需要空间、水源与长期协作来维持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野生动物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4A7D7E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4A7D7E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4A7D7E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4A7D7E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74850" y="5089550"/>
            <a:ext cx="345643" cy="419709"/>
          </a:xfrm>
          <a:prstGeom prst="ellipse">
            <a:avLst/>
          </a:prstGeom>
          <a:solidFill>
            <a:srgbClr val="6F9696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2367381" y="5410504"/>
            <a:ext cx="259233" cy="493776"/>
          </a:xfrm>
          <a:prstGeom prst="line">
            <a:avLst/>
          </a:prstGeom>
          <a:ln w="2540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主要威胁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偷猎、栖息地丧失、气候波动和旅游压力。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行动方向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把保护收益与当地社区生活连接起来，才更可持续。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巡护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社区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边界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减少偷猎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修复栖息地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支持社区保护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11/30</a:t>
            </a:r>
          </a:p>
        </p:txBody>
      </p:sp>
      <p:sp>
        <p:nvSpPr>
          <p:cNvPr id="39" name="Oval 38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自然景观总览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地貌决定了动物移动、植物分布和人类冒险方式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自然景观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沙漠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极端干旱塑造耐受力。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草原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开阔视野支撑大规模迁徙。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931920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雨林湿地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水汽丰沛，孕育密集生物多样性。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草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水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看地形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找水脉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读生命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12/30</a:t>
            </a:r>
          </a:p>
        </p:txBody>
      </p:sp>
      <p:sp>
        <p:nvSpPr>
          <p:cNvPr id="34" name="Oval 33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撒哈拉沙漠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世界级荒漠以高温、寒夜、沙丘与岩石展示极限环境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自然景观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环境特征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昼夜温差大，资源稀少，生命必须高度适应。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冒险意义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它让人直面尺度、孤独与生存边界。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沙丘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星空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骆驼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避开正午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寻找水源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尊重路线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13/30</a:t>
            </a:r>
          </a:p>
        </p:txBody>
      </p:sp>
      <p:sp>
        <p:nvSpPr>
          <p:cNvPr id="33" name="Oval 32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非洲大草原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草原是动物奔跑、迁徙、捕猎和繁衍的开放舞台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自然景观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FFF6DB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FFF6DB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FFF6DB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FFF6DB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1021842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194663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367485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540306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713128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生态优势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开阔地形让大群草食动物获得食物，也让捕食者具备追逐空间。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观看感受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广阔的水平线是“狂野非洲”的经典视觉记忆。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草浪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水坑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远山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等待雨季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追随兽群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观察捕猎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14/30</a:t>
            </a:r>
          </a:p>
        </p:txBody>
      </p:sp>
      <p:sp>
        <p:nvSpPr>
          <p:cNvPr id="42" name="Oval 41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东非大迁徙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角马与斑马沿水草节律移动，形成震撼的季节性景观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自然景观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FFF6DB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FFF6DB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FFF6DB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FFF6DB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1021842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194663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367485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540306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713128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核心动力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迁徙不是表演，而是对食物、水和繁殖机会的响应。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演示重点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可用箭头、脚印和波浪线表现移动路径。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雨云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河流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兽群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追水草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穿越河流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抵达新草场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15/30</a:t>
            </a:r>
          </a:p>
        </p:txBody>
      </p:sp>
      <p:sp>
        <p:nvSpPr>
          <p:cNvPr id="42" name="Oval 41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刚果盆地雨林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热带雨林以浓密植被和隐秘生命构成另一种狂野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自然景观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764E27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764E27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生物多样性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雨林为灵长类、鸟类、昆虫和植物提供复杂栖息空间。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保护压力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砍伐、采矿和道路扩张会切碎连续森林。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树冠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湿气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绿影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进入林下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听见鸟声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保护栖地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16/30</a:t>
            </a:r>
          </a:p>
        </p:txBody>
      </p:sp>
      <p:sp>
        <p:nvSpPr>
          <p:cNvPr id="37" name="Oval 36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奥卡万戈湿地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水在内陆铺开，形成鸟类、两栖动物和大型兽群的季节家园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自然景观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4A7D7E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4A7D7E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4A7D7E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4A7D7E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湿地价值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调节水文、过滤沉积物，并提供繁殖与觅食场所。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视觉处理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蓝绿色点缀能打破泛黄底色，带来清凉层次。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水道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芦苇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鸟鸣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顺水进入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慢速观察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保持距离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17/30</a:t>
            </a:r>
          </a:p>
        </p:txBody>
      </p:sp>
      <p:sp>
        <p:nvSpPr>
          <p:cNvPr id="37" name="Oval 36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维多利亚瀑布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巨大的水雾、轰鸣和峡谷把自然力量推到眼前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自然景观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景观张力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瀑布兼具壮观尺度与强烈感官体验。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冒险连接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漂流、观景和徒步都围绕水流力量展开。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水雾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峡谷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彩虹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听见轰鸣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靠近水汽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感受落差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18/30</a:t>
            </a:r>
          </a:p>
        </p:txBody>
      </p:sp>
      <p:sp>
        <p:nvSpPr>
          <p:cNvPr id="33" name="Oval 32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冒险与文化总览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狂野非洲也包含人与自然相遇的方式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冒险文化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Safari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用相对安全的方式观察动物真实生活。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极限运动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登山、漂流等活动把身体带入地貌之中。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931920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文化探索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传统知识帮助人们理解土地与动物的关系。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路线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向导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故事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选择方式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理解规则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留下尊重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19/30</a:t>
            </a:r>
          </a:p>
        </p:txBody>
      </p:sp>
      <p:sp>
        <p:nvSpPr>
          <p:cNvPr id="34" name="Oval 33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Safari 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Safari 的魅力在于近距离观察，而不是打扰自然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冒险文化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B1532D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B1532D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B1532D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B1532D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2319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42796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03273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63750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24228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体验方式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车辆观察、步行观察和营地停留各有节奏。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基本礼仪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保持距离、不投喂、不追逐，让动物保留主动权。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越野车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望远镜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清晨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低声等待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跟随向导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记录行为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20/30</a:t>
            </a:r>
          </a:p>
        </p:txBody>
      </p:sp>
      <p:sp>
        <p:nvSpPr>
          <p:cNvPr id="42" name="Oval 41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马赛马拉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这里是草原动物密集出现和迁徙观赏的代表目的地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冒险文化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CF7664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CF7664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CF7664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CF7664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2319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42796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03273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63750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24228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观看亮点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大猫、草食动物群和季节性迁徙构成核心吸引力。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叙事角度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可把它作为“草原一日”的故事页。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河岸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狮群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草坡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清晨出发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寻找踪迹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黄昏收束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21/30</a:t>
            </a:r>
          </a:p>
        </p:txBody>
      </p:sp>
      <p:sp>
        <p:nvSpPr>
          <p:cNvPr id="42" name="Oval 41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塞伦盖蒂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辽阔草原让迁徙、捕猎和生命循环呈现出史诗感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冒险文化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FFF6DB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FFF6DB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FFF6DB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FFF6DB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1021842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194663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367485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540306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713128" y="5200650"/>
            <a:ext cx="123444" cy="555498"/>
          </a:xfrm>
          <a:prstGeom prst="line">
            <a:avLst/>
          </a:prstGeom>
          <a:ln w="1778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空间感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低矮地平线和远处兽群能体现开阔尺度。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核心信息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壮观来自持续运转的生态节律。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平原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角马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云影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顺季节移动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观察队列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理解循环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22/30</a:t>
            </a:r>
          </a:p>
        </p:txBody>
      </p:sp>
      <p:sp>
        <p:nvSpPr>
          <p:cNvPr id="42" name="Oval 41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瀑布漂流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在维多利亚瀑布附近漂流，是与水流力量正面相遇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冒险文化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体验特征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刺激来自落差、水速和团队协作。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安全前提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合格向导、装备检查和天气评估不可省略。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桨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浪花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头盔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检查装备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听从指令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顺势划行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23/30</a:t>
            </a:r>
          </a:p>
        </p:txBody>
      </p:sp>
      <p:sp>
        <p:nvSpPr>
          <p:cNvPr id="33" name="Oval 32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乞力马扎罗登山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登山把非洲的垂直生态带一步步展开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冒险文化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自然层次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从林地到高寒环境，身体能感到明显变化。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成长意味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攀登不是征服自然，而是理解自身边界。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山径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云层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雪线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慢速适应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补水休息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抵达峰顶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24/30</a:t>
            </a:r>
          </a:p>
        </p:txBody>
      </p:sp>
      <p:sp>
        <p:nvSpPr>
          <p:cNvPr id="33" name="Oval 32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部落与传统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马赛等社群让人看见人与动物长期共处的知识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冒险文化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文化价值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游牧经验、土地知识和仪式传统构成独特人文景观。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表达原则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展示文化时避免猎奇，强调尊重与真实语境。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珠饰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牧道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篝火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倾听故事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理解牧场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尊重习俗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25/30</a:t>
            </a:r>
          </a:p>
        </p:txBody>
      </p:sp>
      <p:sp>
        <p:nvSpPr>
          <p:cNvPr id="33" name="Oval 32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可持续旅游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好的旅行应当让自然、社区和游客三方都受益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冒险文化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游客责任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低噪音、低垃圾、低干扰，是最基本的旅行素养。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行业方向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透明收益、社区就业和长期保护计划决定旅游质量。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门票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社区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足迹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选择正规项目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减少干扰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回馈保护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26/30</a:t>
            </a:r>
          </a:p>
        </p:txBody>
      </p:sp>
      <p:sp>
        <p:nvSpPr>
          <p:cNvPr id="33" name="Oval 32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7 天体验路线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用一条温和节奏的路线串联动物、景观和文化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路线设计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4A7D7E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4A7D7E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4A7D7E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4A7D7E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74850" y="5089550"/>
            <a:ext cx="345643" cy="419709"/>
          </a:xfrm>
          <a:prstGeom prst="ellipse">
            <a:avLst/>
          </a:prstGeom>
          <a:solidFill>
            <a:srgbClr val="6F9696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2367381" y="5410504"/>
            <a:ext cx="259233" cy="493776"/>
          </a:xfrm>
          <a:prstGeom prst="line">
            <a:avLst/>
          </a:prstGeom>
          <a:ln w="2540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第 1-2 天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抵达与草原初识，建立安全和观察规则。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第 3-5 天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Safari、迁徙观察和湿地体验。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931920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第 6-7 天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文化访问、复盘记录和保护主题收束。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晨光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车轮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营地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草原观察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湿地慢行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文化交流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27/30</a:t>
            </a:r>
          </a:p>
        </p:txBody>
      </p:sp>
      <p:sp>
        <p:nvSpPr>
          <p:cNvPr id="40" name="Oval 39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PPT 设计语言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复古泛黄、手绘线条与可爱插画让主题更有生活气息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视觉方案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色彩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赭石、陶土、鼠尾草绿、蓝绿色和奶油白形成温暖层次。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版式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每页一个主标题、两到四个信息块，右侧保留“食材/步骤”。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931920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动画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采用淡入式页面切换与分层阅读顺序，模拟手绘逐步显现。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纸张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铅笔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暖色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先铺纸感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再画符号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最后留白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28/30</a:t>
            </a:r>
          </a:p>
        </p:txBody>
      </p:sp>
      <p:sp>
        <p:nvSpPr>
          <p:cNvPr id="34" name="Oval 33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核心要点回收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狂野非洲的关键词是生命、尺度、关系与责任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总结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B1532D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B1532D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B1532D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B1532D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2319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42796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03273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63750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24228" y="5361127"/>
            <a:ext cx="49377" cy="49377"/>
          </a:xfrm>
          <a:prstGeom prst="ellipse">
            <a:avLst/>
          </a:prstGeom>
          <a:solidFill>
            <a:srgbClr val="3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B153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生命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动物以不同策略回应环境。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尺度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沙漠、草原、雨林和瀑布提供宏大背景。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3931920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关系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生态链、人类文化和旅游行为彼此影响。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57800" y="3931920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4A7D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责任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保护不是附加题，而是这段叙事的结论。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生命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尺度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责任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看见动物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理解环境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做出选择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29/30</a:t>
            </a:r>
          </a:p>
        </p:txBody>
      </p:sp>
      <p:sp>
        <p:nvSpPr>
          <p:cNvPr id="44" name="Oval 43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8f296ce6-d1ce-4d62-adac-288da705e29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11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3400" b="1">
                <a:solidFill>
                  <a:srgbClr val="764E27"/>
                </a:solidFill>
                <a:latin typeface="Comic Sans MS"/>
              </a:rPr>
              <a:t>把狂野留给自然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l"/>
            <a:r>
              <a:rPr sz="1500" b="0">
                <a:solidFill>
                  <a:srgbClr val="B1532D"/>
                </a:solidFill>
                <a:latin typeface="Microsoft YaHei"/>
              </a:rPr>
              <a:t>愿每一次靠近，都以尊重作为边界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4937760" cy="36576"/>
          </a:xfrm>
          <a:prstGeom prst="rect">
            <a:avLst/>
          </a:prstGeom>
          <a:solidFill>
            <a:srgbClr val="D39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269480"/>
            <a:ext cx="2057400" cy="384048"/>
          </a:xfrm>
          <a:prstGeom prst="roundRect">
            <a:avLst/>
          </a:prstGeom>
          <a:solidFill>
            <a:srgbClr val="4A7D7E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结束页</a:t>
            </a:r>
          </a:p>
        </p:txBody>
      </p:sp>
      <p:sp>
        <p:nvSpPr>
          <p:cNvPr id="7" name="Oval 6"/>
          <p:cNvSpPr/>
          <p:nvPr/>
        </p:nvSpPr>
        <p:spPr>
          <a:xfrm>
            <a:off x="12710160" y="502920"/>
            <a:ext cx="475488" cy="475488"/>
          </a:xfrm>
          <a:prstGeom prst="ellipse">
            <a:avLst/>
          </a:prstGeom>
          <a:solidFill>
            <a:srgbClr val="D3993F"/>
          </a:solidFill>
          <a:ln w="19050">
            <a:solidFill>
              <a:srgbClr val="764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25697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15564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2437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947904" y="104973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698272" y="1008324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515530" y="895197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448641" y="740664"/>
            <a:ext cx="190195" cy="0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515530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2698272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47904" y="241401"/>
            <a:ext cx="0" cy="190195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102437" y="308290"/>
            <a:ext cx="95098" cy="164713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215564" y="491032"/>
            <a:ext cx="164713" cy="95098"/>
          </a:xfrm>
          <a:prstGeom prst="line">
            <a:avLst/>
          </a:prstGeom>
          <a:ln w="13970">
            <a:solidFill>
              <a:srgbClr val="764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27710" y="6665976"/>
            <a:ext cx="175564" cy="746150"/>
          </a:xfrm>
          <a:prstGeom prst="rect">
            <a:avLst/>
          </a:prstGeom>
          <a:solidFill>
            <a:srgbClr val="764E27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30200" y="6172200"/>
            <a:ext cx="526694" cy="526694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82574" y="6216091"/>
            <a:ext cx="460857" cy="460857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32689" y="6281928"/>
            <a:ext cx="416966" cy="416966"/>
          </a:xfrm>
          <a:prstGeom prst="ellipse">
            <a:avLst/>
          </a:prstGeom>
          <a:solidFill>
            <a:srgbClr val="708459"/>
          </a:solidFill>
          <a:ln>
            <a:solidFill>
              <a:srgbClr val="3C5C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63616"/>
            <a:ext cx="1234440" cy="641908"/>
          </a:xfrm>
          <a:prstGeom prst="ellipse">
            <a:avLst/>
          </a:prstGeom>
          <a:solidFill>
            <a:srgbClr val="4A7D7E"/>
          </a:solidFill>
          <a:ln w="17780">
            <a:solidFill>
              <a:srgbClr val="3D2D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5015483"/>
            <a:ext cx="518464" cy="518464"/>
          </a:xfrm>
          <a:prstGeom prst="ellipse">
            <a:avLst/>
          </a:prstGeom>
          <a:solidFill>
            <a:srgbClr val="4A7D7E"/>
          </a:solidFill>
          <a:ln w="16510"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" y="5694426"/>
            <a:ext cx="98755" cy="444398"/>
          </a:xfrm>
          <a:prstGeom prst="rect">
            <a:avLst/>
          </a:prstGeom>
          <a:solidFill>
            <a:srgbClr val="4A7D7E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8916" y="5694426"/>
            <a:ext cx="98755" cy="444398"/>
          </a:xfrm>
          <a:prstGeom prst="rect">
            <a:avLst/>
          </a:prstGeom>
          <a:solidFill>
            <a:srgbClr val="4A7D7E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74850" y="5089550"/>
            <a:ext cx="345643" cy="419709"/>
          </a:xfrm>
          <a:prstGeom prst="ellipse">
            <a:avLst/>
          </a:prstGeom>
          <a:solidFill>
            <a:srgbClr val="6F9696"/>
          </a:solidFill>
          <a:ln>
            <a:solidFill>
              <a:srgbClr val="3D2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2367381" y="5410504"/>
            <a:ext cx="259233" cy="493776"/>
          </a:xfrm>
          <a:prstGeom prst="line">
            <a:avLst/>
          </a:prstGeom>
          <a:ln w="25400">
            <a:solidFill>
              <a:srgbClr val="3D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演示收束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用温暖的纸笔质感保留手账式余韵。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1874519"/>
            <a:ext cx="3977639" cy="160020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7084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最后一句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>真正的冒险，是学会与自然保持恰当距离。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960120"/>
            <a:ext cx="914400" cy="384048"/>
          </a:xfrm>
          <a:prstGeom prst="roundRect">
            <a:avLst/>
          </a:prstGeom>
          <a:solidFill>
            <a:srgbClr val="B1532D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食材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敬畏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29284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安静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618720" y="1417320"/>
            <a:ext cx="1051560" cy="731520"/>
          </a:xfrm>
          <a:prstGeom prst="roundRect">
            <a:avLst/>
          </a:prstGeom>
          <a:solidFill>
            <a:srgbClr val="FFF1CA"/>
          </a:solidFill>
          <a:ln w="25400">
            <a:solidFill>
              <a:srgbClr val="D399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2000">
                <a:solidFill>
                  <a:srgbClr val="764E27"/>
                </a:solidFill>
                <a:latin typeface="Comic Sans MS"/>
              </a:rPr>
              <a:t>回声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D2D1F"/>
                </a:solidFill>
                <a:latin typeface="Microsoft YaHei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2423160"/>
            <a:ext cx="914400" cy="384048"/>
          </a:xfrm>
          <a:prstGeom prst="roundRect">
            <a:avLst/>
          </a:prstGeom>
          <a:solidFill>
            <a:srgbClr val="708459"/>
          </a:solidFill>
          <a:ln w="15240">
            <a:solidFill>
              <a:srgbClr val="764E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6DB"/>
                </a:solidFill>
                <a:latin typeface="Microsoft YaHei"/>
              </a:rPr>
              <a:t>步骤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28803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少打扰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多理解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D2D1F"/>
                </a:solidFill>
                <a:latin typeface="Microsoft YaHei"/>
              </a:rPr>
              <a:t>• 持续守护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21640" y="7360920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r"/>
            <a:r>
              <a:rPr sz="1100" b="0">
                <a:solidFill>
                  <a:srgbClr val="764E27"/>
                </a:solidFill>
                <a:latin typeface="Microsoft YaHei"/>
              </a:rPr>
              <a:t>30/30</a:t>
            </a:r>
          </a:p>
        </p:txBody>
      </p:sp>
      <p:sp>
        <p:nvSpPr>
          <p:cNvPr id="39" name="Oval 38"/>
          <p:cNvSpPr/>
          <p:nvPr/>
        </p:nvSpPr>
        <p:spPr>
          <a:xfrm>
            <a:off x="11841480" y="7424927"/>
            <a:ext cx="109728" cy="109728"/>
          </a:xfrm>
          <a:prstGeom prst="ellipse">
            <a:avLst/>
          </a:prstGeom>
          <a:solidFill>
            <a:srgbClr val="B1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070080" y="7424927"/>
            <a:ext cx="109728" cy="109728"/>
          </a:xfrm>
          <a:prstGeom prst="ellipse">
            <a:avLst/>
          </a:prstGeom>
          <a:solidFill>
            <a:srgbClr val="70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298680" y="7424927"/>
            <a:ext cx="109728" cy="109728"/>
          </a:xfrm>
          <a:prstGeom prst="ellipse">
            <a:avLst/>
          </a:prstGeom>
          <a:solidFill>
            <a:srgbClr val="4A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