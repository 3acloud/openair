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fade-in transition; present bullets step by step for a hand-drawn reveal rhythm.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fade-in transition; present bullets step by step for a hand-drawn reveal rhythm.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fade-in transition; present bullets step by step for a hand-drawn reveal rhythm.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fade-in transition; present bullets step by step for a hand-drawn reveal rhythm.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fade-in transition; present bullets step by step for a hand-drawn reveal rhythm.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fade-in transition; present bullets step by step for a hand-drawn reveal rhythm.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fade-in transition; present bullets step by step for a hand-drawn reveal rhythm.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fade-in transition; present bullets step by step for a hand-drawn reveal rhythm.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fade-in transition; present bullets step by step for a hand-drawn reveal rhythm.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fade-in transition; present bullets step by step for a hand-drawn reveal rhythm.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fade-in transition; present bullets step by step for a hand-drawn reveal rhythm.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fade-in transition; present bullets step by step for a hand-drawn reveal rhythm.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fade-in transition; present bullets step by step for a hand-drawn reveal rhythm.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fade-in transition; present bullets step by step for a hand-drawn reveal rhythm.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fade-in transition; present bullets step by step for a hand-drawn reveal rhythm.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fade-in transition; present bullets step by step for a hand-drawn reveal rhythm.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fade-in transition; present bullets step by step for a hand-drawn reveal rhythm.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fade-in transition; present bullets step by step for a hand-drawn reveal rhythm.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fade-in transition; present bullets step by step for a hand-drawn reveal rhythm.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fade-in transition; present bullets step by step for a hand-drawn reveal rhythm.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4226bfe4-caa6-4bc5-bbe7-00e29148a075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530352" y="502920"/>
            <a:ext cx="516095" cy="716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46447" y="503636"/>
            <a:ext cx="504875" cy="7530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551322" y="490688"/>
            <a:ext cx="509069" cy="2047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060391" y="490688"/>
            <a:ext cx="491441" cy="8179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2551832" y="498721"/>
            <a:ext cx="495054" cy="146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046886" y="498721"/>
            <a:ext cx="506566" cy="583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553452" y="483354"/>
            <a:ext cx="519787" cy="15950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4073239" y="481874"/>
            <a:ext cx="496624" cy="1480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69863" y="481874"/>
            <a:ext cx="507742" cy="7832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077605" y="485317"/>
            <a:ext cx="522146" cy="4389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599751" y="485317"/>
            <a:ext cx="483034" cy="13449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082785" y="490012"/>
            <a:ext cx="521509" cy="8754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604294" y="487266"/>
            <a:ext cx="504698" cy="2746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108992" y="487266"/>
            <a:ext cx="506294" cy="143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615286" y="485006"/>
            <a:ext cx="511942" cy="369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127228" y="485006"/>
            <a:ext cx="507793" cy="78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635021" y="481979"/>
            <a:ext cx="492125" cy="3812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9127146" y="479058"/>
            <a:ext cx="499472" cy="2921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9626618" y="474528"/>
            <a:ext cx="509620" cy="4530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136238" y="474528"/>
            <a:ext cx="498625" cy="7162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634863" y="471103"/>
            <a:ext cx="527879" cy="10587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162742" y="471103"/>
            <a:ext cx="491024" cy="253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566928" y="6277843"/>
            <a:ext cx="505603" cy="1322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72531" y="6277843"/>
            <a:ext cx="503783" cy="4838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576314" y="6282681"/>
            <a:ext cx="499556" cy="10196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075870" y="6275815"/>
            <a:ext cx="505451" cy="17062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581321" y="6275815"/>
            <a:ext cx="490137" cy="16764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071458" y="6285244"/>
            <a:ext cx="507585" cy="7335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579043" y="6285244"/>
            <a:ext cx="515081" cy="6947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4094124" y="6265407"/>
            <a:ext cx="500640" cy="26784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594764" y="6265407"/>
            <a:ext cx="486919" cy="5833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081683" y="6271240"/>
            <a:ext cx="503671" cy="11710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5585354" y="6266721"/>
            <a:ext cx="502002" cy="1622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087356" y="6266721"/>
            <a:ext cx="503106" cy="14192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6590462" y="6273447"/>
            <a:ext cx="503096" cy="7466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093558" y="6263987"/>
            <a:ext cx="508074" cy="9460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601632" y="6259590"/>
            <a:ext cx="509777" cy="4397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111409" y="6253711"/>
            <a:ext cx="514223" cy="587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625632" y="6253711"/>
            <a:ext cx="489513" cy="1336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115145" y="6267080"/>
            <a:ext cx="498236" cy="955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9613381" y="6266044"/>
            <a:ext cx="517565" cy="1991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130946" y="6266044"/>
            <a:ext cx="497839" cy="1338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628785" y="6267382"/>
            <a:ext cx="496392" cy="113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1125177" y="6251903"/>
            <a:ext cx="517156" cy="16618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58368" y="566928"/>
            <a:ext cx="9966960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600" b="1">
                <a:solidFill>
                  <a:srgbClr val="2B261F"/>
                </a:solidFill>
                <a:latin typeface="Microsoft YaHei"/>
              </a:rPr>
              <a:t>AI Agent 时代的人类思考转变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" y="1298448"/>
            <a:ext cx="10424160" cy="7498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8F3D2D"/>
                </a:solidFill>
                <a:latin typeface="Microsoft YaHei"/>
              </a:rPr>
              <a:t>人类仍然需要思考，但思考的形式发生了根本变化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32688" y="2303373"/>
            <a:ext cx="7704" cy="13705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40392" y="2317078"/>
            <a:ext cx="21433" cy="26389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61825" y="2343467"/>
            <a:ext cx="28993" cy="19512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90818" y="2362979"/>
            <a:ext cx="33334" cy="19740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013155" y="2365441"/>
            <a:ext cx="39838" cy="28458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052993" y="2310602"/>
            <a:ext cx="36790" cy="54839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089783" y="2283420"/>
            <a:ext cx="34772" cy="27182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124555" y="2253180"/>
            <a:ext cx="55388" cy="30240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179943" y="2205531"/>
            <a:ext cx="18170" cy="47649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444752" y="2157984"/>
            <a:ext cx="95554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2B261F"/>
                </a:solidFill>
                <a:latin typeface="Microsoft YaHei"/>
              </a:rPr>
              <a:t>过去大量时间消耗在机械执行上，而非真正深度思考</a:t>
            </a:r>
          </a:p>
        </p:txBody>
      </p:sp>
      <p:cxnSp>
        <p:nvCxnSpPr>
          <p:cNvPr id="59" name="Connector 58"/>
          <p:cNvCxnSpPr/>
          <p:nvPr/>
        </p:nvCxnSpPr>
        <p:spPr>
          <a:xfrm flipV="1">
            <a:off x="932688" y="2918525"/>
            <a:ext cx="40032" cy="7555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72720" y="2918525"/>
            <a:ext cx="45221" cy="21396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017941" y="2928516"/>
            <a:ext cx="51692" cy="11405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69633" y="2928516"/>
            <a:ext cx="29774" cy="14516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99407" y="2943032"/>
            <a:ext cx="57588" cy="4803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156995" y="2947835"/>
            <a:ext cx="31506" cy="5523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188501" y="2953358"/>
            <a:ext cx="40178" cy="19760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228679" y="2970495"/>
            <a:ext cx="36532" cy="2623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1259638" y="2942336"/>
            <a:ext cx="15035" cy="23977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1225880" y="2919567"/>
            <a:ext cx="33758" cy="22769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1201450" y="2891685"/>
            <a:ext cx="24430" cy="27882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1248399" y="2966313"/>
            <a:ext cx="26274" cy="33788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1221002" y="3000101"/>
            <a:ext cx="27397" cy="16646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1196095" y="3016747"/>
            <a:ext cx="24907" cy="40604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1444752" y="2871216"/>
            <a:ext cx="95554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2B261F"/>
                </a:solidFill>
                <a:latin typeface="Microsoft YaHei"/>
              </a:rPr>
              <a:t>AI Agent 接管执行后，人类需聚焦更高层次的决策与责任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10561320" y="5029200"/>
            <a:ext cx="94528" cy="4946"/>
          </a:xfrm>
          <a:prstGeom prst="line">
            <a:avLst/>
          </a:prstGeom>
          <a:ln w="21590">
            <a:solidFill>
              <a:srgbClr val="8F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0655848" y="5034146"/>
            <a:ext cx="93505" cy="15544"/>
          </a:xfrm>
          <a:prstGeom prst="line">
            <a:avLst/>
          </a:prstGeom>
          <a:ln w="21590">
            <a:solidFill>
              <a:srgbClr val="8F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0749353" y="5049690"/>
            <a:ext cx="113553" cy="5135"/>
          </a:xfrm>
          <a:prstGeom prst="line">
            <a:avLst/>
          </a:prstGeom>
          <a:ln w="21590">
            <a:solidFill>
              <a:srgbClr val="8F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0862906" y="5054825"/>
            <a:ext cx="99526" cy="10851"/>
          </a:xfrm>
          <a:prstGeom prst="line">
            <a:avLst/>
          </a:prstGeom>
          <a:ln w="21590">
            <a:solidFill>
              <a:srgbClr val="8F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0962432" y="5065676"/>
            <a:ext cx="85845" cy="24071"/>
          </a:xfrm>
          <a:prstGeom prst="line">
            <a:avLst/>
          </a:prstGeom>
          <a:ln w="21590">
            <a:solidFill>
              <a:srgbClr val="8F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1048277" y="5089747"/>
            <a:ext cx="83364" cy="5914"/>
          </a:xfrm>
          <a:prstGeom prst="line">
            <a:avLst/>
          </a:prstGeom>
          <a:ln w="21590">
            <a:solidFill>
              <a:srgbClr val="8F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1131641" y="5095661"/>
            <a:ext cx="105426" cy="25049"/>
          </a:xfrm>
          <a:prstGeom prst="line">
            <a:avLst/>
          </a:prstGeom>
          <a:ln w="21590">
            <a:solidFill>
              <a:srgbClr val="8F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1237067" y="5117260"/>
            <a:ext cx="100649" cy="3450"/>
          </a:xfrm>
          <a:prstGeom prst="line">
            <a:avLst/>
          </a:prstGeom>
          <a:ln w="21590">
            <a:solidFill>
              <a:srgbClr val="8F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H="1" flipV="1">
            <a:off x="11269055" y="5053738"/>
            <a:ext cx="69505" cy="66902"/>
          </a:xfrm>
          <a:prstGeom prst="line">
            <a:avLst/>
          </a:prstGeom>
          <a:ln w="21590">
            <a:solidFill>
              <a:srgbClr val="8F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H="1" flipV="1">
            <a:off x="11213132" y="5009942"/>
            <a:ext cx="55923" cy="43796"/>
          </a:xfrm>
          <a:prstGeom prst="line">
            <a:avLst/>
          </a:prstGeom>
          <a:ln w="21590">
            <a:solidFill>
              <a:srgbClr val="8F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11155719" y="4947777"/>
            <a:ext cx="57413" cy="62165"/>
          </a:xfrm>
          <a:prstGeom prst="line">
            <a:avLst/>
          </a:prstGeom>
          <a:ln w="21590">
            <a:solidFill>
              <a:srgbClr val="8F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>
            <a:off x="11262433" y="5120640"/>
            <a:ext cx="76127" cy="55799"/>
          </a:xfrm>
          <a:prstGeom prst="line">
            <a:avLst/>
          </a:prstGeom>
          <a:ln w="21590">
            <a:solidFill>
              <a:srgbClr val="8F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>
            <a:off x="11197661" y="5176439"/>
            <a:ext cx="64772" cy="59492"/>
          </a:xfrm>
          <a:prstGeom prst="line">
            <a:avLst/>
          </a:prstGeom>
          <a:ln w="21590">
            <a:solidFill>
              <a:srgbClr val="8F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>
            <a:off x="11128962" y="5235931"/>
            <a:ext cx="68699" cy="79078"/>
          </a:xfrm>
          <a:prstGeom prst="line">
            <a:avLst/>
          </a:prstGeom>
          <a:ln w="21590">
            <a:solidFill>
              <a:srgbClr val="8F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10561320" y="438912"/>
            <a:ext cx="8686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604C36"/>
                </a:solidFill>
                <a:latin typeface="Courier New"/>
              </a:rPr>
              <a:t>01/20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4226bfe4-caa6-4bc5-bbe7-00e29148a075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 flipV="1">
            <a:off x="530352" y="499069"/>
            <a:ext cx="512555" cy="3851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42907" y="499069"/>
            <a:ext cx="492548" cy="12503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535455" y="492865"/>
            <a:ext cx="520373" cy="18707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055828" y="492865"/>
            <a:ext cx="500511" cy="6819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56339" y="499684"/>
            <a:ext cx="497332" cy="4954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3053671" y="502359"/>
            <a:ext cx="521955" cy="2279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575626" y="501332"/>
            <a:ext cx="493720" cy="1027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4069346" y="491328"/>
            <a:ext cx="510424" cy="10004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9770" y="491328"/>
            <a:ext cx="505984" cy="10157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085754" y="500626"/>
            <a:ext cx="492058" cy="859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5577812" y="488910"/>
            <a:ext cx="528490" cy="11716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106302" y="488910"/>
            <a:ext cx="502269" cy="3454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608571" y="476953"/>
            <a:ext cx="506544" cy="15411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115115" y="476953"/>
            <a:ext cx="494946" cy="8354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610061" y="485307"/>
            <a:ext cx="501059" cy="3732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111120" y="476291"/>
            <a:ext cx="517298" cy="1274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628418" y="476291"/>
            <a:ext cx="503331" cy="13316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9131749" y="480770"/>
            <a:ext cx="505858" cy="8837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637607" y="480770"/>
            <a:ext cx="493717" cy="1330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0131324" y="480743"/>
            <a:ext cx="506345" cy="1357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637669" y="480743"/>
            <a:ext cx="514905" cy="6716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1152574" y="484169"/>
            <a:ext cx="511243" cy="3290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66928" y="6291072"/>
            <a:ext cx="493186" cy="424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060114" y="6290652"/>
            <a:ext cx="514156" cy="466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574270" y="6282237"/>
            <a:ext cx="488686" cy="8415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062956" y="6282237"/>
            <a:ext cx="513651" cy="13132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576607" y="6273564"/>
            <a:ext cx="508932" cy="21805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85539" y="6273564"/>
            <a:ext cx="496822" cy="4412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582361" y="6277976"/>
            <a:ext cx="492947" cy="10565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4075308" y="6282511"/>
            <a:ext cx="503906" cy="6030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579214" y="6282261"/>
            <a:ext cx="511554" cy="250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090768" y="6271459"/>
            <a:ext cx="501545" cy="10802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92313" y="6271459"/>
            <a:ext cx="494420" cy="3532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086733" y="6274991"/>
            <a:ext cx="508099" cy="1962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594832" y="6276953"/>
            <a:ext cx="502565" cy="2820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097397" y="6279772"/>
            <a:ext cx="507037" cy="1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604434" y="6271903"/>
            <a:ext cx="512389" cy="786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116823" y="6257002"/>
            <a:ext cx="498887" cy="14901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615710" y="6253714"/>
            <a:ext cx="506907" cy="3288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122617" y="6253714"/>
            <a:ext cx="505990" cy="155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628607" y="6253869"/>
            <a:ext cx="485324" cy="5274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0113931" y="6250418"/>
            <a:ext cx="510083" cy="8725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624014" y="6243748"/>
            <a:ext cx="513636" cy="6670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137650" y="6243748"/>
            <a:ext cx="495463" cy="4803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58368" y="566928"/>
            <a:ext cx="9966960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>
                <a:solidFill>
                  <a:srgbClr val="2B261F"/>
                </a:solidFill>
                <a:latin typeface="Microsoft YaHei"/>
              </a:rPr>
              <a:t>引言：思考依然必要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" y="1298448"/>
            <a:ext cx="10424160" cy="7498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8F3D2D"/>
                </a:solidFill>
                <a:latin typeface="Microsoft YaHei"/>
              </a:rPr>
              <a:t>人类仍然需要思考，但思考的形式发生了根本变化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32688" y="2303373"/>
            <a:ext cx="24758" cy="24392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57446" y="2327765"/>
            <a:ext cx="8252" cy="17638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65698" y="2345403"/>
            <a:ext cx="36308" cy="35872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1002006" y="2381177"/>
            <a:ext cx="6804" cy="98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013155" y="2349072"/>
            <a:ext cx="33655" cy="44827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046810" y="2313710"/>
            <a:ext cx="43551" cy="35362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090361" y="2296699"/>
            <a:ext cx="51142" cy="17011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141503" y="2253206"/>
            <a:ext cx="19207" cy="43493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160710" y="2217190"/>
            <a:ext cx="55636" cy="36016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444752" y="2157984"/>
            <a:ext cx="95554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2B261F"/>
                </a:solidFill>
                <a:latin typeface="Microsoft YaHei"/>
              </a:rPr>
              <a:t>过去大量时间消耗在机械执行上，而非真正深度思考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32688" y="2926080"/>
            <a:ext cx="37170" cy="8903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969858" y="2933287"/>
            <a:ext cx="44761" cy="1696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14619" y="2933287"/>
            <a:ext cx="42329" cy="15459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056948" y="2933701"/>
            <a:ext cx="40730" cy="15045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97678" y="2933701"/>
            <a:ext cx="41498" cy="16069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139176" y="2949770"/>
            <a:ext cx="47061" cy="18715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186237" y="2958573"/>
            <a:ext cx="45266" cy="9912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231503" y="2958573"/>
            <a:ext cx="47846" cy="9126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1255551" y="2931303"/>
            <a:ext cx="19122" cy="35010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1215608" y="2904059"/>
            <a:ext cx="39943" cy="27244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1203196" y="2874867"/>
            <a:ext cx="12412" cy="29192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1254422" y="2966313"/>
            <a:ext cx="20251" cy="25589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1224017" y="2991902"/>
            <a:ext cx="30405" cy="30633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1178262" y="3022535"/>
            <a:ext cx="45755" cy="28129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1444752" y="2871216"/>
            <a:ext cx="95554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2B261F"/>
                </a:solidFill>
                <a:latin typeface="Microsoft YaHei"/>
              </a:rPr>
              <a:t>AI Agent 接管执行后，人类需聚焦更高层次的决策与责任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10561320" y="5029200"/>
            <a:ext cx="89610" cy="9387"/>
          </a:xfrm>
          <a:prstGeom prst="line">
            <a:avLst/>
          </a:prstGeom>
          <a:ln w="2159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0650930" y="5038587"/>
            <a:ext cx="104150" cy="686"/>
          </a:xfrm>
          <a:prstGeom prst="line">
            <a:avLst/>
          </a:prstGeom>
          <a:ln w="2159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0755080" y="5039273"/>
            <a:ext cx="99392" cy="35233"/>
          </a:xfrm>
          <a:prstGeom prst="line">
            <a:avLst/>
          </a:prstGeom>
          <a:ln w="2159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0854472" y="5074506"/>
            <a:ext cx="100812" cy="3885"/>
          </a:xfrm>
          <a:prstGeom prst="line">
            <a:avLst/>
          </a:prstGeom>
          <a:ln w="2159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955284" y="5076299"/>
            <a:ext cx="99917" cy="2092"/>
          </a:xfrm>
          <a:prstGeom prst="line">
            <a:avLst/>
          </a:prstGeom>
          <a:ln w="2159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1055201" y="5076299"/>
            <a:ext cx="93705" cy="18348"/>
          </a:xfrm>
          <a:prstGeom prst="line">
            <a:avLst/>
          </a:prstGeom>
          <a:ln w="2159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1148906" y="5094647"/>
            <a:ext cx="91688" cy="6790"/>
          </a:xfrm>
          <a:prstGeom prst="line">
            <a:avLst/>
          </a:prstGeom>
          <a:ln w="2159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1240594" y="5101437"/>
            <a:ext cx="104838" cy="28183"/>
          </a:xfrm>
          <a:prstGeom prst="line">
            <a:avLst/>
          </a:prstGeom>
          <a:ln w="2159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H="1" flipV="1">
            <a:off x="11278404" y="5064764"/>
            <a:ext cx="60156" cy="55876"/>
          </a:xfrm>
          <a:prstGeom prst="line">
            <a:avLst/>
          </a:prstGeom>
          <a:ln w="2159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H="1" flipV="1">
            <a:off x="11223986" y="5011043"/>
            <a:ext cx="54418" cy="53721"/>
          </a:xfrm>
          <a:prstGeom prst="line">
            <a:avLst/>
          </a:prstGeom>
          <a:ln w="2159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11147116" y="4943989"/>
            <a:ext cx="76870" cy="67054"/>
          </a:xfrm>
          <a:prstGeom prst="line">
            <a:avLst/>
          </a:prstGeom>
          <a:ln w="2159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>
            <a:off x="11272582" y="5120640"/>
            <a:ext cx="65978" cy="55845"/>
          </a:xfrm>
          <a:prstGeom prst="line">
            <a:avLst/>
          </a:prstGeom>
          <a:ln w="2159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>
            <a:off x="11192880" y="5176485"/>
            <a:ext cx="79702" cy="77916"/>
          </a:xfrm>
          <a:prstGeom prst="line">
            <a:avLst/>
          </a:prstGeom>
          <a:ln w="2159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>
            <a:off x="11130524" y="5254401"/>
            <a:ext cx="62356" cy="42782"/>
          </a:xfrm>
          <a:prstGeom prst="line">
            <a:avLst/>
          </a:prstGeom>
          <a:ln w="2159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10561320" y="438912"/>
            <a:ext cx="8686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604C36"/>
                </a:solidFill>
                <a:latin typeface="Courier New"/>
              </a:rPr>
              <a:t>02/20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4226bfe4-caa6-4bc5-bbe7-00e29148a075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 flipV="1">
            <a:off x="530352" y="492988"/>
            <a:ext cx="496837" cy="9932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27189" y="492988"/>
            <a:ext cx="517509" cy="1269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544698" y="494868"/>
            <a:ext cx="503291" cy="1081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047989" y="494868"/>
            <a:ext cx="495446" cy="150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43435" y="496376"/>
            <a:ext cx="511893" cy="3547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3055328" y="489294"/>
            <a:ext cx="520964" cy="10629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576292" y="486569"/>
            <a:ext cx="490870" cy="272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067162" y="486569"/>
            <a:ext cx="517201" cy="17583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584363" y="495060"/>
            <a:ext cx="486004" cy="9092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070367" y="484879"/>
            <a:ext cx="517752" cy="10181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588119" y="484879"/>
            <a:ext cx="512878" cy="1556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100997" y="475724"/>
            <a:ext cx="493541" cy="24720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94538" y="475724"/>
            <a:ext cx="516296" cy="18206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110834" y="482181"/>
            <a:ext cx="494421" cy="11749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605255" y="475579"/>
            <a:ext cx="510516" cy="6602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115771" y="475579"/>
            <a:ext cx="504249" cy="19761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620020" y="482925"/>
            <a:ext cx="501957" cy="1241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9121977" y="479867"/>
            <a:ext cx="507427" cy="305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629404" y="479867"/>
            <a:ext cx="523894" cy="10677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0153298" y="479686"/>
            <a:ext cx="485467" cy="1085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638765" y="478836"/>
            <a:ext cx="523347" cy="850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1162112" y="471448"/>
            <a:ext cx="483687" cy="738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566928" y="6280203"/>
            <a:ext cx="509075" cy="1086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76003" y="6280203"/>
            <a:ext cx="487456" cy="14125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563459" y="6291302"/>
            <a:ext cx="517428" cy="3026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080887" y="6284555"/>
            <a:ext cx="506046" cy="6747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586933" y="6281462"/>
            <a:ext cx="488060" cy="3093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074993" y="6278305"/>
            <a:ext cx="511296" cy="3157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586289" y="6278305"/>
            <a:ext cx="504355" cy="2305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090644" y="6280610"/>
            <a:ext cx="503350" cy="100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593994" y="6265392"/>
            <a:ext cx="498496" cy="15318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092490" y="6265392"/>
            <a:ext cx="502147" cy="10943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94637" y="6276335"/>
            <a:ext cx="504553" cy="5964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6099190" y="6272920"/>
            <a:ext cx="492665" cy="937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6591855" y="6264156"/>
            <a:ext cx="517234" cy="8764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109089" y="6263963"/>
            <a:ext cx="487466" cy="193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596555" y="6263963"/>
            <a:ext cx="509899" cy="206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06454" y="6264169"/>
            <a:ext cx="500317" cy="4040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606771" y="6268209"/>
            <a:ext cx="521130" cy="7303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9127901" y="6267454"/>
            <a:ext cx="478857" cy="8058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9606758" y="6259999"/>
            <a:ext cx="514848" cy="7455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121606" y="6259999"/>
            <a:ext cx="504966" cy="831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626572" y="6252495"/>
            <a:ext cx="495036" cy="8335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1121608" y="6247812"/>
            <a:ext cx="498097" cy="4683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58368" y="566928"/>
            <a:ext cx="9966960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>
                <a:solidFill>
                  <a:srgbClr val="2B261F"/>
                </a:solidFill>
                <a:latin typeface="Microsoft YaHei"/>
              </a:rPr>
              <a:t>过去思考的误区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" y="1298448"/>
            <a:ext cx="10424160" cy="7498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8F3D2D"/>
                </a:solidFill>
                <a:latin typeface="Microsoft YaHei"/>
              </a:rPr>
              <a:t>时间主要花在“做”上：查资料、整理表格、写初稿、改错别字、信息合并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32688" y="2303373"/>
            <a:ext cx="7985" cy="25402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40673" y="2328775"/>
            <a:ext cx="38350" cy="13879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79023" y="2342654"/>
            <a:ext cx="13818" cy="25547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92841" y="2368201"/>
            <a:ext cx="11068" cy="31147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013155" y="2359935"/>
            <a:ext cx="27369" cy="33964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040524" y="2325420"/>
            <a:ext cx="51381" cy="34515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091905" y="2289172"/>
            <a:ext cx="44200" cy="36248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136105" y="2242484"/>
            <a:ext cx="27976" cy="46688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164081" y="2201817"/>
            <a:ext cx="41469" cy="40667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444752" y="2157984"/>
            <a:ext cx="95554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2B261F"/>
                </a:solidFill>
                <a:latin typeface="Microsoft YaHei"/>
              </a:rPr>
              <a:t>这些活动耗费脑力，却容易让人误以为正在深度思考</a:t>
            </a:r>
          </a:p>
        </p:txBody>
      </p:sp>
      <p:cxnSp>
        <p:nvCxnSpPr>
          <p:cNvPr id="59" name="Connector 58"/>
          <p:cNvCxnSpPr/>
          <p:nvPr/>
        </p:nvCxnSpPr>
        <p:spPr>
          <a:xfrm flipV="1">
            <a:off x="932688" y="2920699"/>
            <a:ext cx="47855" cy="5381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80543" y="2920699"/>
            <a:ext cx="36751" cy="8095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17294" y="2928794"/>
            <a:ext cx="43011" cy="16552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60305" y="2945346"/>
            <a:ext cx="45219" cy="12247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1105524" y="2942291"/>
            <a:ext cx="32746" cy="15302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138270" y="2942291"/>
            <a:ext cx="38826" cy="15586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177096" y="2957877"/>
            <a:ext cx="54549" cy="549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231645" y="2956749"/>
            <a:ext cx="53664" cy="1677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1247340" y="2941457"/>
            <a:ext cx="27333" cy="24856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1233006" y="2908688"/>
            <a:ext cx="14334" cy="32769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1198791" y="2892374"/>
            <a:ext cx="34215" cy="16314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1233850" y="2966313"/>
            <a:ext cx="40823" cy="24609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1223158" y="2990922"/>
            <a:ext cx="10692" cy="18265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1186475" y="3009187"/>
            <a:ext cx="36683" cy="26270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1444752" y="2871216"/>
            <a:ext cx="95554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2B261F"/>
                </a:solidFill>
                <a:latin typeface="Microsoft YaHei"/>
              </a:rPr>
              <a:t>实质是将脑力当作劳力使用，缺乏边界与取舍</a:t>
            </a:r>
          </a:p>
        </p:txBody>
      </p:sp>
      <p:sp>
        <p:nvSpPr>
          <p:cNvPr id="74" name="Oval 73"/>
          <p:cNvSpPr/>
          <p:nvPr/>
        </p:nvSpPr>
        <p:spPr>
          <a:xfrm>
            <a:off x="10561320" y="5029200"/>
            <a:ext cx="480060" cy="594360"/>
          </a:xfrm>
          <a:prstGeom prst="ellipse">
            <a:avLst/>
          </a:prstGeom>
          <a:noFill/>
          <a:ln w="19050">
            <a:solidFill>
              <a:srgbClr val="5B6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 flipV="1">
            <a:off x="10709910" y="5642553"/>
            <a:ext cx="64384" cy="3867"/>
          </a:xfrm>
          <a:prstGeom prst="line">
            <a:avLst/>
          </a:prstGeom>
          <a:ln w="1651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0774294" y="5642553"/>
            <a:ext cx="56460" cy="8108"/>
          </a:xfrm>
          <a:prstGeom prst="line">
            <a:avLst/>
          </a:prstGeom>
          <a:ln w="1651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0830754" y="5650661"/>
            <a:ext cx="63810" cy="4279"/>
          </a:xfrm>
          <a:prstGeom prst="line">
            <a:avLst/>
          </a:prstGeom>
          <a:ln w="1651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767060" y="5758841"/>
            <a:ext cx="68213" cy="1879"/>
          </a:xfrm>
          <a:prstGeom prst="line">
            <a:avLst/>
          </a:prstGeom>
          <a:ln w="1651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0835273" y="5758841"/>
            <a:ext cx="57908" cy="549"/>
          </a:xfrm>
          <a:prstGeom prst="line">
            <a:avLst/>
          </a:prstGeom>
          <a:ln w="1651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0893181" y="5759390"/>
            <a:ext cx="50174" cy="4766"/>
          </a:xfrm>
          <a:prstGeom prst="line">
            <a:avLst/>
          </a:prstGeom>
          <a:ln w="1651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10561320" y="438912"/>
            <a:ext cx="8686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604C36"/>
                </a:solidFill>
                <a:latin typeface="Courier New"/>
              </a:rPr>
              <a:t>03/20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4226bfe4-caa6-4bc5-bbe7-00e29148a075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 flipV="1">
            <a:off x="530352" y="496577"/>
            <a:ext cx="495212" cy="6343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1025564" y="492975"/>
            <a:ext cx="514658" cy="3602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540222" y="490949"/>
            <a:ext cx="509218" cy="2026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049440" y="487476"/>
            <a:ext cx="513728" cy="3473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63168" y="487476"/>
            <a:ext cx="496866" cy="4670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060034" y="492146"/>
            <a:ext cx="499621" cy="1110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559655" y="482903"/>
            <a:ext cx="520861" cy="20351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080516" y="482903"/>
            <a:ext cx="492722" cy="12326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3238" y="495229"/>
            <a:ext cx="511952" cy="6609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085190" y="484064"/>
            <a:ext cx="494041" cy="17774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579231" y="484064"/>
            <a:ext cx="504712" cy="104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83943" y="485109"/>
            <a:ext cx="519793" cy="10106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603736" y="490778"/>
            <a:ext cx="491619" cy="4437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095355" y="477714"/>
            <a:ext cx="504996" cy="13064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600351" y="477714"/>
            <a:ext cx="514808" cy="16929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115159" y="480659"/>
            <a:ext cx="508659" cy="13984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623818" y="471998"/>
            <a:ext cx="515599" cy="8661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139417" y="471998"/>
            <a:ext cx="487796" cy="5617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627213" y="477615"/>
            <a:ext cx="515946" cy="14179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0143159" y="484502"/>
            <a:ext cx="502746" cy="7292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645905" y="464156"/>
            <a:ext cx="505072" cy="20346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150977" y="464156"/>
            <a:ext cx="501537" cy="20243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66928" y="6291072"/>
            <a:ext cx="502337" cy="5557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69265" y="6296629"/>
            <a:ext cx="510673" cy="1023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579938" y="6297213"/>
            <a:ext cx="494376" cy="43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074314" y="6289764"/>
            <a:ext cx="492025" cy="744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566339" y="6289764"/>
            <a:ext cx="515100" cy="303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081439" y="6286525"/>
            <a:ext cx="496449" cy="6278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577888" y="6276776"/>
            <a:ext cx="506828" cy="974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084716" y="6276776"/>
            <a:ext cx="502547" cy="12975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587263" y="6270511"/>
            <a:ext cx="498790" cy="19240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086053" y="6269958"/>
            <a:ext cx="517743" cy="553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5603796" y="6262577"/>
            <a:ext cx="492590" cy="7381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6096386" y="6261254"/>
            <a:ext cx="511502" cy="1323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607888" y="6261254"/>
            <a:ext cx="497034" cy="17543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104922" y="6264683"/>
            <a:ext cx="507043" cy="14114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611965" y="6253584"/>
            <a:ext cx="502619" cy="1109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114584" y="6252075"/>
            <a:ext cx="494337" cy="150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608921" y="6252075"/>
            <a:ext cx="511681" cy="19525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9120602" y="6260698"/>
            <a:ext cx="510072" cy="10902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630674" y="6260698"/>
            <a:ext cx="495546" cy="3642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0126220" y="6249712"/>
            <a:ext cx="488774" cy="14628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614994" y="6249712"/>
            <a:ext cx="516784" cy="426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1131778" y="6251523"/>
            <a:ext cx="486897" cy="2458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58368" y="566928"/>
            <a:ext cx="9966960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>
                <a:solidFill>
                  <a:srgbClr val="2B261F"/>
                </a:solidFill>
                <a:latin typeface="Microsoft YaHei"/>
              </a:rPr>
              <a:t>时间主要花在“做”上：查资料、整理表格、写初稿、改错别字、信息合并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" y="1298448"/>
            <a:ext cx="10424160" cy="7498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8F3D2D"/>
                </a:solidFill>
                <a:latin typeface="Microsoft YaHei"/>
              </a:rPr>
              <a:t>这些活动耗费脑力，却容易让人误以为正在深度思考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32688" y="2303373"/>
            <a:ext cx="19960" cy="14839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52648" y="2318212"/>
            <a:ext cx="20135" cy="34571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72783" y="2352783"/>
            <a:ext cx="15367" cy="12601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88150" y="2365384"/>
            <a:ext cx="24561" cy="27006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013155" y="2350882"/>
            <a:ext cx="33379" cy="43017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046534" y="2333589"/>
            <a:ext cx="39214" cy="17293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085748" y="2293653"/>
            <a:ext cx="40597" cy="39936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126345" y="2251498"/>
            <a:ext cx="44800" cy="42155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171145" y="2219424"/>
            <a:ext cx="37211" cy="32074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444752" y="2157984"/>
            <a:ext cx="95554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2B261F"/>
                </a:solidFill>
                <a:latin typeface="Microsoft YaHei"/>
              </a:rPr>
              <a:t>实质是将脑力当作劳力使用，缺乏边界与取舍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32688" y="2926080"/>
            <a:ext cx="39464" cy="12068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972152" y="2925145"/>
            <a:ext cx="40981" cy="13003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13133" y="2925145"/>
            <a:ext cx="41141" cy="9009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4274" y="2934154"/>
            <a:ext cx="40599" cy="12896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1094873" y="2938768"/>
            <a:ext cx="46489" cy="8282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141362" y="2938768"/>
            <a:ext cx="48519" cy="26148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189881" y="2964916"/>
            <a:ext cx="38161" cy="8664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228042" y="2958723"/>
            <a:ext cx="55801" cy="14857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1245464" y="2947900"/>
            <a:ext cx="29209" cy="18413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1230620" y="2910720"/>
            <a:ext cx="14844" cy="37180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1204911" y="2878748"/>
            <a:ext cx="25709" cy="31972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1252240" y="2966313"/>
            <a:ext cx="22433" cy="19789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1223997" y="2986102"/>
            <a:ext cx="28243" cy="26914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1194439" y="3013016"/>
            <a:ext cx="29558" cy="41309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1444752" y="2871216"/>
            <a:ext cx="95554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2B261F"/>
                </a:solidFill>
                <a:latin typeface="Microsoft YaHei"/>
              </a:rPr>
              <a:t>过去大量时间消耗在机械执行上，而非真正深度思考</a:t>
            </a:r>
          </a:p>
        </p:txBody>
      </p:sp>
      <p:sp>
        <p:nvSpPr>
          <p:cNvPr id="74" name="Arc 73"/>
          <p:cNvSpPr/>
          <p:nvPr/>
        </p:nvSpPr>
        <p:spPr>
          <a:xfrm>
            <a:off x="10561320" y="5029200"/>
            <a:ext cx="857250" cy="514350"/>
          </a:xfrm>
          <a:prstGeom prst="arc">
            <a:avLst/>
          </a:prstGeom>
          <a:noFill/>
          <a:ln w="19050">
            <a:solidFill>
              <a:srgbClr val="8F3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561320" y="438912"/>
            <a:ext cx="8686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604C36"/>
                </a:solidFill>
                <a:latin typeface="Courier New"/>
              </a:rPr>
              <a:t>04/20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4226bfe4-caa6-4bc5-bbe7-00e29148a075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530352" y="502920"/>
            <a:ext cx="507890" cy="384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1038242" y="503589"/>
            <a:ext cx="493795" cy="3176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532037" y="489831"/>
            <a:ext cx="525976" cy="1375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058013" y="489831"/>
            <a:ext cx="496080" cy="13560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2554093" y="485206"/>
            <a:ext cx="514040" cy="1818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068133" y="485206"/>
            <a:ext cx="495996" cy="1956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564129" y="487162"/>
            <a:ext cx="506065" cy="136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4070194" y="484544"/>
            <a:ext cx="510579" cy="3986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80773" y="484544"/>
            <a:ext cx="496764" cy="3531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077537" y="485447"/>
            <a:ext cx="520300" cy="262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5597837" y="482678"/>
            <a:ext cx="502161" cy="2769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99998" y="482678"/>
            <a:ext cx="510540" cy="17879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610538" y="484433"/>
            <a:ext cx="490622" cy="16124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101160" y="483002"/>
            <a:ext cx="513204" cy="1431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614364" y="483002"/>
            <a:ext cx="500508" cy="2443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114872" y="485445"/>
            <a:ext cx="511824" cy="5979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626696" y="470739"/>
            <a:ext cx="510056" cy="2068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136752" y="470739"/>
            <a:ext cx="487109" cy="110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9623861" y="467096"/>
            <a:ext cx="504942" cy="4751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128803" y="467096"/>
            <a:ext cx="518451" cy="4750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647254" y="471846"/>
            <a:ext cx="496210" cy="178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143464" y="473634"/>
            <a:ext cx="505947" cy="917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66928" y="6291072"/>
            <a:ext cx="503839" cy="4030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070767" y="6290488"/>
            <a:ext cx="490032" cy="4614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560799" y="6274959"/>
            <a:ext cx="526553" cy="1552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087352" y="6274959"/>
            <a:ext cx="496744" cy="717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584096" y="6271552"/>
            <a:ext cx="505694" cy="10586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089790" y="6268504"/>
            <a:ext cx="486664" cy="3048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576454" y="6268504"/>
            <a:ext cx="511769" cy="1639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4088223" y="6275518"/>
            <a:ext cx="489350" cy="9385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577573" y="6275518"/>
            <a:ext cx="519211" cy="2302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096784" y="6275872"/>
            <a:ext cx="489711" cy="1948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6495" y="6275872"/>
            <a:ext cx="524656" cy="9572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6111151" y="6278369"/>
            <a:ext cx="493739" cy="7075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604890" y="6278369"/>
            <a:ext cx="493045" cy="450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097935" y="6264147"/>
            <a:ext cx="514888" cy="14672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612823" y="6253397"/>
            <a:ext cx="496844" cy="10750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09667" y="6253397"/>
            <a:ext cx="493044" cy="4147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602711" y="6257544"/>
            <a:ext cx="524193" cy="4342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9126904" y="6254629"/>
            <a:ext cx="491361" cy="7257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618265" y="6254629"/>
            <a:ext cx="497778" cy="15171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0116043" y="6267346"/>
            <a:ext cx="505989" cy="2454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622032" y="6261747"/>
            <a:ext cx="513941" cy="559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135973" y="6261747"/>
            <a:ext cx="490412" cy="302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58368" y="566928"/>
            <a:ext cx="9966960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>
                <a:solidFill>
                  <a:srgbClr val="2B261F"/>
                </a:solidFill>
                <a:latin typeface="Microsoft YaHei"/>
              </a:rPr>
              <a:t>实质是将脑力当作劳力使用，缺乏边界与取舍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" y="1298448"/>
            <a:ext cx="10424160" cy="7498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8F3D2D"/>
                </a:solidFill>
                <a:latin typeface="Microsoft YaHei"/>
              </a:rPr>
              <a:t>时间主要花在“做”上：查资料、整理表格、写初稿、改错别字、信息合并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32688" y="2303373"/>
            <a:ext cx="25415" cy="25104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58103" y="2328477"/>
            <a:ext cx="16452" cy="28508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74555" y="2356985"/>
            <a:ext cx="27121" cy="4369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01676" y="2361354"/>
            <a:ext cx="20278" cy="23738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013155" y="2359702"/>
            <a:ext cx="37776" cy="34197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050931" y="2312678"/>
            <a:ext cx="43831" cy="47024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094762" y="2278295"/>
            <a:ext cx="34804" cy="34383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129566" y="2236503"/>
            <a:ext cx="39671" cy="41792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169237" y="2204938"/>
            <a:ext cx="27656" cy="31565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444752" y="2157984"/>
            <a:ext cx="95554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2B261F"/>
                </a:solidFill>
                <a:latin typeface="Microsoft YaHei"/>
              </a:rPr>
              <a:t>这些活动耗费脑力，却容易让人误以为正在深度思考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32688" y="2926080"/>
            <a:ext cx="44246" cy="14587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76934" y="2940667"/>
            <a:ext cx="50337" cy="2743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027271" y="2933869"/>
            <a:ext cx="22974" cy="9541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0245" y="2933869"/>
            <a:ext cx="49467" cy="5695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99712" y="2939564"/>
            <a:ext cx="34847" cy="24207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1134559" y="2945850"/>
            <a:ext cx="45556" cy="17921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180115" y="2945850"/>
            <a:ext cx="44738" cy="5754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224853" y="2951604"/>
            <a:ext cx="53140" cy="14796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1253275" y="2941437"/>
            <a:ext cx="21398" cy="24876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1213148" y="2916316"/>
            <a:ext cx="40127" cy="25121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1182333" y="2884531"/>
            <a:ext cx="30815" cy="31785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1238138" y="2966313"/>
            <a:ext cx="36535" cy="33793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1225324" y="3000106"/>
            <a:ext cx="12814" cy="12314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1195807" y="3012420"/>
            <a:ext cx="29517" cy="28630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1444752" y="2871216"/>
            <a:ext cx="95554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2B261F"/>
                </a:solidFill>
                <a:latin typeface="Microsoft YaHei"/>
              </a:rPr>
              <a:t>执行环节被加速后，剩余的是更重的人类责任</a:t>
            </a:r>
          </a:p>
        </p:txBody>
      </p:sp>
      <p:sp>
        <p:nvSpPr>
          <p:cNvPr id="74" name="Oval 73"/>
          <p:cNvSpPr/>
          <p:nvPr/>
        </p:nvSpPr>
        <p:spPr>
          <a:xfrm>
            <a:off x="10561320" y="5029200"/>
            <a:ext cx="480060" cy="594360"/>
          </a:xfrm>
          <a:prstGeom prst="ellipse">
            <a:avLst/>
          </a:prstGeom>
          <a:noFill/>
          <a:ln w="19050">
            <a:solidFill>
              <a:srgbClr val="5B6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10709910" y="5646420"/>
            <a:ext cx="67623" cy="8404"/>
          </a:xfrm>
          <a:prstGeom prst="line">
            <a:avLst/>
          </a:prstGeom>
          <a:ln w="1651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777533" y="5636611"/>
            <a:ext cx="50497" cy="18213"/>
          </a:xfrm>
          <a:prstGeom prst="line">
            <a:avLst/>
          </a:prstGeom>
          <a:ln w="1651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0828030" y="5636611"/>
            <a:ext cx="85873" cy="6415"/>
          </a:xfrm>
          <a:prstGeom prst="line">
            <a:avLst/>
          </a:prstGeom>
          <a:ln w="1651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0767060" y="5760720"/>
            <a:ext cx="49079" cy="6786"/>
          </a:xfrm>
          <a:prstGeom prst="line">
            <a:avLst/>
          </a:prstGeom>
          <a:ln w="1651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816139" y="5765635"/>
            <a:ext cx="68546" cy="1871"/>
          </a:xfrm>
          <a:prstGeom prst="line">
            <a:avLst/>
          </a:prstGeom>
          <a:ln w="1651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884685" y="5757150"/>
            <a:ext cx="76772" cy="8485"/>
          </a:xfrm>
          <a:prstGeom prst="line">
            <a:avLst/>
          </a:prstGeom>
          <a:ln w="1651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10561320" y="438912"/>
            <a:ext cx="8686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604C36"/>
                </a:solidFill>
                <a:latin typeface="Courier New"/>
              </a:rPr>
              <a:t>05/20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4226bfe4-caa6-4bc5-bbe7-00e29148a075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 flipV="1">
            <a:off x="530352" y="502495"/>
            <a:ext cx="515713" cy="42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1046065" y="489390"/>
            <a:ext cx="495173" cy="1310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41238" y="489390"/>
            <a:ext cx="518681" cy="17244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059919" y="488201"/>
            <a:ext cx="483633" cy="18433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43552" y="488201"/>
            <a:ext cx="515072" cy="389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3058624" y="489287"/>
            <a:ext cx="500274" cy="2812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558898" y="489287"/>
            <a:ext cx="518924" cy="1443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4077822" y="500686"/>
            <a:ext cx="486661" cy="3036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564483" y="482752"/>
            <a:ext cx="507267" cy="17934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71750" y="482752"/>
            <a:ext cx="523547" cy="17272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5595297" y="496770"/>
            <a:ext cx="498539" cy="3254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093836" y="494203"/>
            <a:ext cx="510723" cy="2567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604559" y="475461"/>
            <a:ext cx="490360" cy="18742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094919" y="475461"/>
            <a:ext cx="511952" cy="15043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606871" y="488156"/>
            <a:ext cx="512333" cy="234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119204" y="470629"/>
            <a:ext cx="499064" cy="17527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618268" y="470629"/>
            <a:ext cx="515540" cy="2080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133808" y="472709"/>
            <a:ext cx="513427" cy="649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9647235" y="478764"/>
            <a:ext cx="494115" cy="443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0141350" y="473161"/>
            <a:ext cx="513627" cy="5603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654977" y="473161"/>
            <a:ext cx="507343" cy="1630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1162320" y="473714"/>
            <a:ext cx="491538" cy="1575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66928" y="6291072"/>
            <a:ext cx="500539" cy="6068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067467" y="6287823"/>
            <a:ext cx="512138" cy="9317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579605" y="6283512"/>
            <a:ext cx="491042" cy="4311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070647" y="6278762"/>
            <a:ext cx="503709" cy="4750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574356" y="6278762"/>
            <a:ext cx="503733" cy="10436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078089" y="6287728"/>
            <a:ext cx="500793" cy="1470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578882" y="6287728"/>
            <a:ext cx="497848" cy="2110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4076730" y="6286357"/>
            <a:ext cx="512109" cy="3481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588839" y="6283905"/>
            <a:ext cx="504608" cy="2452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093447" y="6273613"/>
            <a:ext cx="510269" cy="10292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5603716" y="6269962"/>
            <a:ext cx="503339" cy="3651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107055" y="6269962"/>
            <a:ext cx="493164" cy="4883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6600219" y="6268677"/>
            <a:ext cx="508633" cy="6168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108852" y="6261989"/>
            <a:ext cx="494894" cy="6688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603746" y="6261989"/>
            <a:ext cx="507051" cy="14915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110797" y="6274502"/>
            <a:ext cx="494340" cy="2402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605137" y="6265189"/>
            <a:ext cx="513927" cy="9313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119064" y="6265189"/>
            <a:ext cx="505983" cy="4980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9625047" y="6252202"/>
            <a:ext cx="505390" cy="17967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130437" y="6252202"/>
            <a:ext cx="485434" cy="11851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615871" y="6254331"/>
            <a:ext cx="520819" cy="9722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136690" y="6254331"/>
            <a:ext cx="502911" cy="8768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58368" y="566928"/>
            <a:ext cx="9966960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>
                <a:solidFill>
                  <a:srgbClr val="2B261F"/>
                </a:solidFill>
                <a:latin typeface="Microsoft YaHei"/>
              </a:rPr>
              <a:t>AI Agent 带来的核心变化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" y="1298448"/>
            <a:ext cx="10424160" cy="7498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8F3D2D"/>
                </a:solidFill>
                <a:latin typeface="Microsoft YaHei"/>
              </a:rPr>
              <a:t>执行环节被加速后，剩余的是更重的人类责任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32688" y="2303373"/>
            <a:ext cx="9222" cy="17902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41910" y="2321275"/>
            <a:ext cx="20412" cy="23392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62322" y="2344667"/>
            <a:ext cx="39901" cy="25586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02223" y="2370253"/>
            <a:ext cx="9231" cy="23263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013155" y="2357312"/>
            <a:ext cx="43814" cy="36587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056969" y="2317200"/>
            <a:ext cx="25021" cy="40112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081990" y="2288895"/>
            <a:ext cx="42288" cy="28305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124278" y="2240395"/>
            <a:ext cx="48116" cy="48500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172394" y="2220602"/>
            <a:ext cx="39918" cy="19793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444752" y="2157984"/>
            <a:ext cx="95554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2B261F"/>
                </a:solidFill>
                <a:latin typeface="Microsoft YaHei"/>
              </a:rPr>
              <a:t>需决定：问题是什么、为什么现在做、做到何种程度、哪些代价不能承受、结果是否承担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32688" y="2926080"/>
            <a:ext cx="32554" cy="2273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965242" y="2926191"/>
            <a:ext cx="41277" cy="2162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06519" y="2926191"/>
            <a:ext cx="52259" cy="25766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058778" y="2940871"/>
            <a:ext cx="41852" cy="11086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100630" y="2940871"/>
            <a:ext cx="56496" cy="22438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1157126" y="2949474"/>
            <a:ext cx="28185" cy="13835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185311" y="2949474"/>
            <a:ext cx="54664" cy="21680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239975" y="2969655"/>
            <a:ext cx="42596" cy="1499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1257461" y="2935816"/>
            <a:ext cx="17212" cy="30497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1219660" y="2900641"/>
            <a:ext cx="37801" cy="35175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1192809" y="2896956"/>
            <a:ext cx="26851" cy="3685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1247350" y="2966313"/>
            <a:ext cx="27323" cy="16499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1216616" y="2982812"/>
            <a:ext cx="30734" cy="40132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1171765" y="3022944"/>
            <a:ext cx="44851" cy="34158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1444752" y="2871216"/>
            <a:ext cx="95554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2B261F"/>
                </a:solidFill>
                <a:latin typeface="Microsoft YaHei"/>
              </a:rPr>
              <a:t>危险在于答案过快出现，导致忽略问题本身的检查</a:t>
            </a:r>
          </a:p>
        </p:txBody>
      </p:sp>
      <p:sp>
        <p:nvSpPr>
          <p:cNvPr id="74" name="Oval 73"/>
          <p:cNvSpPr/>
          <p:nvPr/>
        </p:nvSpPr>
        <p:spPr>
          <a:xfrm>
            <a:off x="10561320" y="5029200"/>
            <a:ext cx="480060" cy="594360"/>
          </a:xfrm>
          <a:prstGeom prst="ellipse">
            <a:avLst/>
          </a:prstGeom>
          <a:noFill/>
          <a:ln w="19050">
            <a:solidFill>
              <a:srgbClr val="8F3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10709910" y="5646420"/>
            <a:ext cx="71840" cy="9740"/>
          </a:xfrm>
          <a:prstGeom prst="line">
            <a:avLst/>
          </a:prstGeom>
          <a:ln w="16510">
            <a:solidFill>
              <a:srgbClr val="8F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0781750" y="5656160"/>
            <a:ext cx="50922" cy="1850"/>
          </a:xfrm>
          <a:prstGeom prst="line">
            <a:avLst/>
          </a:prstGeom>
          <a:ln w="16510">
            <a:solidFill>
              <a:srgbClr val="8F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832672" y="5644592"/>
            <a:ext cx="66165" cy="13418"/>
          </a:xfrm>
          <a:prstGeom prst="line">
            <a:avLst/>
          </a:prstGeom>
          <a:ln w="16510">
            <a:solidFill>
              <a:srgbClr val="8F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767060" y="5759328"/>
            <a:ext cx="52243" cy="1392"/>
          </a:xfrm>
          <a:prstGeom prst="line">
            <a:avLst/>
          </a:prstGeom>
          <a:ln w="16510">
            <a:solidFill>
              <a:srgbClr val="8F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819303" y="5754872"/>
            <a:ext cx="71170" cy="4456"/>
          </a:xfrm>
          <a:prstGeom prst="line">
            <a:avLst/>
          </a:prstGeom>
          <a:ln w="16510">
            <a:solidFill>
              <a:srgbClr val="8F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0890473" y="5754872"/>
            <a:ext cx="62540" cy="7605"/>
          </a:xfrm>
          <a:prstGeom prst="line">
            <a:avLst/>
          </a:prstGeom>
          <a:ln w="16510">
            <a:solidFill>
              <a:srgbClr val="8F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10561320" y="438912"/>
            <a:ext cx="8686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604C36"/>
                </a:solidFill>
                <a:latin typeface="Courier New"/>
              </a:rPr>
              <a:t>06/20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4226bfe4-caa6-4bc5-bbe7-00e29148a075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530352" y="502920"/>
            <a:ext cx="509725" cy="612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1040077" y="504329"/>
            <a:ext cx="508895" cy="4716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548972" y="489477"/>
            <a:ext cx="490044" cy="14852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039016" y="489477"/>
            <a:ext cx="522645" cy="20250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2561661" y="493667"/>
            <a:ext cx="491413" cy="16060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3053074" y="492299"/>
            <a:ext cx="513912" cy="136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566986" y="488217"/>
            <a:ext cx="515115" cy="4082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082101" y="488217"/>
            <a:ext cx="504768" cy="6019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586869" y="484291"/>
            <a:ext cx="488463" cy="994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075332" y="480955"/>
            <a:ext cx="512840" cy="3336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5588172" y="478235"/>
            <a:ext cx="499005" cy="2720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87177" y="478235"/>
            <a:ext cx="525478" cy="7239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612655" y="485474"/>
            <a:ext cx="497071" cy="12426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109726" y="481113"/>
            <a:ext cx="512794" cy="16787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622520" y="481113"/>
            <a:ext cx="498795" cy="4872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121315" y="477194"/>
            <a:ext cx="495819" cy="8791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617134" y="475162"/>
            <a:ext cx="514543" cy="2032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131677" y="475162"/>
            <a:ext cx="512360" cy="1608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9644037" y="490549"/>
            <a:ext cx="507258" cy="69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0151295" y="488502"/>
            <a:ext cx="497866" cy="2047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649161" y="465757"/>
            <a:ext cx="499890" cy="2274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149051" y="465757"/>
            <a:ext cx="503294" cy="887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566928" y="6277888"/>
            <a:ext cx="509969" cy="13184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76897" y="6277888"/>
            <a:ext cx="498361" cy="6654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575258" y="6284542"/>
            <a:ext cx="496267" cy="3274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071525" y="6285170"/>
            <a:ext cx="499125" cy="2646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570650" y="6285170"/>
            <a:ext cx="500576" cy="10243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071226" y="6273339"/>
            <a:ext cx="516320" cy="22074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587546" y="6273339"/>
            <a:ext cx="506932" cy="7857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4094478" y="6279937"/>
            <a:ext cx="494487" cy="125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588965" y="6275047"/>
            <a:ext cx="512103" cy="4890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101068" y="6275047"/>
            <a:ext cx="492156" cy="8232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5593224" y="6269679"/>
            <a:ext cx="516011" cy="13600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6109235" y="6258562"/>
            <a:ext cx="490173" cy="11117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599408" y="6258562"/>
            <a:ext cx="493209" cy="12826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092617" y="6266831"/>
            <a:ext cx="511122" cy="4557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603739" y="6263051"/>
            <a:ext cx="508163" cy="3780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111902" y="6262321"/>
            <a:ext cx="498869" cy="730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610771" y="6262321"/>
            <a:ext cx="509758" cy="2787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9120529" y="6260458"/>
            <a:ext cx="492982" cy="4650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9613511" y="6255549"/>
            <a:ext cx="511859" cy="490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125370" y="6255549"/>
            <a:ext cx="510746" cy="14521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636116" y="6267449"/>
            <a:ext cx="493552" cy="2621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1129668" y="6266856"/>
            <a:ext cx="507828" cy="593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58368" y="566928"/>
            <a:ext cx="9966960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>
                <a:solidFill>
                  <a:srgbClr val="2B261F"/>
                </a:solidFill>
                <a:latin typeface="Microsoft YaHei"/>
              </a:rPr>
              <a:t>执行环节被加速后，剩余的是更重的人类责任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" y="1298448"/>
            <a:ext cx="10424160" cy="7498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8F3D2D"/>
                </a:solidFill>
                <a:latin typeface="Microsoft YaHei"/>
              </a:rPr>
              <a:t>需决定：问题是什么、为什么现在做、做到何种程度、哪些代价不能承受、结果是否承担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32688" y="2303373"/>
            <a:ext cx="12086" cy="33051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44774" y="2336424"/>
            <a:ext cx="34113" cy="15488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78887" y="2351912"/>
            <a:ext cx="24372" cy="29124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03259" y="2381036"/>
            <a:ext cx="21364" cy="11930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013155" y="2370182"/>
            <a:ext cx="35252" cy="23717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048407" y="2331411"/>
            <a:ext cx="37211" cy="38771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085618" y="2295697"/>
            <a:ext cx="33148" cy="35714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118766" y="2253691"/>
            <a:ext cx="39001" cy="42006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157767" y="2203979"/>
            <a:ext cx="40840" cy="49712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444752" y="2157984"/>
            <a:ext cx="95554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2B261F"/>
                </a:solidFill>
                <a:latin typeface="Microsoft YaHei"/>
              </a:rPr>
              <a:t>危险在于答案过快出现，导致忽略问题本身的检查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32688" y="2926080"/>
            <a:ext cx="47975" cy="5689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80663" y="2931769"/>
            <a:ext cx="28807" cy="15991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009470" y="2944473"/>
            <a:ext cx="57882" cy="3287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067352" y="2940037"/>
            <a:ext cx="47489" cy="4436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114841" y="2940037"/>
            <a:ext cx="44213" cy="3667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159054" y="2943704"/>
            <a:ext cx="36254" cy="24386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195308" y="2949934"/>
            <a:ext cx="49024" cy="18156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244332" y="2949934"/>
            <a:ext cx="34142" cy="15854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1248636" y="2932318"/>
            <a:ext cx="26037" cy="33995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1219919" y="2922976"/>
            <a:ext cx="28717" cy="9342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1205315" y="2892275"/>
            <a:ext cx="14604" cy="30701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1244580" y="2966313"/>
            <a:ext cx="30093" cy="31289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1222817" y="2997602"/>
            <a:ext cx="21763" cy="26286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1172160" y="3023888"/>
            <a:ext cx="50657" cy="23851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1444752" y="2871216"/>
            <a:ext cx="95554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2B261F"/>
                </a:solidFill>
                <a:latin typeface="Microsoft YaHei"/>
              </a:rPr>
              <a:t>AI Agent 接管执行后，人类需聚焦更高层次的决策与责任</a:t>
            </a:r>
          </a:p>
        </p:txBody>
      </p:sp>
      <p:sp>
        <p:nvSpPr>
          <p:cNvPr id="74" name="Arc 73"/>
          <p:cNvSpPr/>
          <p:nvPr/>
        </p:nvSpPr>
        <p:spPr>
          <a:xfrm>
            <a:off x="10561320" y="5029200"/>
            <a:ext cx="857250" cy="514350"/>
          </a:xfrm>
          <a:prstGeom prst="arc">
            <a:avLst/>
          </a:prstGeom>
          <a:noFill/>
          <a:ln w="19050">
            <a:solidFill>
              <a:srgbClr val="305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561320" y="438912"/>
            <a:ext cx="8686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604C36"/>
                </a:solidFill>
                <a:latin typeface="Courier New"/>
              </a:rPr>
              <a:t>07/20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4226bfe4-caa6-4bc5-bbe7-00e29148a075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 flipV="1">
            <a:off x="530352" y="502485"/>
            <a:ext cx="496374" cy="43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1026726" y="499819"/>
            <a:ext cx="512409" cy="2666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539135" y="495272"/>
            <a:ext cx="518918" cy="4547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058053" y="495272"/>
            <a:ext cx="505707" cy="10497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2563760" y="494944"/>
            <a:ext cx="489701" cy="1082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053461" y="494944"/>
            <a:ext cx="509149" cy="8890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562610" y="488202"/>
            <a:ext cx="508600" cy="15632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4071210" y="485129"/>
            <a:ext cx="505438" cy="3073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576648" y="481531"/>
            <a:ext cx="503901" cy="359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80549" y="481531"/>
            <a:ext cx="496646" cy="17720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5577195" y="485171"/>
            <a:ext cx="521037" cy="14080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98232" y="485171"/>
            <a:ext cx="500907" cy="8889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599139" y="480201"/>
            <a:ext cx="512458" cy="13859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111597" y="478961"/>
            <a:ext cx="489944" cy="1240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601541" y="478961"/>
            <a:ext cx="524526" cy="1665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126067" y="470574"/>
            <a:ext cx="500195" cy="25042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626262" y="470574"/>
            <a:ext cx="512031" cy="861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9138293" y="471784"/>
            <a:ext cx="505902" cy="740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9644195" y="469326"/>
            <a:ext cx="492764" cy="245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136959" y="469326"/>
            <a:ext cx="506288" cy="7716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643247" y="477042"/>
            <a:ext cx="503299" cy="2450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1146546" y="463177"/>
            <a:ext cx="520668" cy="1631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66928" y="6291072"/>
            <a:ext cx="512939" cy="9288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079867" y="6292051"/>
            <a:ext cx="484120" cy="830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563987" y="6283105"/>
            <a:ext cx="508332" cy="8946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072319" y="6278061"/>
            <a:ext cx="504613" cy="5044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576932" y="6274303"/>
            <a:ext cx="510928" cy="3758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087860" y="6268334"/>
            <a:ext cx="496020" cy="596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583880" y="6266709"/>
            <a:ext cx="499686" cy="1625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083566" y="6266709"/>
            <a:ext cx="498663" cy="19608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582229" y="6264100"/>
            <a:ext cx="510302" cy="22217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092531" y="6264100"/>
            <a:ext cx="508542" cy="21017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5601073" y="6281045"/>
            <a:ext cx="507856" cy="4072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6108929" y="6262841"/>
            <a:ext cx="487937" cy="18204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596866" y="6262841"/>
            <a:ext cx="500881" cy="4133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097747" y="6258179"/>
            <a:ext cx="500981" cy="8795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598728" y="6258179"/>
            <a:ext cx="520291" cy="12145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119019" y="6260344"/>
            <a:ext cx="499448" cy="9980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618467" y="6258924"/>
            <a:ext cx="494102" cy="1420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112569" y="6258924"/>
            <a:ext cx="517853" cy="4105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630422" y="6263029"/>
            <a:ext cx="496261" cy="7978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0126683" y="6267695"/>
            <a:ext cx="488005" cy="3312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614688" y="6253349"/>
            <a:ext cx="512747" cy="14346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1127435" y="6247145"/>
            <a:ext cx="505294" cy="6204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58368" y="566928"/>
            <a:ext cx="9966960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>
                <a:solidFill>
                  <a:srgbClr val="2B261F"/>
                </a:solidFill>
                <a:latin typeface="Microsoft YaHei"/>
              </a:rPr>
              <a:t>危险在于答案过快出现，导致忽略问题本身的检查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" y="1298448"/>
            <a:ext cx="10424160" cy="7498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8F3D2D"/>
                </a:solidFill>
                <a:latin typeface="Microsoft YaHei"/>
              </a:rPr>
              <a:t>需决定：问题是什么、为什么现在做、做到何种程度、哪些代价不能承受、结果是否承担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32688" y="2303373"/>
            <a:ext cx="30988" cy="16337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63676" y="2319710"/>
            <a:ext cx="3824" cy="30134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67500" y="2349844"/>
            <a:ext cx="29110" cy="13395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96610" y="2363239"/>
            <a:ext cx="11892" cy="38316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013155" y="2355598"/>
            <a:ext cx="40726" cy="38301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053881" y="2327132"/>
            <a:ext cx="41785" cy="28466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095666" y="2294440"/>
            <a:ext cx="46249" cy="32692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141915" y="2249056"/>
            <a:ext cx="17983" cy="45384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159898" y="2206561"/>
            <a:ext cx="45927" cy="42495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444752" y="2157984"/>
            <a:ext cx="95554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2B261F"/>
                </a:solidFill>
                <a:latin typeface="Microsoft YaHei"/>
              </a:rPr>
              <a:t>好问题必须带有清晰边界</a:t>
            </a:r>
          </a:p>
        </p:txBody>
      </p:sp>
      <p:cxnSp>
        <p:nvCxnSpPr>
          <p:cNvPr id="59" name="Connector 58"/>
          <p:cNvCxnSpPr/>
          <p:nvPr/>
        </p:nvCxnSpPr>
        <p:spPr>
          <a:xfrm flipV="1">
            <a:off x="932688" y="2918545"/>
            <a:ext cx="44033" cy="7535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76721" y="2918545"/>
            <a:ext cx="53370" cy="22524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030091" y="2928778"/>
            <a:ext cx="18370" cy="12291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48461" y="2928778"/>
            <a:ext cx="46621" cy="17488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95082" y="2946266"/>
            <a:ext cx="58291" cy="3806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153373" y="2950072"/>
            <a:ext cx="29792" cy="15639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183165" y="2962854"/>
            <a:ext cx="42986" cy="2857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226151" y="2962854"/>
            <a:ext cx="46532" cy="14341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1239005" y="2938315"/>
            <a:ext cx="35668" cy="27998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1216881" y="2901127"/>
            <a:ext cx="22124" cy="37188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1188105" y="2875790"/>
            <a:ext cx="28776" cy="25337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1251364" y="2966313"/>
            <a:ext cx="23309" cy="21521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1216984" y="2987834"/>
            <a:ext cx="34380" cy="27328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1189099" y="3015162"/>
            <a:ext cx="27885" cy="33198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1444752" y="2871216"/>
            <a:ext cx="95554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2B261F"/>
                </a:solidFill>
                <a:latin typeface="Microsoft YaHei"/>
              </a:rPr>
              <a:t>包括：目标用户、解决痛点、约束条件、可验证结果</a:t>
            </a:r>
          </a:p>
        </p:txBody>
      </p:sp>
      <p:sp>
        <p:nvSpPr>
          <p:cNvPr id="74" name="Arc 73"/>
          <p:cNvSpPr/>
          <p:nvPr/>
        </p:nvSpPr>
        <p:spPr>
          <a:xfrm>
            <a:off x="10561320" y="5029200"/>
            <a:ext cx="857250" cy="514350"/>
          </a:xfrm>
          <a:prstGeom prst="arc">
            <a:avLst/>
          </a:prstGeom>
          <a:noFill/>
          <a:ln w="19050">
            <a:solidFill>
              <a:srgbClr val="5B6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561320" y="438912"/>
            <a:ext cx="8686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604C36"/>
                </a:solidFill>
                <a:latin typeface="Courier New"/>
              </a:rPr>
              <a:t>08/20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4226bfe4-caa6-4bc5-bbe7-00e29148a075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 flipV="1">
            <a:off x="530352" y="491020"/>
            <a:ext cx="503154" cy="11900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33506" y="491020"/>
            <a:ext cx="506556" cy="7337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540062" y="490632"/>
            <a:ext cx="495306" cy="772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035368" y="487988"/>
            <a:ext cx="517042" cy="2644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52410" y="487988"/>
            <a:ext cx="506174" cy="7932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058584" y="495920"/>
            <a:ext cx="512094" cy="1969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570678" y="496960"/>
            <a:ext cx="508107" cy="929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4078785" y="495882"/>
            <a:ext cx="500215" cy="107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9000" y="495882"/>
            <a:ext cx="506925" cy="4904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085925" y="489688"/>
            <a:ext cx="508299" cy="1109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5594224" y="481115"/>
            <a:ext cx="493726" cy="8573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87950" y="481115"/>
            <a:ext cx="524475" cy="8111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612425" y="485346"/>
            <a:ext cx="482929" cy="3880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095354" y="485346"/>
            <a:ext cx="527492" cy="11730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622846" y="475138"/>
            <a:ext cx="488801" cy="2193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111647" y="475138"/>
            <a:ext cx="506048" cy="1051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617695" y="477194"/>
            <a:ext cx="500746" cy="8462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118441" y="477194"/>
            <a:ext cx="509391" cy="580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9627832" y="468188"/>
            <a:ext cx="507898" cy="14814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135730" y="468188"/>
            <a:ext cx="517291" cy="1528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653021" y="483473"/>
            <a:ext cx="506400" cy="656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1159421" y="463549"/>
            <a:ext cx="501559" cy="20580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566928" y="6277590"/>
            <a:ext cx="511755" cy="13482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78683" y="6277590"/>
            <a:ext cx="489776" cy="9626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568459" y="6287216"/>
            <a:ext cx="514890" cy="1525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083349" y="6277629"/>
            <a:ext cx="485820" cy="11112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569169" y="6270110"/>
            <a:ext cx="512745" cy="751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81914" y="6270110"/>
            <a:ext cx="502119" cy="801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584033" y="6270544"/>
            <a:ext cx="497779" cy="7585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4081812" y="6266333"/>
            <a:ext cx="519697" cy="4211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601509" y="6266333"/>
            <a:ext cx="493868" cy="10895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095377" y="6263533"/>
            <a:ext cx="493271" cy="13695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8648" y="6263533"/>
            <a:ext cx="514310" cy="4876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102958" y="6268409"/>
            <a:ext cx="504364" cy="15372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6607322" y="6272241"/>
            <a:ext cx="494041" cy="11540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101363" y="6264485"/>
            <a:ext cx="494266" cy="7756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595629" y="6264485"/>
            <a:ext cx="506848" cy="2836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102477" y="6259494"/>
            <a:ext cx="509261" cy="7827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611738" y="6250830"/>
            <a:ext cx="512381" cy="8664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124119" y="6250830"/>
            <a:ext cx="494980" cy="20423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9619099" y="6264815"/>
            <a:ext cx="494319" cy="6438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0113418" y="6257844"/>
            <a:ext cx="515659" cy="6971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629077" y="6257844"/>
            <a:ext cx="489714" cy="10461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1118791" y="6248521"/>
            <a:ext cx="508785" cy="19784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58368" y="566928"/>
            <a:ext cx="9966960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>
                <a:solidFill>
                  <a:srgbClr val="2B261F"/>
                </a:solidFill>
                <a:latin typeface="Microsoft YaHei"/>
              </a:rPr>
              <a:t>思考的新形态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" y="1298448"/>
            <a:ext cx="10424160" cy="7498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8F3D2D"/>
                </a:solidFill>
                <a:latin typeface="Microsoft YaHei"/>
              </a:rPr>
              <a:t>提出好问题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32688" y="2303373"/>
            <a:ext cx="14351" cy="33340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47039" y="2336713"/>
            <a:ext cx="32892" cy="22473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79931" y="2359186"/>
            <a:ext cx="9343" cy="24535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89274" y="2383721"/>
            <a:ext cx="17687" cy="22194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013155" y="2348301"/>
            <a:ext cx="49878" cy="45598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063033" y="2313872"/>
            <a:ext cx="38444" cy="34429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101477" y="2286874"/>
            <a:ext cx="25279" cy="26998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126756" y="2260348"/>
            <a:ext cx="48052" cy="26526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174808" y="2222250"/>
            <a:ext cx="46243" cy="38098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444752" y="2157984"/>
            <a:ext cx="95554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2B261F"/>
                </a:solidFill>
                <a:latin typeface="Microsoft YaHei"/>
              </a:rPr>
              <a:t>做判断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32688" y="2926080"/>
            <a:ext cx="39647" cy="14253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972335" y="2938008"/>
            <a:ext cx="43029" cy="2325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15364" y="2938008"/>
            <a:ext cx="36557" cy="5460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051921" y="2939370"/>
            <a:ext cx="51343" cy="4098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103264" y="2939370"/>
            <a:ext cx="39138" cy="4265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142402" y="2943635"/>
            <a:ext cx="37916" cy="3707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180318" y="2947342"/>
            <a:ext cx="48417" cy="1216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228735" y="2948558"/>
            <a:ext cx="58507" cy="9717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1241739" y="2949439"/>
            <a:ext cx="32934" cy="16874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1232408" y="2902410"/>
            <a:ext cx="9331" cy="47029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1197259" y="2893251"/>
            <a:ext cx="35149" cy="9159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1255566" y="2966313"/>
            <a:ext cx="19107" cy="27268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1224638" y="2993581"/>
            <a:ext cx="30928" cy="24485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1183865" y="3018066"/>
            <a:ext cx="40773" cy="23079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1444752" y="2871216"/>
            <a:ext cx="95554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2B261F"/>
                </a:solidFill>
                <a:latin typeface="Microsoft YaHei"/>
              </a:rPr>
              <a:t>建立秩序</a:t>
            </a:r>
          </a:p>
        </p:txBody>
      </p:sp>
      <p:sp>
        <p:nvSpPr>
          <p:cNvPr id="74" name="Oval 73"/>
          <p:cNvSpPr/>
          <p:nvPr/>
        </p:nvSpPr>
        <p:spPr>
          <a:xfrm>
            <a:off x="10561320" y="5029200"/>
            <a:ext cx="480060" cy="594360"/>
          </a:xfrm>
          <a:prstGeom prst="ellipse">
            <a:avLst/>
          </a:prstGeom>
          <a:noFill/>
          <a:ln w="19050">
            <a:solidFill>
              <a:srgbClr val="5B6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 flipV="1">
            <a:off x="10709910" y="5636229"/>
            <a:ext cx="68395" cy="10191"/>
          </a:xfrm>
          <a:prstGeom prst="line">
            <a:avLst/>
          </a:prstGeom>
          <a:ln w="1651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0778305" y="5636229"/>
            <a:ext cx="58020" cy="4277"/>
          </a:xfrm>
          <a:prstGeom prst="line">
            <a:avLst/>
          </a:prstGeom>
          <a:ln w="1651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836325" y="5637652"/>
            <a:ext cx="63434" cy="2854"/>
          </a:xfrm>
          <a:prstGeom prst="line">
            <a:avLst/>
          </a:prstGeom>
          <a:ln w="1651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767060" y="5751011"/>
            <a:ext cx="52604" cy="9709"/>
          </a:xfrm>
          <a:prstGeom prst="line">
            <a:avLst/>
          </a:prstGeom>
          <a:ln w="1651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0819664" y="5751011"/>
            <a:ext cx="61408" cy="9666"/>
          </a:xfrm>
          <a:prstGeom prst="line">
            <a:avLst/>
          </a:prstGeom>
          <a:ln w="1651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881072" y="5757416"/>
            <a:ext cx="65721" cy="3261"/>
          </a:xfrm>
          <a:prstGeom prst="line">
            <a:avLst/>
          </a:prstGeom>
          <a:ln w="1651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10561320" y="438912"/>
            <a:ext cx="8686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604C36"/>
                </a:solidFill>
                <a:latin typeface="Courier New"/>
              </a:rPr>
              <a:t>09/20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4226bfe4-caa6-4bc5-bbe7-00e29148a075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 flipV="1">
            <a:off x="530352" y="502029"/>
            <a:ext cx="498813" cy="891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29165" y="502029"/>
            <a:ext cx="513219" cy="7101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542384" y="490193"/>
            <a:ext cx="507710" cy="18937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050094" y="490193"/>
            <a:ext cx="516235" cy="17472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66329" y="507665"/>
            <a:ext cx="487549" cy="384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3053878" y="506722"/>
            <a:ext cx="502796" cy="1327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556674" y="503568"/>
            <a:ext cx="519877" cy="3154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4076551" y="492737"/>
            <a:ext cx="505373" cy="10831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581924" y="486626"/>
            <a:ext cx="510276" cy="6111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092200" y="484055"/>
            <a:ext cx="503402" cy="2571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595602" y="484055"/>
            <a:ext cx="508023" cy="1187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103625" y="490426"/>
            <a:ext cx="506363" cy="5504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609988" y="482032"/>
            <a:ext cx="483707" cy="8394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093695" y="482032"/>
            <a:ext cx="520068" cy="618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613763" y="486933"/>
            <a:ext cx="494567" cy="1287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108330" y="480244"/>
            <a:ext cx="527036" cy="6689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635366" y="480244"/>
            <a:ext cx="485955" cy="513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9121321" y="475874"/>
            <a:ext cx="502708" cy="950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624029" y="475874"/>
            <a:ext cx="524365" cy="10147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0148394" y="479730"/>
            <a:ext cx="490561" cy="6291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638955" y="479730"/>
            <a:ext cx="521413" cy="8613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1160368" y="469335"/>
            <a:ext cx="497990" cy="1900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566928" y="6277549"/>
            <a:ext cx="501670" cy="13523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68598" y="6277549"/>
            <a:ext cx="514625" cy="12197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583223" y="6288711"/>
            <a:ext cx="486238" cy="1035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069461" y="6274748"/>
            <a:ext cx="517418" cy="13963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586879" y="6274748"/>
            <a:ext cx="488709" cy="7875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75588" y="6282623"/>
            <a:ext cx="500824" cy="7013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576412" y="6275830"/>
            <a:ext cx="504016" cy="13806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4080428" y="6266835"/>
            <a:ext cx="504158" cy="8995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584586" y="6266835"/>
            <a:ext cx="512879" cy="671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097465" y="6273554"/>
            <a:ext cx="504721" cy="5300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5602186" y="6277072"/>
            <a:ext cx="491953" cy="1782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6094139" y="6262675"/>
            <a:ext cx="503810" cy="14397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597949" y="6262675"/>
            <a:ext cx="499147" cy="15696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097096" y="6258300"/>
            <a:ext cx="514049" cy="20071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611145" y="6257460"/>
            <a:ext cx="509415" cy="840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20560" y="6257460"/>
            <a:ext cx="480324" cy="11947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600884" y="6267353"/>
            <a:ext cx="522839" cy="2054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9123723" y="6264850"/>
            <a:ext cx="495279" cy="2503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9619002" y="6258151"/>
            <a:ext cx="507184" cy="669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126186" y="6258151"/>
            <a:ext cx="500863" cy="1442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627049" y="6257409"/>
            <a:ext cx="509192" cy="2184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136241" y="6257409"/>
            <a:ext cx="496443" cy="6607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58368" y="566928"/>
            <a:ext cx="9966960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>
                <a:solidFill>
                  <a:srgbClr val="2B261F"/>
                </a:solidFill>
                <a:latin typeface="Microsoft YaHei"/>
              </a:rPr>
              <a:t>提出好问题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" y="1298448"/>
            <a:ext cx="10424160" cy="7498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8F3D2D"/>
                </a:solidFill>
                <a:latin typeface="Microsoft YaHei"/>
              </a:rPr>
              <a:t>好问题必须带有清晰边界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32688" y="2303373"/>
            <a:ext cx="13603" cy="26624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46291" y="2329997"/>
            <a:ext cx="35692" cy="22775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81983" y="2352772"/>
            <a:ext cx="7377" cy="19344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89360" y="2372116"/>
            <a:ext cx="27078" cy="32447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013155" y="2366015"/>
            <a:ext cx="33238" cy="27884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046393" y="2326473"/>
            <a:ext cx="48369" cy="39542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094762" y="2292220"/>
            <a:ext cx="40657" cy="34253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135419" y="2241658"/>
            <a:ext cx="23925" cy="50562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159344" y="2212251"/>
            <a:ext cx="41196" cy="29407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444752" y="2157984"/>
            <a:ext cx="95554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2B261F"/>
                </a:solidFill>
                <a:latin typeface="Microsoft YaHei"/>
              </a:rPr>
              <a:t>包括：目标用户、解决痛点、约束条件、可验证结果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32688" y="2926080"/>
            <a:ext cx="32386" cy="1846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65074" y="2927926"/>
            <a:ext cx="51006" cy="13258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16080" y="2941184"/>
            <a:ext cx="42691" cy="11777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058771" y="2944723"/>
            <a:ext cx="53900" cy="8238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112671" y="2944723"/>
            <a:ext cx="29942" cy="19240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1142613" y="2946804"/>
            <a:ext cx="46307" cy="17159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188920" y="2946804"/>
            <a:ext cx="45544" cy="9267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234464" y="2953547"/>
            <a:ext cx="39790" cy="2524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1235638" y="2930446"/>
            <a:ext cx="39035" cy="35867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1232259" y="2903660"/>
            <a:ext cx="3379" cy="26786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1181476" y="2896709"/>
            <a:ext cx="50783" cy="6951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1247730" y="2966313"/>
            <a:ext cx="26943" cy="39493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1212044" y="3005806"/>
            <a:ext cx="35686" cy="22913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1194748" y="3028719"/>
            <a:ext cx="17296" cy="27333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1444752" y="2871216"/>
            <a:ext cx="95554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2B261F"/>
                </a:solidFill>
                <a:latin typeface="Microsoft YaHei"/>
              </a:rPr>
              <a:t>无边界时，Agent 会将模糊放大为更漂亮的模糊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10561320" y="5029200"/>
            <a:ext cx="105296" cy="1493"/>
          </a:xfrm>
          <a:prstGeom prst="line">
            <a:avLst/>
          </a:prstGeom>
          <a:ln w="2159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0666616" y="5030693"/>
            <a:ext cx="91249" cy="26018"/>
          </a:xfrm>
          <a:prstGeom prst="line">
            <a:avLst/>
          </a:prstGeom>
          <a:ln w="2159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0757865" y="5056711"/>
            <a:ext cx="101816" cy="11371"/>
          </a:xfrm>
          <a:prstGeom prst="line">
            <a:avLst/>
          </a:prstGeom>
          <a:ln w="2159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0859681" y="5068082"/>
            <a:ext cx="97582" cy="988"/>
          </a:xfrm>
          <a:prstGeom prst="line">
            <a:avLst/>
          </a:prstGeom>
          <a:ln w="2159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0957263" y="5069070"/>
            <a:ext cx="99749" cy="20911"/>
          </a:xfrm>
          <a:prstGeom prst="line">
            <a:avLst/>
          </a:prstGeom>
          <a:ln w="2159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1057012" y="5086070"/>
            <a:ext cx="95444" cy="3911"/>
          </a:xfrm>
          <a:prstGeom prst="line">
            <a:avLst/>
          </a:prstGeom>
          <a:ln w="2159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1152456" y="5086070"/>
            <a:ext cx="97087" cy="15724"/>
          </a:xfrm>
          <a:prstGeom prst="line">
            <a:avLst/>
          </a:prstGeom>
          <a:ln w="2159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1249543" y="5101794"/>
            <a:ext cx="83640" cy="10681"/>
          </a:xfrm>
          <a:prstGeom prst="line">
            <a:avLst/>
          </a:prstGeom>
          <a:ln w="2159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H="1" flipV="1">
            <a:off x="11270844" y="5052773"/>
            <a:ext cx="67716" cy="67867"/>
          </a:xfrm>
          <a:prstGeom prst="line">
            <a:avLst/>
          </a:prstGeom>
          <a:ln w="2159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H="1" flipV="1">
            <a:off x="11220527" y="4993433"/>
            <a:ext cx="50317" cy="59340"/>
          </a:xfrm>
          <a:prstGeom prst="line">
            <a:avLst/>
          </a:prstGeom>
          <a:ln w="2159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11161953" y="4925647"/>
            <a:ext cx="58574" cy="67786"/>
          </a:xfrm>
          <a:prstGeom prst="line">
            <a:avLst/>
          </a:prstGeom>
          <a:ln w="2159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>
            <a:off x="11278271" y="5120640"/>
            <a:ext cx="60289" cy="65781"/>
          </a:xfrm>
          <a:prstGeom prst="line">
            <a:avLst/>
          </a:prstGeom>
          <a:ln w="2159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>
            <a:off x="11205138" y="5186421"/>
            <a:ext cx="73133" cy="57852"/>
          </a:xfrm>
          <a:prstGeom prst="line">
            <a:avLst/>
          </a:prstGeom>
          <a:ln w="2159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>
            <a:off x="11142058" y="5244273"/>
            <a:ext cx="63080" cy="62268"/>
          </a:xfrm>
          <a:prstGeom prst="line">
            <a:avLst/>
          </a:prstGeom>
          <a:ln w="2159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10561320" y="438912"/>
            <a:ext cx="8686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604C36"/>
                </a:solidFill>
                <a:latin typeface="Courier New"/>
              </a:rPr>
              <a:t>10/20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4226bfe4-caa6-4bc5-bbe7-00e29148a075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530352" y="502920"/>
            <a:ext cx="496516" cy="867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1026868" y="499248"/>
            <a:ext cx="517513" cy="12350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44381" y="499248"/>
            <a:ext cx="510720" cy="3371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055101" y="502619"/>
            <a:ext cx="509500" cy="7103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2564601" y="487291"/>
            <a:ext cx="490548" cy="22431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055149" y="487291"/>
            <a:ext cx="517265" cy="1734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572414" y="487489"/>
            <a:ext cx="507890" cy="17147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4080304" y="481304"/>
            <a:ext cx="494747" cy="618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5051" y="481304"/>
            <a:ext cx="513554" cy="793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88605" y="489242"/>
            <a:ext cx="504933" cy="9987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5593538" y="489130"/>
            <a:ext cx="503193" cy="10099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96731" y="489130"/>
            <a:ext cx="512202" cy="2353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608933" y="491483"/>
            <a:ext cx="491957" cy="4610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100890" y="476527"/>
            <a:ext cx="505054" cy="19566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605944" y="476527"/>
            <a:ext cx="499214" cy="14372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105158" y="472800"/>
            <a:ext cx="508979" cy="18099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614137" y="472800"/>
            <a:ext cx="520065" cy="19371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9134202" y="479338"/>
            <a:ext cx="502122" cy="12833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9636324" y="474263"/>
            <a:ext cx="499410" cy="507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0135734" y="471724"/>
            <a:ext cx="522724" cy="2539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658458" y="471724"/>
            <a:ext cx="487716" cy="1110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1146174" y="468498"/>
            <a:ext cx="512251" cy="14334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566928" y="6276734"/>
            <a:ext cx="504423" cy="14338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71351" y="6276734"/>
            <a:ext cx="497692" cy="20466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569043" y="6290435"/>
            <a:ext cx="516302" cy="6765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085345" y="6290435"/>
            <a:ext cx="500564" cy="5903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585909" y="6284665"/>
            <a:ext cx="500191" cy="11673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086100" y="6280937"/>
            <a:ext cx="505390" cy="3728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591490" y="6280499"/>
            <a:ext cx="489969" cy="438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4081459" y="6273297"/>
            <a:ext cx="518373" cy="7202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599832" y="6273297"/>
            <a:ext cx="504179" cy="5301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104011" y="6265429"/>
            <a:ext cx="484022" cy="1316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8033" y="6265429"/>
            <a:ext cx="522338" cy="12576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110371" y="6278005"/>
            <a:ext cx="491396" cy="806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6601767" y="6262823"/>
            <a:ext cx="508953" cy="15988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110720" y="6262823"/>
            <a:ext cx="502810" cy="147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613530" y="6264302"/>
            <a:ext cx="498928" cy="3268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12458" y="6267570"/>
            <a:ext cx="506064" cy="5501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618522" y="6273071"/>
            <a:ext cx="493791" cy="113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9112313" y="6265551"/>
            <a:ext cx="518592" cy="865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9630905" y="6250026"/>
            <a:ext cx="489343" cy="15525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120248" y="6250026"/>
            <a:ext cx="493703" cy="8657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613951" y="6253284"/>
            <a:ext cx="512299" cy="539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1126250" y="6244439"/>
            <a:ext cx="513253" cy="8845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58368" y="566928"/>
            <a:ext cx="9966960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>
                <a:solidFill>
                  <a:srgbClr val="2B261F"/>
                </a:solidFill>
                <a:latin typeface="Microsoft YaHei"/>
              </a:rPr>
              <a:t>好问题必须带有清晰边界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" y="1298448"/>
            <a:ext cx="10424160" cy="7498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8F3D2D"/>
                </a:solidFill>
                <a:latin typeface="Microsoft YaHei"/>
              </a:rPr>
              <a:t>包括：目标用户、解决痛点、约束条件、可验证结果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32688" y="2303373"/>
            <a:ext cx="19616" cy="18225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52304" y="2321598"/>
            <a:ext cx="20929" cy="39821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73233" y="2361419"/>
            <a:ext cx="14054" cy="19375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87287" y="2380794"/>
            <a:ext cx="36759" cy="4335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013155" y="2358025"/>
            <a:ext cx="48693" cy="35874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061848" y="2319300"/>
            <a:ext cx="38650" cy="38725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100498" y="2289033"/>
            <a:ext cx="28808" cy="30267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129306" y="2252090"/>
            <a:ext cx="31942" cy="36943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161248" y="2212618"/>
            <a:ext cx="53410" cy="39472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444752" y="2157984"/>
            <a:ext cx="95554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2B261F"/>
                </a:solidFill>
                <a:latin typeface="Microsoft YaHei"/>
              </a:rPr>
              <a:t>无边界时，Agent 会将模糊放大为更漂亮的模糊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32688" y="2926080"/>
            <a:ext cx="40624" cy="2434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73312" y="2928514"/>
            <a:ext cx="56126" cy="14237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29438" y="2942751"/>
            <a:ext cx="19610" cy="1509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49048" y="2944260"/>
            <a:ext cx="44952" cy="12952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1094000" y="2939268"/>
            <a:ext cx="43045" cy="17944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137045" y="2939268"/>
            <a:ext cx="41020" cy="20927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178065" y="2958600"/>
            <a:ext cx="46546" cy="1595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224611" y="2958600"/>
            <a:ext cx="42798" cy="9779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1236453" y="2940692"/>
            <a:ext cx="38220" cy="25621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1230917" y="2924901"/>
            <a:ext cx="5536" cy="15791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1190165" y="2897209"/>
            <a:ext cx="40752" cy="27692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1239445" y="2966313"/>
            <a:ext cx="35228" cy="21744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1216573" y="2988057"/>
            <a:ext cx="22872" cy="23870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1195073" y="3011927"/>
            <a:ext cx="21500" cy="41963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1444752" y="2871216"/>
            <a:ext cx="95554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2B261F"/>
                </a:solidFill>
                <a:latin typeface="Microsoft YaHei"/>
              </a:rPr>
              <a:t>需决定：问题是什么、为什么现在做、做到何种程度、哪些代价不能承受、结果是否承担</a:t>
            </a:r>
          </a:p>
        </p:txBody>
      </p:sp>
      <p:sp>
        <p:nvSpPr>
          <p:cNvPr id="74" name="Arc 73"/>
          <p:cNvSpPr/>
          <p:nvPr/>
        </p:nvSpPr>
        <p:spPr>
          <a:xfrm>
            <a:off x="10561320" y="5029200"/>
            <a:ext cx="857250" cy="514350"/>
          </a:xfrm>
          <a:prstGeom prst="arc">
            <a:avLst/>
          </a:prstGeom>
          <a:noFill/>
          <a:ln w="19050">
            <a:solidFill>
              <a:srgbClr val="8F3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561320" y="438912"/>
            <a:ext cx="8686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604C36"/>
                </a:solidFill>
                <a:latin typeface="Courier New"/>
              </a:rPr>
              <a:t>11/20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4226bfe4-caa6-4bc5-bbe7-00e29148a075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 flipV="1">
            <a:off x="530352" y="490331"/>
            <a:ext cx="514470" cy="12589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1044822" y="487785"/>
            <a:ext cx="484943" cy="2546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29765" y="487785"/>
            <a:ext cx="514655" cy="14804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044420" y="501306"/>
            <a:ext cx="503278" cy="1283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2547698" y="500100"/>
            <a:ext cx="506957" cy="1206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3054655" y="485707"/>
            <a:ext cx="505410" cy="14393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560065" y="485707"/>
            <a:ext cx="513224" cy="7260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4073289" y="487732"/>
            <a:ext cx="509538" cy="523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582827" y="487081"/>
            <a:ext cx="499022" cy="651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81849" y="487081"/>
            <a:ext cx="508441" cy="3937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5590290" y="485367"/>
            <a:ext cx="510471" cy="5651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100761" y="481300"/>
            <a:ext cx="500159" cy="4067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600920" y="480086"/>
            <a:ext cx="495205" cy="1214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096125" y="480086"/>
            <a:ext cx="521237" cy="7461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617362" y="487547"/>
            <a:ext cx="500731" cy="6742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118093" y="493834"/>
            <a:ext cx="511407" cy="45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629500" y="471688"/>
            <a:ext cx="489555" cy="22146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9119055" y="467680"/>
            <a:ext cx="504217" cy="400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623272" y="467680"/>
            <a:ext cx="528087" cy="12171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0151359" y="475528"/>
            <a:ext cx="489525" cy="4323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640884" y="475528"/>
            <a:ext cx="503838" cy="1107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1144722" y="472602"/>
            <a:ext cx="518356" cy="14001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66928" y="6291072"/>
            <a:ext cx="510682" cy="4223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077610" y="6291566"/>
            <a:ext cx="482382" cy="372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559992" y="6280755"/>
            <a:ext cx="508985" cy="10811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068977" y="6280755"/>
            <a:ext cx="509721" cy="1397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578698" y="6281792"/>
            <a:ext cx="509929" cy="12942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88627" y="6281792"/>
            <a:ext cx="486335" cy="5608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574962" y="6287400"/>
            <a:ext cx="515902" cy="2476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4090864" y="6283709"/>
            <a:ext cx="506857" cy="6167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597721" y="6264309"/>
            <a:ext cx="501415" cy="19400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099136" y="6264309"/>
            <a:ext cx="497618" cy="1725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5596754" y="6267875"/>
            <a:ext cx="503782" cy="13693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100536" y="6267875"/>
            <a:ext cx="502779" cy="4897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603315" y="6272772"/>
            <a:ext cx="491748" cy="6753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095063" y="6260125"/>
            <a:ext cx="523907" cy="19400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618970" y="6260125"/>
            <a:ext cx="484610" cy="13178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103580" y="6265432"/>
            <a:ext cx="512878" cy="7871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616458" y="6260665"/>
            <a:ext cx="495362" cy="4767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111820" y="6260665"/>
            <a:ext cx="510196" cy="1108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9622016" y="6253481"/>
            <a:ext cx="506433" cy="18273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0128449" y="6245386"/>
            <a:ext cx="505964" cy="8095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634413" y="6245386"/>
            <a:ext cx="506475" cy="16677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1140888" y="6241877"/>
            <a:ext cx="484955" cy="20186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58368" y="566928"/>
            <a:ext cx="9966960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>
                <a:solidFill>
                  <a:srgbClr val="2B261F"/>
                </a:solidFill>
                <a:latin typeface="Microsoft YaHei"/>
              </a:rPr>
              <a:t>做判断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" y="1298448"/>
            <a:ext cx="10424160" cy="7498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8F3D2D"/>
                </a:solidFill>
                <a:latin typeface="Microsoft YaHei"/>
              </a:rPr>
              <a:t>判断事实可靠性、假设成立性、方案场景适配性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32688" y="2303373"/>
            <a:ext cx="12888" cy="21858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45576" y="2325231"/>
            <a:ext cx="18467" cy="17516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64043" y="2342747"/>
            <a:ext cx="36543" cy="31893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00586" y="2374640"/>
            <a:ext cx="22581" cy="31628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013155" y="2365337"/>
            <a:ext cx="27358" cy="28562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040513" y="2311476"/>
            <a:ext cx="58333" cy="53861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098846" y="2294278"/>
            <a:ext cx="37857" cy="17198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136703" y="2244686"/>
            <a:ext cx="44103" cy="49592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180806" y="2217693"/>
            <a:ext cx="17757" cy="26993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444752" y="2157984"/>
            <a:ext cx="95554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2B261F"/>
                </a:solidFill>
                <a:latin typeface="Microsoft YaHei"/>
              </a:rPr>
              <a:t>Agent 可列出选项，但无法替人承担选择后果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32688" y="2926080"/>
            <a:ext cx="50731" cy="16966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983419" y="2942818"/>
            <a:ext cx="42073" cy="228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25492" y="2942818"/>
            <a:ext cx="46236" cy="1821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071728" y="2934988"/>
            <a:ext cx="42031" cy="9651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113759" y="2934988"/>
            <a:ext cx="35594" cy="18824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1149353" y="2952685"/>
            <a:ext cx="39450" cy="1127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188803" y="2952685"/>
            <a:ext cx="41833" cy="6462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230636" y="2959147"/>
            <a:ext cx="31967" cy="10744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1256390" y="2931957"/>
            <a:ext cx="18283" cy="34356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1209532" y="2911408"/>
            <a:ext cx="46858" cy="20549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1184079" y="2875631"/>
            <a:ext cx="25453" cy="35777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1244013" y="2966313"/>
            <a:ext cx="30660" cy="38442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1212217" y="3004755"/>
            <a:ext cx="31796" cy="27247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1172880" y="3032002"/>
            <a:ext cx="39337" cy="25154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1444752" y="2871216"/>
            <a:ext cx="95554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2B261F"/>
                </a:solidFill>
                <a:latin typeface="Microsoft YaHei"/>
              </a:rPr>
              <a:t>责任所在之处，判断就必须亲力亲为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10561320" y="5029200"/>
            <a:ext cx="101984" cy="3704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0663304" y="5032904"/>
            <a:ext cx="86577" cy="31851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749881" y="5062548"/>
            <a:ext cx="93163" cy="2207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0843044" y="5062548"/>
            <a:ext cx="99208" cy="24419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0942252" y="5086967"/>
            <a:ext cx="99916" cy="8692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1042168" y="5095659"/>
            <a:ext cx="89559" cy="4350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1131727" y="5100009"/>
            <a:ext cx="115864" cy="21204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1247591" y="5121213"/>
            <a:ext cx="103303" cy="9103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H="1" flipV="1">
            <a:off x="11270314" y="5069846"/>
            <a:ext cx="68246" cy="50794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H="1" flipV="1">
            <a:off x="11203994" y="4990875"/>
            <a:ext cx="66320" cy="78971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11144744" y="4929218"/>
            <a:ext cx="59250" cy="61657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>
            <a:off x="11269504" y="5120640"/>
            <a:ext cx="69056" cy="50061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>
            <a:off x="11212173" y="5170701"/>
            <a:ext cx="57331" cy="68865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>
            <a:off x="11137912" y="5239566"/>
            <a:ext cx="74261" cy="68947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10561320" y="438912"/>
            <a:ext cx="8686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604C36"/>
                </a:solidFill>
                <a:latin typeface="Courier New"/>
              </a:rPr>
              <a:t>12/20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4226bfe4-caa6-4bc5-bbe7-00e29148a075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530352" y="502920"/>
            <a:ext cx="507476" cy="46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37828" y="502966"/>
            <a:ext cx="514921" cy="8886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552749" y="489009"/>
            <a:ext cx="499426" cy="22843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052175" y="488148"/>
            <a:ext cx="506882" cy="861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59057" y="488148"/>
            <a:ext cx="496935" cy="17359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3055992" y="493332"/>
            <a:ext cx="504923" cy="1217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560915" y="486468"/>
            <a:ext cx="501945" cy="6864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062860" y="486468"/>
            <a:ext cx="514706" cy="9657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577566" y="484039"/>
            <a:ext cx="501835" cy="12086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79401" y="484039"/>
            <a:ext cx="499785" cy="1016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5579186" y="484138"/>
            <a:ext cx="516279" cy="10066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095465" y="475435"/>
            <a:ext cx="511569" cy="8703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607034" y="475435"/>
            <a:ext cx="508680" cy="14680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115714" y="474218"/>
            <a:ext cx="506752" cy="15897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622466" y="474218"/>
            <a:ext cx="485811" cy="12217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108277" y="472626"/>
            <a:ext cx="508919" cy="13809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617196" y="472626"/>
            <a:ext cx="501007" cy="8579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118203" y="481205"/>
            <a:ext cx="504799" cy="3930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9623002" y="472885"/>
            <a:ext cx="514057" cy="12250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137059" y="472885"/>
            <a:ext cx="505199" cy="8303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642258" y="476489"/>
            <a:ext cx="499653" cy="4699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1141911" y="466586"/>
            <a:ext cx="505576" cy="9903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66928" y="6291072"/>
            <a:ext cx="509663" cy="6977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076591" y="6294620"/>
            <a:ext cx="491602" cy="342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568193" y="6282452"/>
            <a:ext cx="496115" cy="12168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064308" y="6282452"/>
            <a:ext cx="512191" cy="105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576499" y="6281385"/>
            <a:ext cx="506176" cy="2126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82675" y="6281385"/>
            <a:ext cx="490168" cy="2804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572843" y="6269271"/>
            <a:ext cx="504893" cy="14918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4077736" y="6265937"/>
            <a:ext cx="503520" cy="3334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581256" y="6265937"/>
            <a:ext cx="503545" cy="4302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084801" y="6270203"/>
            <a:ext cx="505310" cy="36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90111" y="6270203"/>
            <a:ext cx="515028" cy="14255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6105139" y="6282819"/>
            <a:ext cx="500187" cy="163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6605326" y="6257539"/>
            <a:ext cx="509864" cy="25280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115190" y="6257539"/>
            <a:ext cx="501361" cy="9425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616551" y="6266964"/>
            <a:ext cx="498071" cy="11530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114622" y="6262039"/>
            <a:ext cx="500039" cy="16455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614661" y="6262039"/>
            <a:ext cx="513226" cy="11778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9127887" y="6260318"/>
            <a:ext cx="502112" cy="1349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9629999" y="6257431"/>
            <a:ext cx="496386" cy="2887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126385" y="6257431"/>
            <a:ext cx="490917" cy="9674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617302" y="6257035"/>
            <a:ext cx="514991" cy="10070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1132293" y="6256386"/>
            <a:ext cx="500637" cy="64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58368" y="566928"/>
            <a:ext cx="9966960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>
                <a:solidFill>
                  <a:srgbClr val="2B261F"/>
                </a:solidFill>
                <a:latin typeface="Microsoft YaHei"/>
              </a:rPr>
              <a:t>判断事实可靠性、假设成立性、方案场景适配性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" y="1298448"/>
            <a:ext cx="10424160" cy="7498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8F3D2D"/>
                </a:solidFill>
                <a:latin typeface="Microsoft YaHei"/>
              </a:rPr>
              <a:t>Agent 可列出选项，但无法替人承担选择后果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32688" y="2303373"/>
            <a:ext cx="15481" cy="11020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48169" y="2314393"/>
            <a:ext cx="15547" cy="27875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63716" y="2342268"/>
            <a:ext cx="17628" cy="18562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81344" y="2360830"/>
            <a:ext cx="30814" cy="28239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013155" y="2349795"/>
            <a:ext cx="38646" cy="44104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051801" y="2316704"/>
            <a:ext cx="36387" cy="33091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088188" y="2272750"/>
            <a:ext cx="42113" cy="43954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130301" y="2243940"/>
            <a:ext cx="28085" cy="28810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158386" y="2225226"/>
            <a:ext cx="41109" cy="18714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444752" y="2157984"/>
            <a:ext cx="95554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2B261F"/>
                </a:solidFill>
                <a:latin typeface="Microsoft YaHei"/>
              </a:rPr>
              <a:t>责任所在之处，判断就必须亲力亲为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32688" y="2926080"/>
            <a:ext cx="45863" cy="4053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78551" y="2930133"/>
            <a:ext cx="50408" cy="6614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28959" y="2936747"/>
            <a:ext cx="44128" cy="16518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073087" y="2940734"/>
            <a:ext cx="26938" cy="12531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100025" y="2940734"/>
            <a:ext cx="56824" cy="6558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156849" y="2947292"/>
            <a:ext cx="34068" cy="21352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190917" y="2968644"/>
            <a:ext cx="31467" cy="1426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222384" y="2970070"/>
            <a:ext cx="58347" cy="6910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1255682" y="2941884"/>
            <a:ext cx="18991" cy="24429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1227215" y="2925075"/>
            <a:ext cx="28467" cy="16809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1187306" y="2875482"/>
            <a:ext cx="39909" cy="49593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1254055" y="2966313"/>
            <a:ext cx="20618" cy="17873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1225607" y="2984186"/>
            <a:ext cx="28448" cy="36976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1187939" y="3021162"/>
            <a:ext cx="37668" cy="29583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1444752" y="2871216"/>
            <a:ext cx="95554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2B261F"/>
                </a:solidFill>
                <a:latin typeface="Microsoft YaHei"/>
              </a:rPr>
              <a:t>危险在于答案过快出现，导致忽略问题本身的检查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10561320" y="5029200"/>
            <a:ext cx="93126" cy="23632"/>
          </a:xfrm>
          <a:prstGeom prst="line">
            <a:avLst/>
          </a:prstGeom>
          <a:ln w="2159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0654446" y="5052832"/>
            <a:ext cx="93323" cy="9499"/>
          </a:xfrm>
          <a:prstGeom prst="line">
            <a:avLst/>
          </a:prstGeom>
          <a:ln w="2159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747769" y="5060074"/>
            <a:ext cx="102369" cy="2257"/>
          </a:xfrm>
          <a:prstGeom prst="line">
            <a:avLst/>
          </a:prstGeom>
          <a:ln w="2159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0850138" y="5060074"/>
            <a:ext cx="100195" cy="5156"/>
          </a:xfrm>
          <a:prstGeom prst="line">
            <a:avLst/>
          </a:prstGeom>
          <a:ln w="2159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0950333" y="5065230"/>
            <a:ext cx="95361" cy="30332"/>
          </a:xfrm>
          <a:prstGeom prst="line">
            <a:avLst/>
          </a:prstGeom>
          <a:ln w="2159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1045694" y="5088563"/>
            <a:ext cx="99308" cy="6999"/>
          </a:xfrm>
          <a:prstGeom prst="line">
            <a:avLst/>
          </a:prstGeom>
          <a:ln w="2159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1145002" y="5088563"/>
            <a:ext cx="95860" cy="32202"/>
          </a:xfrm>
          <a:prstGeom prst="line">
            <a:avLst/>
          </a:prstGeom>
          <a:ln w="2159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1240862" y="5120765"/>
            <a:ext cx="102098" cy="898"/>
          </a:xfrm>
          <a:prstGeom prst="line">
            <a:avLst/>
          </a:prstGeom>
          <a:ln w="2159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H="1" flipV="1">
            <a:off x="11265121" y="5069132"/>
            <a:ext cx="73439" cy="51508"/>
          </a:xfrm>
          <a:prstGeom prst="line">
            <a:avLst/>
          </a:prstGeom>
          <a:ln w="2159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H="1" flipV="1">
            <a:off x="11224765" y="4997409"/>
            <a:ext cx="40356" cy="71723"/>
          </a:xfrm>
          <a:prstGeom prst="line">
            <a:avLst/>
          </a:prstGeom>
          <a:ln w="2159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11147462" y="4932852"/>
            <a:ext cx="77303" cy="64557"/>
          </a:xfrm>
          <a:prstGeom prst="line">
            <a:avLst/>
          </a:prstGeom>
          <a:ln w="2159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>
            <a:off x="11262739" y="5120640"/>
            <a:ext cx="75821" cy="69172"/>
          </a:xfrm>
          <a:prstGeom prst="line">
            <a:avLst/>
          </a:prstGeom>
          <a:ln w="2159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>
            <a:off x="11188943" y="5189812"/>
            <a:ext cx="73796" cy="42241"/>
          </a:xfrm>
          <a:prstGeom prst="line">
            <a:avLst/>
          </a:prstGeom>
          <a:ln w="2159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>
            <a:off x="11136721" y="5232053"/>
            <a:ext cx="52222" cy="82950"/>
          </a:xfrm>
          <a:prstGeom prst="line">
            <a:avLst/>
          </a:prstGeom>
          <a:ln w="2159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10561320" y="438912"/>
            <a:ext cx="8686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604C36"/>
                </a:solidFill>
                <a:latin typeface="Courier New"/>
              </a:rPr>
              <a:t>13/20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4226bfe4-caa6-4bc5-bbe7-00e29148a075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530352" y="502920"/>
            <a:ext cx="504711" cy="9127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1035063" y="497735"/>
            <a:ext cx="503884" cy="14312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538947" y="491285"/>
            <a:ext cx="517555" cy="6450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056502" y="491285"/>
            <a:ext cx="496493" cy="1706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2552995" y="485635"/>
            <a:ext cx="518424" cy="2271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071419" y="485635"/>
            <a:ext cx="497475" cy="14456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568894" y="494902"/>
            <a:ext cx="493436" cy="5189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062330" y="494902"/>
            <a:ext cx="513538" cy="853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575868" y="494133"/>
            <a:ext cx="501767" cy="9304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077635" y="479808"/>
            <a:ext cx="516207" cy="1432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593842" y="479808"/>
            <a:ext cx="498961" cy="15410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092803" y="475966"/>
            <a:ext cx="505647" cy="19252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98450" y="475966"/>
            <a:ext cx="520182" cy="1504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118632" y="491011"/>
            <a:ext cx="490350" cy="572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608982" y="483019"/>
            <a:ext cx="518250" cy="13720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127232" y="483019"/>
            <a:ext cx="508043" cy="5937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635275" y="488956"/>
            <a:ext cx="491196" cy="2799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9126471" y="472196"/>
            <a:ext cx="519181" cy="19559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645652" y="472196"/>
            <a:ext cx="487769" cy="7052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0133421" y="466059"/>
            <a:ext cx="507336" cy="13189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640757" y="466059"/>
            <a:ext cx="520010" cy="13561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160767" y="479620"/>
            <a:ext cx="508965" cy="7294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66928" y="6291072"/>
            <a:ext cx="506482" cy="9191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73410" y="6300263"/>
            <a:ext cx="507580" cy="45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580990" y="6274726"/>
            <a:ext cx="484218" cy="25582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065208" y="6274726"/>
            <a:ext cx="516011" cy="12402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581219" y="6284020"/>
            <a:ext cx="509502" cy="3108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090721" y="6270962"/>
            <a:ext cx="497854" cy="13058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588575" y="6270962"/>
            <a:ext cx="491786" cy="11737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080361" y="6282699"/>
            <a:ext cx="502156" cy="7114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582517" y="6273741"/>
            <a:ext cx="519098" cy="16072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101615" y="6262673"/>
            <a:ext cx="486855" cy="11068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8470" y="6262673"/>
            <a:ext cx="508484" cy="15305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096954" y="6277978"/>
            <a:ext cx="512750" cy="5291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6609704" y="6280836"/>
            <a:ext cx="490716" cy="2433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100420" y="6270284"/>
            <a:ext cx="513312" cy="10552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613732" y="6261792"/>
            <a:ext cx="494936" cy="8492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108668" y="6260508"/>
            <a:ext cx="513131" cy="1284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621799" y="6253095"/>
            <a:ext cx="483878" cy="7413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105677" y="6253095"/>
            <a:ext cx="515082" cy="4433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9620759" y="6246797"/>
            <a:ext cx="513110" cy="10731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133869" y="6246797"/>
            <a:ext cx="499293" cy="22941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633162" y="6260594"/>
            <a:ext cx="485153" cy="9144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118315" y="6260594"/>
            <a:ext cx="519874" cy="6265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58368" y="566928"/>
            <a:ext cx="9966960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>
                <a:solidFill>
                  <a:srgbClr val="2B261F"/>
                </a:solidFill>
                <a:latin typeface="Microsoft YaHei"/>
              </a:rPr>
              <a:t>建立秩序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" y="1298448"/>
            <a:ext cx="10424160" cy="7498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8F3D2D"/>
                </a:solidFill>
                <a:latin typeface="Microsoft YaHei"/>
              </a:rPr>
              <a:t>个人层面：Agent 可协助单次任务（如写邮件）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32688" y="2303373"/>
            <a:ext cx="13619" cy="24911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46307" y="2328284"/>
            <a:ext cx="36363" cy="22820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82670" y="2351104"/>
            <a:ext cx="6257" cy="27765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88927" y="2378869"/>
            <a:ext cx="33527" cy="10309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013155" y="2366367"/>
            <a:ext cx="29572" cy="27532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042727" y="2327955"/>
            <a:ext cx="41004" cy="38412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083731" y="2274163"/>
            <a:ext cx="35460" cy="53792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119191" y="2244968"/>
            <a:ext cx="56717" cy="29195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175908" y="2208150"/>
            <a:ext cx="40478" cy="36818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444752" y="2157984"/>
            <a:ext cx="95554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2B261F"/>
                </a:solidFill>
                <a:latin typeface="Microsoft YaHei"/>
              </a:rPr>
              <a:t>组织层面：需将 Agent 融入流程、标准、审计与复盘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32688" y="2926080"/>
            <a:ext cx="39751" cy="13564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972439" y="2925704"/>
            <a:ext cx="35334" cy="13940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07773" y="2925704"/>
            <a:ext cx="49215" cy="4175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6988" y="2929879"/>
            <a:ext cx="41184" cy="10322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98172" y="2940201"/>
            <a:ext cx="47391" cy="4085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145563" y="2944286"/>
            <a:ext cx="31903" cy="1564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177466" y="2945850"/>
            <a:ext cx="41840" cy="9812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219306" y="2955662"/>
            <a:ext cx="48450" cy="20489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1244705" y="2949483"/>
            <a:ext cx="29968" cy="16830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1222298" y="2911619"/>
            <a:ext cx="22407" cy="37864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1187347" y="2886911"/>
            <a:ext cx="34951" cy="24708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1241138" y="2966313"/>
            <a:ext cx="33535" cy="17178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1205198" y="2983491"/>
            <a:ext cx="35940" cy="39723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1195219" y="3023214"/>
            <a:ext cx="9979" cy="29449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1444752" y="2871216"/>
            <a:ext cx="95554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2B261F"/>
                </a:solidFill>
                <a:latin typeface="Microsoft YaHei"/>
              </a:rPr>
              <a:t>否则自动化越多，混乱可能传播越快</a:t>
            </a:r>
          </a:p>
        </p:txBody>
      </p:sp>
      <p:sp>
        <p:nvSpPr>
          <p:cNvPr id="74" name="Arc 73"/>
          <p:cNvSpPr/>
          <p:nvPr/>
        </p:nvSpPr>
        <p:spPr>
          <a:xfrm>
            <a:off x="10561320" y="5029200"/>
            <a:ext cx="857250" cy="514350"/>
          </a:xfrm>
          <a:prstGeom prst="arc">
            <a:avLst/>
          </a:prstGeom>
          <a:noFill/>
          <a:ln w="19050">
            <a:solidFill>
              <a:srgbClr val="5B6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561320" y="438912"/>
            <a:ext cx="8686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604C36"/>
                </a:solidFill>
                <a:latin typeface="Courier New"/>
              </a:rPr>
              <a:t>14/20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4226bfe4-caa6-4bc5-bbe7-00e29148a075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 flipV="1">
            <a:off x="530352" y="493725"/>
            <a:ext cx="512219" cy="919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42571" y="493725"/>
            <a:ext cx="507997" cy="13249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550568" y="491865"/>
            <a:ext cx="488153" cy="15109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038721" y="491865"/>
            <a:ext cx="526975" cy="781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65696" y="492646"/>
            <a:ext cx="487059" cy="8689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3052755" y="486319"/>
            <a:ext cx="500507" cy="15016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553262" y="481954"/>
            <a:ext cx="506336" cy="436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059598" y="481954"/>
            <a:ext cx="507990" cy="9437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67588" y="491391"/>
            <a:ext cx="522821" cy="10180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090409" y="499669"/>
            <a:ext cx="508298" cy="1902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5598707" y="497569"/>
            <a:ext cx="486041" cy="2100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084748" y="484716"/>
            <a:ext cx="516388" cy="12853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601136" y="484716"/>
            <a:ext cx="515030" cy="1241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116166" y="480563"/>
            <a:ext cx="485714" cy="5394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601880" y="480563"/>
            <a:ext cx="518478" cy="3549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120358" y="484112"/>
            <a:ext cx="515773" cy="5816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636131" y="475529"/>
            <a:ext cx="488213" cy="14399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124344" y="475529"/>
            <a:ext cx="512429" cy="16323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9636773" y="470934"/>
            <a:ext cx="503395" cy="2091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140168" y="470934"/>
            <a:ext cx="503670" cy="1967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643838" y="472901"/>
            <a:ext cx="513524" cy="2506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1157362" y="469688"/>
            <a:ext cx="511138" cy="5719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566928" y="6278319"/>
            <a:ext cx="501850" cy="12753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068778" y="6277963"/>
            <a:ext cx="494805" cy="356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563583" y="6277963"/>
            <a:ext cx="500852" cy="7242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064435" y="6272044"/>
            <a:ext cx="513899" cy="13161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578334" y="6272044"/>
            <a:ext cx="493011" cy="4222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071345" y="6274106"/>
            <a:ext cx="517687" cy="2160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589032" y="6274106"/>
            <a:ext cx="509737" cy="8941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4098769" y="6267370"/>
            <a:ext cx="504288" cy="15677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603057" y="6267370"/>
            <a:ext cx="501297" cy="12708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104354" y="6280078"/>
            <a:ext cx="497348" cy="2351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5601702" y="6268172"/>
            <a:ext cx="489971" cy="14257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091673" y="6268172"/>
            <a:ext cx="507319" cy="1997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598992" y="6270169"/>
            <a:ext cx="516235" cy="4611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115227" y="6258996"/>
            <a:ext cx="504925" cy="15784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620152" y="6253528"/>
            <a:ext cx="502182" cy="5468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22334" y="6253528"/>
            <a:ext cx="481682" cy="1113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604016" y="6252595"/>
            <a:ext cx="509071" cy="2046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113087" y="6252595"/>
            <a:ext cx="515810" cy="59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628897" y="6253194"/>
            <a:ext cx="493182" cy="13204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0122079" y="6249449"/>
            <a:ext cx="500462" cy="1694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622541" y="6249449"/>
            <a:ext cx="517324" cy="8411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139865" y="6257860"/>
            <a:ext cx="479572" cy="5746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58368" y="566928"/>
            <a:ext cx="9966960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>
                <a:solidFill>
                  <a:srgbClr val="2B261F"/>
                </a:solidFill>
                <a:latin typeface="Microsoft YaHei"/>
              </a:rPr>
              <a:t>个人层面：Agent 可协助单次任务（如写邮件）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" y="1298448"/>
            <a:ext cx="10424160" cy="7498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8F3D2D"/>
                </a:solidFill>
                <a:latin typeface="Microsoft YaHei"/>
              </a:rPr>
              <a:t>组织层面：需将 Agent 融入流程、标准、审计与复盘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32688" y="2303373"/>
            <a:ext cx="19267" cy="20861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51955" y="2324234"/>
            <a:ext cx="20913" cy="25315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72868" y="2349549"/>
            <a:ext cx="29298" cy="30680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02166" y="2380229"/>
            <a:ext cx="20068" cy="18112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013155" y="2349520"/>
            <a:ext cx="28402" cy="44379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041557" y="2320745"/>
            <a:ext cx="56477" cy="28775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098034" y="2273899"/>
            <a:ext cx="28455" cy="46846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126489" y="2252356"/>
            <a:ext cx="31503" cy="21543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157992" y="2220928"/>
            <a:ext cx="50731" cy="31428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444752" y="2157984"/>
            <a:ext cx="95554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2B261F"/>
                </a:solidFill>
                <a:latin typeface="Microsoft YaHei"/>
              </a:rPr>
              <a:t>否则自动化越多，混乱可能传播越快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32688" y="2926080"/>
            <a:ext cx="43637" cy="4607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76325" y="2930687"/>
            <a:ext cx="51445" cy="1945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027770" y="2931819"/>
            <a:ext cx="26674" cy="813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4444" y="2931819"/>
            <a:ext cx="45611" cy="16489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100055" y="2948308"/>
            <a:ext cx="36256" cy="13429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1136311" y="2945302"/>
            <a:ext cx="64738" cy="16435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201049" y="2945302"/>
            <a:ext cx="26814" cy="23437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227863" y="2968739"/>
            <a:ext cx="41789" cy="4895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1236095" y="2946480"/>
            <a:ext cx="38578" cy="19833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1232963" y="2921879"/>
            <a:ext cx="3132" cy="24601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1196515" y="2879513"/>
            <a:ext cx="36448" cy="42366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1251000" y="2966313"/>
            <a:ext cx="23673" cy="24299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1219636" y="2990612"/>
            <a:ext cx="31364" cy="36618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1188688" y="3027230"/>
            <a:ext cx="30948" cy="15010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1444752" y="2871216"/>
            <a:ext cx="95554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2B261F"/>
                </a:solidFill>
                <a:latin typeface="Microsoft YaHei"/>
              </a:rPr>
              <a:t>执行环节被加速后，剩余的是更重的人类责任</a:t>
            </a:r>
          </a:p>
        </p:txBody>
      </p:sp>
      <p:sp>
        <p:nvSpPr>
          <p:cNvPr id="74" name="Oval 73"/>
          <p:cNvSpPr/>
          <p:nvPr/>
        </p:nvSpPr>
        <p:spPr>
          <a:xfrm>
            <a:off x="10561320" y="5029200"/>
            <a:ext cx="480060" cy="594360"/>
          </a:xfrm>
          <a:prstGeom prst="ellipse">
            <a:avLst/>
          </a:prstGeom>
          <a:noFill/>
          <a:ln w="19050">
            <a:solidFill>
              <a:srgbClr val="305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10709910" y="5646420"/>
            <a:ext cx="61075" cy="6518"/>
          </a:xfrm>
          <a:prstGeom prst="line">
            <a:avLst/>
          </a:prstGeom>
          <a:ln w="1651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770985" y="5635906"/>
            <a:ext cx="63607" cy="17032"/>
          </a:xfrm>
          <a:prstGeom prst="line">
            <a:avLst/>
          </a:prstGeom>
          <a:ln w="1651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0834592" y="5635906"/>
            <a:ext cx="67667" cy="19434"/>
          </a:xfrm>
          <a:prstGeom prst="line">
            <a:avLst/>
          </a:prstGeom>
          <a:ln w="1651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767060" y="5749306"/>
            <a:ext cx="71488" cy="11414"/>
          </a:xfrm>
          <a:prstGeom prst="line">
            <a:avLst/>
          </a:prstGeom>
          <a:ln w="1651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0838548" y="5749306"/>
            <a:ext cx="48481" cy="21979"/>
          </a:xfrm>
          <a:prstGeom prst="line">
            <a:avLst/>
          </a:prstGeom>
          <a:ln w="1651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887029" y="5756130"/>
            <a:ext cx="52512" cy="15155"/>
          </a:xfrm>
          <a:prstGeom prst="line">
            <a:avLst/>
          </a:prstGeom>
          <a:ln w="1651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10561320" y="438912"/>
            <a:ext cx="8686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604C36"/>
                </a:solidFill>
                <a:latin typeface="Courier New"/>
              </a:rPr>
              <a:t>15/20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4226bfe4-caa6-4bc5-bbe7-00e29148a075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 flipV="1">
            <a:off x="530352" y="501335"/>
            <a:ext cx="503306" cy="158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1033658" y="500743"/>
            <a:ext cx="512989" cy="592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46647" y="500743"/>
            <a:ext cx="501039" cy="5976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047686" y="489062"/>
            <a:ext cx="503892" cy="17657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51578" y="489062"/>
            <a:ext cx="495841" cy="16560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3047419" y="504822"/>
            <a:ext cx="510125" cy="800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557544" y="500384"/>
            <a:ext cx="511472" cy="443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4069016" y="482086"/>
            <a:ext cx="511064" cy="1829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80080" y="482086"/>
            <a:ext cx="514699" cy="17994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094779" y="494822"/>
            <a:ext cx="485279" cy="525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5580058" y="486063"/>
            <a:ext cx="503950" cy="8759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84008" y="486063"/>
            <a:ext cx="523127" cy="7261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607135" y="489328"/>
            <a:ext cx="489609" cy="3996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096744" y="489328"/>
            <a:ext cx="526599" cy="6490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623343" y="474998"/>
            <a:ext cx="499076" cy="20820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122419" y="474998"/>
            <a:ext cx="513363" cy="16807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635782" y="486920"/>
            <a:ext cx="497730" cy="488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9133512" y="469730"/>
            <a:ext cx="504905" cy="17190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638417" y="469730"/>
            <a:ext cx="509781" cy="16179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0148198" y="472750"/>
            <a:ext cx="498063" cy="13159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646261" y="470855"/>
            <a:ext cx="513317" cy="189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1159578" y="463433"/>
            <a:ext cx="505426" cy="7422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566928" y="6286237"/>
            <a:ext cx="514507" cy="4835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081435" y="6279076"/>
            <a:ext cx="499180" cy="7161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580615" y="6279076"/>
            <a:ext cx="506040" cy="14458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086655" y="6280883"/>
            <a:ext cx="481143" cy="12651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567798" y="6278374"/>
            <a:ext cx="509686" cy="250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77484" y="6278374"/>
            <a:ext cx="515198" cy="5815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592682" y="6284189"/>
            <a:ext cx="505374" cy="4641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098056" y="6288830"/>
            <a:ext cx="489836" cy="1684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587892" y="6284015"/>
            <a:ext cx="511255" cy="649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099147" y="6275995"/>
            <a:ext cx="497043" cy="8020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96190" y="6275995"/>
            <a:ext cx="497132" cy="1967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6093322" y="6272040"/>
            <a:ext cx="503117" cy="5922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6596439" y="6259237"/>
            <a:ext cx="498993" cy="12803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095432" y="6259237"/>
            <a:ext cx="520736" cy="933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616168" y="6263896"/>
            <a:ext cx="487979" cy="4680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04147" y="6263896"/>
            <a:ext cx="519134" cy="5457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623281" y="6251453"/>
            <a:ext cx="492113" cy="17900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9115394" y="6249252"/>
            <a:ext cx="514048" cy="2201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629442" y="6249252"/>
            <a:ext cx="504663" cy="19178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0134105" y="6259894"/>
            <a:ext cx="480240" cy="8536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614345" y="6249702"/>
            <a:ext cx="506394" cy="10192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1120739" y="6241848"/>
            <a:ext cx="504282" cy="7854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58368" y="566928"/>
            <a:ext cx="9966960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>
                <a:solidFill>
                  <a:srgbClr val="2B261F"/>
                </a:solidFill>
                <a:latin typeface="Microsoft YaHei"/>
              </a:rPr>
              <a:t>AI Agent 的放大效应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" y="1298448"/>
            <a:ext cx="10424160" cy="7498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8F3D2D"/>
                </a:solidFill>
                <a:latin typeface="Microsoft YaHei"/>
              </a:rPr>
              <a:t>作为放大器，同时放大清楚与含糊的问题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32688" y="2303373"/>
            <a:ext cx="16603" cy="17617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49291" y="2320990"/>
            <a:ext cx="19127" cy="28206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68418" y="2349196"/>
            <a:ext cx="14108" cy="14838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82526" y="2364034"/>
            <a:ext cx="40503" cy="33455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013155" y="2370255"/>
            <a:ext cx="27223" cy="23644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040378" y="2312442"/>
            <a:ext cx="56569" cy="57813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096947" y="2290156"/>
            <a:ext cx="30837" cy="22286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127784" y="2260841"/>
            <a:ext cx="54787" cy="29315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182571" y="2224719"/>
            <a:ext cx="15795" cy="36122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444752" y="2157984"/>
            <a:ext cx="95554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2B261F"/>
                </a:solidFill>
                <a:latin typeface="Microsoft YaHei"/>
              </a:rPr>
              <a:t>放大成熟流程，也放大草率流程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32688" y="2926080"/>
            <a:ext cx="49295" cy="15870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81983" y="2941950"/>
            <a:ext cx="41925" cy="2154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023908" y="2941970"/>
            <a:ext cx="45647" cy="2134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069555" y="2937042"/>
            <a:ext cx="45043" cy="4928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114598" y="2937042"/>
            <a:ext cx="22362" cy="22230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1136960" y="2954544"/>
            <a:ext cx="50059" cy="4728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187019" y="2948610"/>
            <a:ext cx="43019" cy="5934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230038" y="2948610"/>
            <a:ext cx="56934" cy="26216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1242201" y="2935344"/>
            <a:ext cx="32472" cy="30969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1216431" y="2918444"/>
            <a:ext cx="25770" cy="16900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1206191" y="2874432"/>
            <a:ext cx="10240" cy="44012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1232506" y="2966313"/>
            <a:ext cx="42167" cy="15982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1204613" y="2982295"/>
            <a:ext cx="27893" cy="44705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1192780" y="3027000"/>
            <a:ext cx="11833" cy="25870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1444752" y="2871216"/>
            <a:ext cx="95554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2B261F"/>
                </a:solidFill>
                <a:latin typeface="Microsoft YaHei"/>
              </a:rPr>
              <a:t>放大个人判断力，也放大逃避倾向</a:t>
            </a:r>
          </a:p>
        </p:txBody>
      </p:sp>
      <p:sp>
        <p:nvSpPr>
          <p:cNvPr id="74" name="Arc 73"/>
          <p:cNvSpPr/>
          <p:nvPr/>
        </p:nvSpPr>
        <p:spPr>
          <a:xfrm>
            <a:off x="10561320" y="5029200"/>
            <a:ext cx="857250" cy="514350"/>
          </a:xfrm>
          <a:prstGeom prst="arc">
            <a:avLst/>
          </a:prstGeom>
          <a:noFill/>
          <a:ln w="19050">
            <a:solidFill>
              <a:srgbClr val="305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561320" y="438912"/>
            <a:ext cx="8686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604C36"/>
                </a:solidFill>
                <a:latin typeface="Courier New"/>
              </a:rPr>
              <a:t>16/20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4226bfe4-caa6-4bc5-bbe7-00e29148a075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530352" y="502920"/>
            <a:ext cx="517769" cy="10730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1048121" y="504423"/>
            <a:ext cx="504731" cy="9227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552852" y="492328"/>
            <a:ext cx="493402" cy="1209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046254" y="486208"/>
            <a:ext cx="496601" cy="6120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42855" y="486208"/>
            <a:ext cx="526616" cy="14227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3069471" y="485794"/>
            <a:ext cx="503629" cy="14641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573100" y="485794"/>
            <a:ext cx="504762" cy="1994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4077862" y="481074"/>
            <a:ext cx="489822" cy="6714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67684" y="481074"/>
            <a:ext cx="525330" cy="20991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093014" y="482255"/>
            <a:ext cx="486108" cy="19810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5579122" y="477322"/>
            <a:ext cx="523650" cy="4933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102772" y="477322"/>
            <a:ext cx="507695" cy="196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610467" y="479290"/>
            <a:ext cx="487575" cy="342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098042" y="482718"/>
            <a:ext cx="523115" cy="11893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621157" y="473592"/>
            <a:ext cx="501012" cy="21019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122169" y="473592"/>
            <a:ext cx="510214" cy="640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632383" y="473973"/>
            <a:ext cx="496310" cy="6027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128693" y="473973"/>
            <a:ext cx="515702" cy="49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9644395" y="471211"/>
            <a:ext cx="501226" cy="3257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145621" y="471211"/>
            <a:ext cx="508520" cy="72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654141" y="471283"/>
            <a:ext cx="504486" cy="11292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1158627" y="481976"/>
            <a:ext cx="497793" cy="599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66928" y="6291072"/>
            <a:ext cx="493503" cy="10156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060431" y="6277383"/>
            <a:ext cx="521708" cy="23845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582139" y="6277383"/>
            <a:ext cx="491494" cy="14521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073633" y="6282628"/>
            <a:ext cx="502579" cy="9276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576212" y="6282207"/>
            <a:ext cx="498918" cy="421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075130" y="6278257"/>
            <a:ext cx="498932" cy="3950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574062" y="6277681"/>
            <a:ext cx="509531" cy="576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083593" y="6277681"/>
            <a:ext cx="516147" cy="1567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599740" y="6279248"/>
            <a:ext cx="503204" cy="8345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102944" y="6282442"/>
            <a:ext cx="503086" cy="5151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5606030" y="6267089"/>
            <a:ext cx="490709" cy="15353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096739" y="6267089"/>
            <a:ext cx="508576" cy="6295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6605315" y="6270860"/>
            <a:ext cx="512197" cy="2524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117512" y="6270860"/>
            <a:ext cx="500225" cy="3397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617737" y="6274257"/>
            <a:ext cx="495823" cy="1631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113560" y="6269395"/>
            <a:ext cx="493261" cy="6493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606821" y="6263093"/>
            <a:ext cx="521146" cy="6302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9127967" y="6252162"/>
            <a:ext cx="497127" cy="10931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625094" y="6252162"/>
            <a:ext cx="487515" cy="382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0112609" y="6249362"/>
            <a:ext cx="516218" cy="3182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628827" y="6249362"/>
            <a:ext cx="511225" cy="7434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1140052" y="6246269"/>
            <a:ext cx="492649" cy="10527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58368" y="566928"/>
            <a:ext cx="9966960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>
                <a:solidFill>
                  <a:srgbClr val="2B261F"/>
                </a:solidFill>
                <a:latin typeface="Microsoft YaHei"/>
              </a:rPr>
              <a:t>作为放大器，同时放大清楚与含糊的问题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" y="1298448"/>
            <a:ext cx="10424160" cy="7498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8F3D2D"/>
                </a:solidFill>
                <a:latin typeface="Microsoft YaHei"/>
              </a:rPr>
              <a:t>放大成熟流程，也放大草率流程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32688" y="2303373"/>
            <a:ext cx="18958" cy="27721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51646" y="2331094"/>
            <a:ext cx="30641" cy="11208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82287" y="2342302"/>
            <a:ext cx="7922" cy="34387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90209" y="2376689"/>
            <a:ext cx="12375" cy="17059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013155" y="2357148"/>
            <a:ext cx="32793" cy="36751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045948" y="2326297"/>
            <a:ext cx="51815" cy="30851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097763" y="2284458"/>
            <a:ext cx="41144" cy="41839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138907" y="2246661"/>
            <a:ext cx="37984" cy="37797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176891" y="2202570"/>
            <a:ext cx="30686" cy="44091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444752" y="2157984"/>
            <a:ext cx="95554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2B261F"/>
                </a:solidFill>
                <a:latin typeface="Microsoft YaHei"/>
              </a:rPr>
              <a:t>放大个人判断力，也放大逃避倾向</a:t>
            </a:r>
          </a:p>
        </p:txBody>
      </p:sp>
      <p:cxnSp>
        <p:nvCxnSpPr>
          <p:cNvPr id="59" name="Connector 58"/>
          <p:cNvCxnSpPr/>
          <p:nvPr/>
        </p:nvCxnSpPr>
        <p:spPr>
          <a:xfrm flipV="1">
            <a:off x="932688" y="2919821"/>
            <a:ext cx="54655" cy="6259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87343" y="2919821"/>
            <a:ext cx="26341" cy="16607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013684" y="2933718"/>
            <a:ext cx="42788" cy="2710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6472" y="2933718"/>
            <a:ext cx="49672" cy="5391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106144" y="2939109"/>
            <a:ext cx="40141" cy="3560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146285" y="2942669"/>
            <a:ext cx="43150" cy="13776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189435" y="2956445"/>
            <a:ext cx="52532" cy="3094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241967" y="2959539"/>
            <a:ext cx="43282" cy="16913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1252182" y="2933093"/>
            <a:ext cx="22491" cy="33220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1227537" y="2919066"/>
            <a:ext cx="24645" cy="14027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1197590" y="2894007"/>
            <a:ext cx="29947" cy="25059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1237268" y="2966313"/>
            <a:ext cx="37405" cy="17262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1221912" y="2983575"/>
            <a:ext cx="15356" cy="41968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1182418" y="3025543"/>
            <a:ext cx="39494" cy="13065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1444752" y="2871216"/>
            <a:ext cx="95554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2B261F"/>
                </a:solidFill>
                <a:latin typeface="Microsoft YaHei"/>
              </a:rPr>
              <a:t>无边界时，Agent 会将模糊放大为更漂亮的模糊</a:t>
            </a:r>
          </a:p>
        </p:txBody>
      </p:sp>
      <p:sp>
        <p:nvSpPr>
          <p:cNvPr id="74" name="Arc 73"/>
          <p:cNvSpPr/>
          <p:nvPr/>
        </p:nvSpPr>
        <p:spPr>
          <a:xfrm>
            <a:off x="10561320" y="5029200"/>
            <a:ext cx="857250" cy="514350"/>
          </a:xfrm>
          <a:prstGeom prst="arc">
            <a:avLst/>
          </a:prstGeom>
          <a:noFill/>
          <a:ln w="19050">
            <a:solidFill>
              <a:srgbClr val="305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561320" y="438912"/>
            <a:ext cx="8686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604C36"/>
                </a:solidFill>
                <a:latin typeface="Courier New"/>
              </a:rPr>
              <a:t>17/20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4226bfe4-caa6-4bc5-bbe7-00e29148a075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530352" y="502920"/>
            <a:ext cx="495731" cy="5690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26083" y="508610"/>
            <a:ext cx="508528" cy="896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534611" y="509357"/>
            <a:ext cx="513897" cy="149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048508" y="507111"/>
            <a:ext cx="494657" cy="2246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2543165" y="497720"/>
            <a:ext cx="504905" cy="9391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048070" y="497720"/>
            <a:ext cx="522795" cy="2529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570865" y="500249"/>
            <a:ext cx="507443" cy="4422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4078308" y="504363"/>
            <a:ext cx="503765" cy="30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582073" y="496192"/>
            <a:ext cx="505847" cy="8171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087920" y="492900"/>
            <a:ext cx="491582" cy="3292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579502" y="492900"/>
            <a:ext cx="506658" cy="3216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086160" y="482718"/>
            <a:ext cx="502955" cy="1339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89115" y="482718"/>
            <a:ext cx="504608" cy="6150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093723" y="478296"/>
            <a:ext cx="528465" cy="10572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622188" y="478296"/>
            <a:ext cx="485514" cy="10364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107702" y="470231"/>
            <a:ext cx="508768" cy="18429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616470" y="470231"/>
            <a:ext cx="503332" cy="4060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119802" y="474291"/>
            <a:ext cx="528165" cy="16374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9647967" y="470741"/>
            <a:ext cx="491994" cy="19924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139961" y="470741"/>
            <a:ext cx="499216" cy="34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639177" y="471086"/>
            <a:ext cx="518212" cy="7679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1157389" y="466020"/>
            <a:ext cx="490887" cy="1274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566928" y="6282687"/>
            <a:ext cx="502370" cy="8385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69298" y="6282687"/>
            <a:ext cx="506465" cy="9893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575763" y="6273557"/>
            <a:ext cx="495788" cy="19023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071551" y="6273557"/>
            <a:ext cx="501253" cy="8735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572804" y="6281150"/>
            <a:ext cx="505484" cy="1142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78288" y="6281150"/>
            <a:ext cx="503666" cy="4983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581954" y="6277476"/>
            <a:ext cx="503891" cy="8657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085845" y="6277476"/>
            <a:ext cx="493429" cy="8848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579274" y="6276848"/>
            <a:ext cx="519167" cy="9476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098441" y="6270630"/>
            <a:ext cx="497546" cy="6218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5595987" y="6263011"/>
            <a:ext cx="500309" cy="761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096296" y="6263011"/>
            <a:ext cx="497950" cy="19454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6594246" y="6269783"/>
            <a:ext cx="514342" cy="12682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108588" y="6269783"/>
            <a:ext cx="509690" cy="918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618278" y="6262843"/>
            <a:ext cx="481030" cy="1612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099308" y="6262843"/>
            <a:ext cx="521311" cy="12761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620619" y="6270342"/>
            <a:ext cx="491044" cy="5262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9111663" y="6258658"/>
            <a:ext cx="520288" cy="11684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9631951" y="6254310"/>
            <a:ext cx="483755" cy="4348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115706" y="6254310"/>
            <a:ext cx="517045" cy="673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632751" y="6244429"/>
            <a:ext cx="500840" cy="10554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133591" y="6244429"/>
            <a:ext cx="500286" cy="13540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58368" y="566928"/>
            <a:ext cx="9966960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>
                <a:solidFill>
                  <a:srgbClr val="2B261F"/>
                </a:solidFill>
                <a:latin typeface="Microsoft YaHei"/>
              </a:rPr>
              <a:t>结论：思考的真正转向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" y="1298448"/>
            <a:ext cx="10424160" cy="7498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8F3D2D"/>
                </a:solidFill>
                <a:latin typeface="Microsoft YaHei"/>
              </a:rPr>
              <a:t>人类仍需思考，但应减少机械步骤浪费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32688" y="2303373"/>
            <a:ext cx="32912" cy="25549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65600" y="2328922"/>
            <a:ext cx="5148" cy="7913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70748" y="2336835"/>
            <a:ext cx="23040" cy="35691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93788" y="2372526"/>
            <a:ext cx="24450" cy="33952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013155" y="2369400"/>
            <a:ext cx="31126" cy="24499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044281" y="2325795"/>
            <a:ext cx="44104" cy="43605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088385" y="2293863"/>
            <a:ext cx="34013" cy="31932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122398" y="2236832"/>
            <a:ext cx="44452" cy="57031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166850" y="2212567"/>
            <a:ext cx="38265" cy="24265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444752" y="2157984"/>
            <a:ext cx="95554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2B261F"/>
                </a:solidFill>
                <a:latin typeface="Microsoft YaHei"/>
              </a:rPr>
              <a:t>更多聚焦问题定义、边界设定、取舍权衡与责任承担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32688" y="2926080"/>
            <a:ext cx="53466" cy="14077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986154" y="2932431"/>
            <a:ext cx="34791" cy="7726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020945" y="2931239"/>
            <a:ext cx="29154" cy="1192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0099" y="2931239"/>
            <a:ext cx="45130" cy="13306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95229" y="2944545"/>
            <a:ext cx="54361" cy="3633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149590" y="2948178"/>
            <a:ext cx="30983" cy="17235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180573" y="2955416"/>
            <a:ext cx="44927" cy="9997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225500" y="2955416"/>
            <a:ext cx="39841" cy="12734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1259311" y="2934575"/>
            <a:ext cx="15362" cy="31738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1225842" y="2908164"/>
            <a:ext cx="33469" cy="26411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1202236" y="2887160"/>
            <a:ext cx="23606" cy="21004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1248489" y="2966313"/>
            <a:ext cx="26184" cy="33047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1202809" y="2999360"/>
            <a:ext cx="45680" cy="16053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1173870" y="3015413"/>
            <a:ext cx="28939" cy="19049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1444752" y="2871216"/>
            <a:ext cx="95554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2B261F"/>
                </a:solidFill>
                <a:latin typeface="Microsoft YaHei"/>
              </a:rPr>
              <a:t>需决定：问题是什么、为什么现在做、做到何种程度、哪些代价不能承受、结果是否承担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10561320" y="5029200"/>
            <a:ext cx="106984" cy="663"/>
          </a:xfrm>
          <a:prstGeom prst="line">
            <a:avLst/>
          </a:prstGeom>
          <a:ln w="21590">
            <a:solidFill>
              <a:srgbClr val="8F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0668304" y="5029863"/>
            <a:ext cx="86518" cy="32958"/>
          </a:xfrm>
          <a:prstGeom prst="line">
            <a:avLst/>
          </a:prstGeom>
          <a:ln w="21590">
            <a:solidFill>
              <a:srgbClr val="8F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754822" y="5052360"/>
            <a:ext cx="95885" cy="10461"/>
          </a:xfrm>
          <a:prstGeom prst="line">
            <a:avLst/>
          </a:prstGeom>
          <a:ln w="21590">
            <a:solidFill>
              <a:srgbClr val="8F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0850707" y="5052360"/>
            <a:ext cx="106678" cy="32553"/>
          </a:xfrm>
          <a:prstGeom prst="line">
            <a:avLst/>
          </a:prstGeom>
          <a:ln w="21590">
            <a:solidFill>
              <a:srgbClr val="8F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957385" y="5083264"/>
            <a:ext cx="98771" cy="1649"/>
          </a:xfrm>
          <a:prstGeom prst="line">
            <a:avLst/>
          </a:prstGeom>
          <a:ln w="21590">
            <a:solidFill>
              <a:srgbClr val="8F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1056156" y="5083264"/>
            <a:ext cx="87985" cy="16636"/>
          </a:xfrm>
          <a:prstGeom prst="line">
            <a:avLst/>
          </a:prstGeom>
          <a:ln w="21590">
            <a:solidFill>
              <a:srgbClr val="8F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1144141" y="5098903"/>
            <a:ext cx="104779" cy="997"/>
          </a:xfrm>
          <a:prstGeom prst="line">
            <a:avLst/>
          </a:prstGeom>
          <a:ln w="21590">
            <a:solidFill>
              <a:srgbClr val="8F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1248920" y="5098903"/>
            <a:ext cx="87868" cy="12166"/>
          </a:xfrm>
          <a:prstGeom prst="line">
            <a:avLst/>
          </a:prstGeom>
          <a:ln w="21590">
            <a:solidFill>
              <a:srgbClr val="8F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H="1" flipV="1">
            <a:off x="11285885" y="5063607"/>
            <a:ext cx="52675" cy="57033"/>
          </a:xfrm>
          <a:prstGeom prst="line">
            <a:avLst/>
          </a:prstGeom>
          <a:ln w="21590">
            <a:solidFill>
              <a:srgbClr val="8F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H="1" flipV="1">
            <a:off x="11212722" y="4990080"/>
            <a:ext cx="73163" cy="73527"/>
          </a:xfrm>
          <a:prstGeom prst="line">
            <a:avLst/>
          </a:prstGeom>
          <a:ln w="21590">
            <a:solidFill>
              <a:srgbClr val="8F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11147326" y="4941619"/>
            <a:ext cx="65396" cy="48461"/>
          </a:xfrm>
          <a:prstGeom prst="line">
            <a:avLst/>
          </a:prstGeom>
          <a:ln w="21590">
            <a:solidFill>
              <a:srgbClr val="8F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>
            <a:off x="11274465" y="5120640"/>
            <a:ext cx="64095" cy="53997"/>
          </a:xfrm>
          <a:prstGeom prst="line">
            <a:avLst/>
          </a:prstGeom>
          <a:ln w="21590">
            <a:solidFill>
              <a:srgbClr val="8F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>
            <a:off x="11211776" y="5174637"/>
            <a:ext cx="62689" cy="55218"/>
          </a:xfrm>
          <a:prstGeom prst="line">
            <a:avLst/>
          </a:prstGeom>
          <a:ln w="21590">
            <a:solidFill>
              <a:srgbClr val="8F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>
            <a:off x="11141022" y="5229855"/>
            <a:ext cx="70754" cy="75945"/>
          </a:xfrm>
          <a:prstGeom prst="line">
            <a:avLst/>
          </a:prstGeom>
          <a:ln w="21590">
            <a:solidFill>
              <a:srgbClr val="8F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10561320" y="438912"/>
            <a:ext cx="8686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604C36"/>
                </a:solidFill>
                <a:latin typeface="Courier New"/>
              </a:rPr>
              <a:t>18/20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4226bfe4-caa6-4bc5-bbe7-00e29148a075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530352" y="502920"/>
            <a:ext cx="505478" cy="5254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1035830" y="499256"/>
            <a:ext cx="493635" cy="891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529465" y="489150"/>
            <a:ext cx="530964" cy="10106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060429" y="489150"/>
            <a:ext cx="495427" cy="378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55856" y="492935"/>
            <a:ext cx="494069" cy="7176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049925" y="500111"/>
            <a:ext cx="508344" cy="4672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558269" y="504783"/>
            <a:ext cx="513932" cy="99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4072201" y="505686"/>
            <a:ext cx="503643" cy="9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575844" y="486444"/>
            <a:ext cx="510022" cy="19242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85866" y="486444"/>
            <a:ext cx="511975" cy="4222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5597841" y="487807"/>
            <a:ext cx="505305" cy="2859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103146" y="486416"/>
            <a:ext cx="486517" cy="1391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589663" y="485450"/>
            <a:ext cx="508314" cy="966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097977" y="475654"/>
            <a:ext cx="506728" cy="9796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604705" y="475654"/>
            <a:ext cx="515685" cy="4482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120390" y="480136"/>
            <a:ext cx="490907" cy="9546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611297" y="488804"/>
            <a:ext cx="516946" cy="87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9128243" y="481636"/>
            <a:ext cx="499534" cy="716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9627777" y="479874"/>
            <a:ext cx="523116" cy="1762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0150893" y="477023"/>
            <a:ext cx="489120" cy="2851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640013" y="475976"/>
            <a:ext cx="518880" cy="1047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158893" y="475976"/>
            <a:ext cx="502918" cy="2012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66928" y="6291072"/>
            <a:ext cx="506280" cy="187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073208" y="6284965"/>
            <a:ext cx="509786" cy="7986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582994" y="6284965"/>
            <a:ext cx="483910" cy="1595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066904" y="6274652"/>
            <a:ext cx="518018" cy="11908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584922" y="6273602"/>
            <a:ext cx="501791" cy="1050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86713" y="6273602"/>
            <a:ext cx="496290" cy="13713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583003" y="6287315"/>
            <a:ext cx="495913" cy="4723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4078916" y="6279390"/>
            <a:ext cx="511876" cy="12648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590792" y="6278584"/>
            <a:ext cx="489851" cy="806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080643" y="6278584"/>
            <a:ext cx="524778" cy="3634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5605421" y="6262467"/>
            <a:ext cx="499563" cy="19751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104984" y="6262467"/>
            <a:ext cx="490964" cy="17467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595948" y="6279934"/>
            <a:ext cx="504902" cy="1084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100850" y="6278173"/>
            <a:ext cx="509022" cy="2845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609872" y="6257071"/>
            <a:ext cx="496753" cy="21102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06625" y="6257071"/>
            <a:ext cx="502758" cy="5642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609383" y="6262713"/>
            <a:ext cx="495168" cy="4883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9104551" y="6258053"/>
            <a:ext cx="511882" cy="9543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616433" y="6258053"/>
            <a:ext cx="517551" cy="13966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0133984" y="6268653"/>
            <a:ext cx="491953" cy="3366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625937" y="6260024"/>
            <a:ext cx="496729" cy="862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1122666" y="6250723"/>
            <a:ext cx="516330" cy="9301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58368" y="566928"/>
            <a:ext cx="9966960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>
                <a:solidFill>
                  <a:srgbClr val="2B261F"/>
                </a:solidFill>
                <a:latin typeface="Microsoft YaHei"/>
              </a:rPr>
              <a:t>人类仍需思考，但应减少机械步骤浪费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" y="1298448"/>
            <a:ext cx="10424160" cy="7498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8F3D2D"/>
                </a:solidFill>
                <a:latin typeface="Microsoft YaHei"/>
              </a:rPr>
              <a:t>更多聚焦问题定义、边界设定、取舍权衡与责任承担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32688" y="2303373"/>
            <a:ext cx="31940" cy="14137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64628" y="2317510"/>
            <a:ext cx="18203" cy="31514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82831" y="2349024"/>
            <a:ext cx="11888" cy="27679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94719" y="2376703"/>
            <a:ext cx="14332" cy="28168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013155" y="2355204"/>
            <a:ext cx="48540" cy="38695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061695" y="2310480"/>
            <a:ext cx="37567" cy="44724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099262" y="2289600"/>
            <a:ext cx="32946" cy="20880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132208" y="2261672"/>
            <a:ext cx="43584" cy="27928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175792" y="2203731"/>
            <a:ext cx="27909" cy="57941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444752" y="2157984"/>
            <a:ext cx="95554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2B261F"/>
                </a:solidFill>
                <a:latin typeface="Microsoft YaHei"/>
              </a:rPr>
              <a:t>好问题必须带有清晰边界</a:t>
            </a:r>
          </a:p>
        </p:txBody>
      </p:sp>
      <p:cxnSp>
        <p:nvCxnSpPr>
          <p:cNvPr id="59" name="Connector 58"/>
          <p:cNvCxnSpPr/>
          <p:nvPr/>
        </p:nvCxnSpPr>
        <p:spPr>
          <a:xfrm flipV="1">
            <a:off x="932688" y="2920102"/>
            <a:ext cx="54662" cy="5978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87350" y="2920102"/>
            <a:ext cx="34280" cy="5285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21630" y="2925387"/>
            <a:ext cx="31926" cy="28489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053556" y="2936913"/>
            <a:ext cx="48716" cy="16963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102272" y="2936913"/>
            <a:ext cx="47841" cy="3020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150113" y="2939933"/>
            <a:ext cx="49384" cy="21475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199497" y="2961408"/>
            <a:ext cx="44873" cy="4176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244370" y="2960099"/>
            <a:ext cx="29579" cy="5485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1260136" y="2940826"/>
            <a:ext cx="14537" cy="25487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1210504" y="2910744"/>
            <a:ext cx="49632" cy="30082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1188993" y="2888902"/>
            <a:ext cx="21511" cy="21842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1242309" y="2966313"/>
            <a:ext cx="32364" cy="33323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1206682" y="2999636"/>
            <a:ext cx="35627" cy="28823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1189400" y="3028459"/>
            <a:ext cx="17282" cy="6120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1444752" y="2871216"/>
            <a:ext cx="95554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2B261F"/>
                </a:solidFill>
                <a:latin typeface="Microsoft YaHei"/>
              </a:rPr>
              <a:t>责任所在之处，判断就必须亲力亲为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10561320" y="5029200"/>
            <a:ext cx="88971" cy="11872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0650291" y="5041072"/>
            <a:ext cx="97321" cy="23779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747612" y="5055327"/>
            <a:ext cx="114523" cy="9524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0862135" y="5055327"/>
            <a:ext cx="84819" cy="14426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0946954" y="5069753"/>
            <a:ext cx="111305" cy="19826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1058259" y="5089579"/>
            <a:ext cx="97318" cy="16228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1155577" y="5105807"/>
            <a:ext cx="84828" cy="3354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1240405" y="5109161"/>
            <a:ext cx="108928" cy="9514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H="1" flipV="1">
            <a:off x="11285828" y="5057277"/>
            <a:ext cx="52732" cy="63363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H="1" flipV="1">
            <a:off x="11215581" y="5006119"/>
            <a:ext cx="70247" cy="51158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11145161" y="4934082"/>
            <a:ext cx="70420" cy="72037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>
            <a:off x="11276905" y="5120640"/>
            <a:ext cx="61655" cy="68051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>
            <a:off x="11206736" y="5188691"/>
            <a:ext cx="70169" cy="42230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>
            <a:off x="11120140" y="5230921"/>
            <a:ext cx="86596" cy="73451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10561320" y="438912"/>
            <a:ext cx="8686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604C36"/>
                </a:solidFill>
                <a:latin typeface="Courier New"/>
              </a:rPr>
              <a:t>19/20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4226bfe4-caa6-4bc5-bbe7-00e29148a075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 flipV="1">
            <a:off x="530352" y="492624"/>
            <a:ext cx="500140" cy="10296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1030492" y="490599"/>
            <a:ext cx="519977" cy="202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50469" y="490599"/>
            <a:ext cx="491966" cy="13721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042435" y="496270"/>
            <a:ext cx="507078" cy="8050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2549513" y="486863"/>
            <a:ext cx="497595" cy="9407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047108" y="486863"/>
            <a:ext cx="524746" cy="15236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571854" y="483075"/>
            <a:ext cx="497837" cy="19024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069691" y="483075"/>
            <a:ext cx="511007" cy="5857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80698" y="488932"/>
            <a:ext cx="511179" cy="13621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091877" y="501208"/>
            <a:ext cx="496155" cy="134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5588032" y="496841"/>
            <a:ext cx="493824" cy="4367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081856" y="491847"/>
            <a:ext cx="524258" cy="4994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606114" y="491847"/>
            <a:ext cx="488471" cy="5712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094585" y="473393"/>
            <a:ext cx="514736" cy="24166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609321" y="473393"/>
            <a:ext cx="511463" cy="6005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120784" y="473386"/>
            <a:ext cx="506599" cy="6012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627383" y="469503"/>
            <a:ext cx="507211" cy="3883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134594" y="469503"/>
            <a:ext cx="495682" cy="10058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630276" y="479561"/>
            <a:ext cx="507564" cy="6212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0137840" y="470056"/>
            <a:ext cx="497215" cy="15717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635055" y="470056"/>
            <a:ext cx="516615" cy="10176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1151670" y="479479"/>
            <a:ext cx="511718" cy="753"/>
          </a:xfrm>
          <a:prstGeom prst="line">
            <a:avLst/>
          </a:prstGeom>
          <a:ln w="1524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66928" y="6291072"/>
            <a:ext cx="497897" cy="9722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064825" y="6290794"/>
            <a:ext cx="508219" cy="10000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573044" y="6290794"/>
            <a:ext cx="512771" cy="7837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085815" y="6288451"/>
            <a:ext cx="491498" cy="10180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577313" y="6282724"/>
            <a:ext cx="515255" cy="5727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92568" y="6282724"/>
            <a:ext cx="490976" cy="1638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583544" y="6272000"/>
            <a:ext cx="514614" cy="12362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098158" y="6272000"/>
            <a:ext cx="486508" cy="17408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584666" y="6282701"/>
            <a:ext cx="507413" cy="6707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092079" y="6273487"/>
            <a:ext cx="513390" cy="9214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605469" y="6273487"/>
            <a:ext cx="505512" cy="9699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6110981" y="6272334"/>
            <a:ext cx="483217" cy="10852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594198" y="6272334"/>
            <a:ext cx="514617" cy="535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108815" y="6262722"/>
            <a:ext cx="492415" cy="10147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601230" y="6262722"/>
            <a:ext cx="508931" cy="6604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110161" y="6253806"/>
            <a:ext cx="494462" cy="15520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604623" y="6253806"/>
            <a:ext cx="515962" cy="524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120585" y="6254330"/>
            <a:ext cx="486405" cy="4603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606990" y="6258933"/>
            <a:ext cx="518321" cy="9794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0125311" y="6248720"/>
            <a:ext cx="498999" cy="20007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624310" y="6244190"/>
            <a:ext cx="493239" cy="4530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1117549" y="6243559"/>
            <a:ext cx="512221" cy="631"/>
          </a:xfrm>
          <a:prstGeom prst="line">
            <a:avLst/>
          </a:prstGeom>
          <a:ln w="12700">
            <a:solidFill>
              <a:srgbClr val="604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58368" y="566928"/>
            <a:ext cx="9966960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>
                <a:solidFill>
                  <a:srgbClr val="2B261F"/>
                </a:solidFill>
                <a:latin typeface="Microsoft YaHei"/>
              </a:rPr>
              <a:t>结论：思考的真正转向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" y="1298448"/>
            <a:ext cx="10424160" cy="7498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8F3D2D"/>
                </a:solidFill>
                <a:latin typeface="Microsoft YaHei"/>
              </a:rPr>
              <a:t>更多聚焦问题定义、边界设定、取舍权衡与责任承担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32688" y="2303373"/>
            <a:ext cx="18862" cy="32203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51550" y="2335576"/>
            <a:ext cx="9199" cy="8830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60749" y="2344406"/>
            <a:ext cx="44101" cy="32270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04850" y="2376676"/>
            <a:ext cx="3294" cy="6507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013155" y="2355620"/>
            <a:ext cx="51260" cy="38279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064415" y="2319897"/>
            <a:ext cx="26264" cy="35723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090679" y="2281896"/>
            <a:ext cx="38939" cy="38001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129618" y="2237039"/>
            <a:ext cx="33593" cy="44857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163211" y="2212673"/>
            <a:ext cx="51580" cy="24366"/>
          </a:xfrm>
          <a:prstGeom prst="line">
            <a:avLst/>
          </a:prstGeom>
          <a:ln w="25400">
            <a:solidFill>
              <a:srgbClr val="305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444752" y="2157984"/>
            <a:ext cx="95554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2B261F"/>
                </a:solidFill>
                <a:latin typeface="Microsoft YaHei"/>
              </a:rPr>
              <a:t>人类仍需思考，但应减少机械步骤浪费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32688" y="2926080"/>
            <a:ext cx="33749" cy="2146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66437" y="2928226"/>
            <a:ext cx="52100" cy="17708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018537" y="2943516"/>
            <a:ext cx="47290" cy="2418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065827" y="2938504"/>
            <a:ext cx="50377" cy="5012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116204" y="2938504"/>
            <a:ext cx="31026" cy="8458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147230" y="2946962"/>
            <a:ext cx="42780" cy="17892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190010" y="2958805"/>
            <a:ext cx="53382" cy="6049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243392" y="2958805"/>
            <a:ext cx="38890" cy="15519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1253925" y="2937983"/>
            <a:ext cx="20748" cy="28330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1214479" y="2915527"/>
            <a:ext cx="39446" cy="22456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1197793" y="2876100"/>
            <a:ext cx="16686" cy="39427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1244818" y="2966313"/>
            <a:ext cx="29855" cy="18765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1224588" y="2985078"/>
            <a:ext cx="20230" cy="22508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1186413" y="3007586"/>
            <a:ext cx="38175" cy="48950"/>
          </a:xfrm>
          <a:prstGeom prst="line">
            <a:avLst/>
          </a:prstGeom>
          <a:ln w="21590">
            <a:solidFill>
              <a:srgbClr val="5B6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1444752" y="2871216"/>
            <a:ext cx="95554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2B261F"/>
                </a:solidFill>
                <a:latin typeface="Microsoft YaHei"/>
              </a:rPr>
              <a:t>更多聚焦问题定义、边界设定、取舍权衡与责任承担</a:t>
            </a:r>
          </a:p>
        </p:txBody>
      </p:sp>
      <p:sp>
        <p:nvSpPr>
          <p:cNvPr id="74" name="Oval 73"/>
          <p:cNvSpPr/>
          <p:nvPr/>
        </p:nvSpPr>
        <p:spPr>
          <a:xfrm>
            <a:off x="10561320" y="5029200"/>
            <a:ext cx="480060" cy="594360"/>
          </a:xfrm>
          <a:prstGeom prst="ellipse">
            <a:avLst/>
          </a:prstGeom>
          <a:noFill/>
          <a:ln w="19050">
            <a:solidFill>
              <a:srgbClr val="8F3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 flipV="1">
            <a:off x="10709910" y="5638448"/>
            <a:ext cx="52669" cy="7972"/>
          </a:xfrm>
          <a:prstGeom prst="line">
            <a:avLst/>
          </a:prstGeom>
          <a:ln w="16510">
            <a:solidFill>
              <a:srgbClr val="8F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0762579" y="5638448"/>
            <a:ext cx="78523" cy="17805"/>
          </a:xfrm>
          <a:prstGeom prst="line">
            <a:avLst/>
          </a:prstGeom>
          <a:ln w="16510">
            <a:solidFill>
              <a:srgbClr val="8F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0841102" y="5656253"/>
            <a:ext cx="60724" cy="2523"/>
          </a:xfrm>
          <a:prstGeom prst="line">
            <a:avLst/>
          </a:prstGeom>
          <a:ln w="16510">
            <a:solidFill>
              <a:srgbClr val="8F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767060" y="5758731"/>
            <a:ext cx="71262" cy="1989"/>
          </a:xfrm>
          <a:prstGeom prst="line">
            <a:avLst/>
          </a:prstGeom>
          <a:ln w="16510">
            <a:solidFill>
              <a:srgbClr val="8F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0838322" y="5758731"/>
            <a:ext cx="51456" cy="13307"/>
          </a:xfrm>
          <a:prstGeom prst="line">
            <a:avLst/>
          </a:prstGeom>
          <a:ln w="16510">
            <a:solidFill>
              <a:srgbClr val="8F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889778" y="5750235"/>
            <a:ext cx="55679" cy="21803"/>
          </a:xfrm>
          <a:prstGeom prst="line">
            <a:avLst/>
          </a:prstGeom>
          <a:ln w="16510">
            <a:solidFill>
              <a:srgbClr val="8F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10561320" y="438912"/>
            <a:ext cx="8686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604C36"/>
                </a:solidFill>
                <a:latin typeface="Courier New"/>
              </a:rPr>
              <a:t>20/20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时代的人类思考转变</dc:title>
  <dc:subject>20-page vintage paper presentation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