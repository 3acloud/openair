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5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960120"/>
          </a:xfrm>
          <a:prstGeom prst="rect">
            <a:avLst/>
          </a:prstGeom>
          <a:solidFill>
            <a:srgbClr val="0A0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254616" y="378417"/>
            <a:ext cx="18288" cy="18288"/>
          </a:xfrm>
          <a:prstGeom prst="ellipse">
            <a:avLst/>
          </a:prstGeom>
          <a:solidFill>
            <a:srgbClr val="F5D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60356" y="5940700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49875" y="431360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396455" y="4889534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57691" y="5665922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515138" y="2357808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00183" y="2842999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831311" y="2814416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38609" y="6808692"/>
            <a:ext cx="29260" cy="29260"/>
          </a:xfrm>
          <a:prstGeom prst="ellipse">
            <a:avLst/>
          </a:prstGeom>
          <a:solidFill>
            <a:srgbClr val="F5D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669819" y="5888010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060338" y="3142307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990640" y="5018541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192822" y="541140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4234683" y="6869856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049040" y="5152737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376992" y="1820831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818302" y="1520862"/>
            <a:ext cx="14630" cy="14630"/>
          </a:xfrm>
          <a:prstGeom prst="ellipse">
            <a:avLst/>
          </a:prstGeom>
          <a:solidFill>
            <a:srgbClr val="F5D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703099" y="2293364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905397" y="6772397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881156" y="6476824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8955" y="7321887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107924" y="4085929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860471" y="2111043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04063" y="3532427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259120" y="7980092"/>
            <a:ext cx="14630" cy="14630"/>
          </a:xfrm>
          <a:prstGeom prst="ellipse">
            <a:avLst/>
          </a:prstGeom>
          <a:solidFill>
            <a:srgbClr val="F5D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354979" y="551241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082072" y="6375451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587061" y="4841607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4030996" y="6912559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863576" y="4380978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652272" y="3581926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3782386" y="7030403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357249" y="1014812"/>
            <a:ext cx="18288" cy="18288"/>
          </a:xfrm>
          <a:prstGeom prst="ellipse">
            <a:avLst/>
          </a:prstGeom>
          <a:solidFill>
            <a:srgbClr val="F5D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246880" y="6144280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671600" y="4002858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2700896" y="6684940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79946" y="7047264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586506" y="6562647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894788" y="3898694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863012" y="7003666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3423746" y="6087633"/>
            <a:ext cx="14630" cy="14630"/>
          </a:xfrm>
          <a:prstGeom prst="ellipse">
            <a:avLst/>
          </a:prstGeom>
          <a:solidFill>
            <a:srgbClr val="F5D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791927" y="5434209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3001782" y="3712652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967808" y="347328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520316" y="239098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016406" y="428470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7450493" y="2360048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7811659" y="5838137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3545317" y="3880639"/>
            <a:ext cx="23774" cy="23774"/>
          </a:xfrm>
          <a:prstGeom prst="ellipse">
            <a:avLst/>
          </a:prstGeom>
          <a:solidFill>
            <a:srgbClr val="F5D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404181" y="5334886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966332" y="6936459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918651" y="5876141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2804961" y="4375626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2688277" y="3799761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1682694" y="6874931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9437780" y="4409261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3387072" y="6818085"/>
            <a:ext cx="14630" cy="14630"/>
          </a:xfrm>
          <a:prstGeom prst="ellipse">
            <a:avLst/>
          </a:prstGeom>
          <a:solidFill>
            <a:srgbClr val="F5D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039826" y="1853982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2416790" y="199731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3389247" y="6321115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0077891" y="5894058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2275072" y="2502577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0817914" y="629804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7287670" y="6849546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3882665" y="809201"/>
            <a:ext cx="14630" cy="14630"/>
          </a:xfrm>
          <a:prstGeom prst="ellipse">
            <a:avLst/>
          </a:prstGeom>
          <a:solidFill>
            <a:srgbClr val="F5D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615296" y="5461772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1772303" y="7143253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8965928" y="3460430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13507172" y="1779802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871047" y="1206102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4599240" y="6061046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6645856" y="7988916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7788623" y="4137947"/>
            <a:ext cx="14630" cy="14630"/>
          </a:xfrm>
          <a:prstGeom prst="ellipse">
            <a:avLst/>
          </a:prstGeom>
          <a:solidFill>
            <a:srgbClr val="F5D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12731749" y="7057120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2317558" y="6701198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9664152" y="4518827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3854505" y="7138760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3968024" y="4911512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9946916" y="6851054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3662318" y="7282976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9180557" y="6666822"/>
            <a:ext cx="10972" cy="10972"/>
          </a:xfrm>
          <a:prstGeom prst="ellipse">
            <a:avLst/>
          </a:prstGeom>
          <a:solidFill>
            <a:srgbClr val="F5D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4849534" y="1205643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0720779" y="4495983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656905" y="7571401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12065390" y="4737009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1881164" y="2592880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3071200" y="2133733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11280798" y="7095151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13378385" y="2033720"/>
            <a:ext cx="14630" cy="14630"/>
          </a:xfrm>
          <a:prstGeom prst="ellipse">
            <a:avLst/>
          </a:prstGeom>
          <a:solidFill>
            <a:srgbClr val="F5D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12739699" y="376662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1599350" y="6938236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2338455" y="5665557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12411008" y="1921893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4441017" y="6400986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386530" y="1692791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594360" y="749808"/>
            <a:ext cx="13441680" cy="203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 rot="20520000">
            <a:off x="7315200" y="3703320"/>
            <a:ext cx="5303520" cy="1371600"/>
          </a:xfrm>
          <a:prstGeom prst="ellipse">
            <a:avLst/>
          </a:prstGeom>
          <a:noFill/>
          <a:ln w="1778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 rot="20520000">
            <a:off x="7680960" y="3909060"/>
            <a:ext cx="4572000" cy="960120"/>
          </a:xfrm>
          <a:prstGeom prst="ellipse">
            <a:avLst/>
          </a:prstGeom>
          <a:noFill/>
          <a:ln w="1778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 rot="20520000">
            <a:off x="8138160" y="4069080"/>
            <a:ext cx="3657600" cy="640080"/>
          </a:xfrm>
          <a:prstGeom prst="ellipse">
            <a:avLst/>
          </a:prstGeom>
          <a:noFill/>
          <a:ln w="1778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 rot="20520000">
            <a:off x="8686800" y="4197096"/>
            <a:ext cx="2560320" cy="384048"/>
          </a:xfrm>
          <a:prstGeom prst="ellipse">
            <a:avLst/>
          </a:prstGeom>
          <a:noFill/>
          <a:ln w="1778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9802368" y="4224528"/>
            <a:ext cx="329184" cy="329184"/>
          </a:xfrm>
          <a:prstGeom prst="ellipse">
            <a:avLst/>
          </a:prstGeom>
          <a:solidFill>
            <a:srgbClr val="F5D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822960" y="2240280"/>
            <a:ext cx="5120640" cy="822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4400" b="1">
                <a:solidFill>
                  <a:srgbClr val="F0F1EB"/>
                </a:solidFill>
                <a:latin typeface="Microsoft YaHei UI"/>
              </a:rPr>
              <a:t>银河系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68680" y="3127248"/>
            <a:ext cx="566928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5DE8C"/>
                </a:solidFill>
                <a:latin typeface="Microsoft YaHei UI"/>
              </a:rPr>
              <a:t>Milky Way Strategic Briefing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77824" y="3794760"/>
            <a:ext cx="621792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900" b="0">
                <a:solidFill>
                  <a:srgbClr val="AAABA6"/>
                </a:solidFill>
                <a:latin typeface="Microsoft YaHei"/>
              </a:rPr>
              <a:t>从结构、组成、演化与观测四个维度，建立对人类所在星系的高层认知框架。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96112" y="7114032"/>
            <a:ext cx="38404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AAABA6"/>
                </a:solidFill>
                <a:latin typeface="Microsoft YaHei"/>
              </a:rPr>
              <a:t>高端天文科普演示文稿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5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960120"/>
          </a:xfrm>
          <a:prstGeom prst="rect">
            <a:avLst/>
          </a:prstGeom>
          <a:solidFill>
            <a:srgbClr val="0A0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2493958" y="7742135"/>
            <a:ext cx="18288" cy="18288"/>
          </a:xfrm>
          <a:prstGeom prst="ellipse">
            <a:avLst/>
          </a:prstGeom>
          <a:solidFill>
            <a:srgbClr val="F5D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84211" y="3307613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572425" y="1084635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07257" y="7872396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37419" y="2885503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6218" y="4181246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714182" y="5724248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291164" y="729943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599693" y="1157215"/>
            <a:ext cx="18288" cy="18288"/>
          </a:xfrm>
          <a:prstGeom prst="ellipse">
            <a:avLst/>
          </a:prstGeom>
          <a:solidFill>
            <a:srgbClr val="F5D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50178" y="2733017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08562" y="5381378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910242" y="2535742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22066" y="1826113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742386" y="3639738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476938" y="7686961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132755" y="5372968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390663" y="7625727"/>
            <a:ext cx="14630" cy="14630"/>
          </a:xfrm>
          <a:prstGeom prst="ellipse">
            <a:avLst/>
          </a:prstGeom>
          <a:solidFill>
            <a:srgbClr val="F5D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280949" y="1739701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571893" y="3897552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014416" y="5106461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65641" y="2090379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256375" y="1893806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68955" y="2131142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966043" y="3815516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3728000" y="7152154"/>
            <a:ext cx="29260" cy="29260"/>
          </a:xfrm>
          <a:prstGeom prst="ellipse">
            <a:avLst/>
          </a:prstGeom>
          <a:solidFill>
            <a:srgbClr val="F5D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2007411" y="4466208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527534" y="6060361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072025" y="2329715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422849" y="2808576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038555" y="1990909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70731" y="3369540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033617" y="1799936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3077022" y="4749282"/>
            <a:ext cx="10972" cy="10972"/>
          </a:xfrm>
          <a:prstGeom prst="ellipse">
            <a:avLst/>
          </a:prstGeom>
          <a:solidFill>
            <a:srgbClr val="F5D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915086" y="7553347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2336906" y="7636912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077103" y="2316721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645963" y="5412214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2150514" y="7371966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3107128" y="4810368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302471" y="1243794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69909" y="3146759"/>
            <a:ext cx="14630" cy="14630"/>
          </a:xfrm>
          <a:prstGeom prst="ellipse">
            <a:avLst/>
          </a:prstGeom>
          <a:solidFill>
            <a:srgbClr val="F5D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752887" y="6134265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876015" y="6686963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818984" y="6038841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274922" y="719346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3721838" y="1741505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3481196" y="3885237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743046" y="2186223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8771665" y="7717473"/>
            <a:ext cx="10972" cy="10972"/>
          </a:xfrm>
          <a:prstGeom prst="ellipse">
            <a:avLst/>
          </a:prstGeom>
          <a:solidFill>
            <a:srgbClr val="F5D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3939435" y="1028008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8338229" y="7281937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3604591" y="1733445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513282" y="6222228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1512825" y="4607408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718210" y="5354733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227933" y="3466949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289237" y="3014509"/>
            <a:ext cx="23774" cy="23774"/>
          </a:xfrm>
          <a:prstGeom prst="ellipse">
            <a:avLst/>
          </a:prstGeom>
          <a:solidFill>
            <a:srgbClr val="F5D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317518" y="5919779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740739" y="6638572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4687486" y="2102190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2742795" y="2089433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4890436" y="4047427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7067316" y="2956944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4073305" y="4843691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486082" y="1676582"/>
            <a:ext cx="14630" cy="14630"/>
          </a:xfrm>
          <a:prstGeom prst="ellipse">
            <a:avLst/>
          </a:prstGeom>
          <a:solidFill>
            <a:srgbClr val="F5D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7082120" y="6110302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6500240" y="317689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5869824" y="2085068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6861522" y="4333691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5112424" y="3730314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365882" y="5821967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744544" y="7616954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3162048" y="3968402"/>
            <a:ext cx="29260" cy="29260"/>
          </a:xfrm>
          <a:prstGeom prst="ellipse">
            <a:avLst/>
          </a:prstGeom>
          <a:solidFill>
            <a:srgbClr val="F5D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14166837" y="6692468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5243056" y="2546044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3996296" y="7800034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0089785" y="1170148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2614455" y="4670982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6389263" y="1624257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3598729" y="3917824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7127755" y="4694100"/>
            <a:ext cx="10972" cy="10972"/>
          </a:xfrm>
          <a:prstGeom prst="ellipse">
            <a:avLst/>
          </a:prstGeom>
          <a:solidFill>
            <a:srgbClr val="F5D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2194433" y="4583227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4359930" y="1108948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1217103" y="3156721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12433668" y="7923063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8825502" y="5968987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3857100" y="817613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7995401" y="1406670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9973905" y="3856712"/>
            <a:ext cx="10972" cy="10972"/>
          </a:xfrm>
          <a:prstGeom prst="ellipse">
            <a:avLst/>
          </a:prstGeom>
          <a:solidFill>
            <a:srgbClr val="F5D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4194948" y="2393206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9945300" y="7406127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6168486" y="4440334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11950696" y="741170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8615425" y="6626889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836636" y="5567047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594360" y="749808"/>
            <a:ext cx="13441680" cy="203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58368" y="292608"/>
            <a:ext cx="43891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>
                <a:solidFill>
                  <a:srgbClr val="F5DE8C"/>
                </a:solidFill>
                <a:latin typeface="Microsoft YaHei UI"/>
              </a:rPr>
              <a:t>EXECUTIVE OVERVIEW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40080" y="475488"/>
            <a:ext cx="11430000" cy="5669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0F1EB"/>
                </a:solidFill>
                <a:latin typeface="Microsoft YaHei UI"/>
              </a:rPr>
              <a:t>核心结论总览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731520" y="1508760"/>
            <a:ext cx="6080760" cy="1874519"/>
          </a:xfrm>
          <a:prstGeom prst="roundRect">
            <a:avLst/>
          </a:prstGeom>
          <a:solidFill>
            <a:srgbClr val="0E1016"/>
          </a:solidFill>
          <a:ln w="12700">
            <a:solidFill>
              <a:srgbClr val="7458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60120" y="1709928"/>
            <a:ext cx="50292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700" b="1">
                <a:solidFill>
                  <a:srgbClr val="D4AF37"/>
                </a:solidFill>
                <a:latin typeface="Microsoft YaHei UI"/>
              </a:rPr>
              <a:t>01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508760" y="1728216"/>
            <a:ext cx="512064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5DE8C"/>
                </a:solidFill>
                <a:latin typeface="Microsoft YaHei UI"/>
              </a:rPr>
              <a:t>身份定位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87552" y="2221991"/>
            <a:ext cx="5568696" cy="101498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F0F1EB"/>
                </a:solidFill>
                <a:latin typeface="Microsoft YaHei"/>
              </a:rPr>
              <a:t>银河系是包含太阳系的棒旋星系，是理解恒星、行星系统与暗物质分布的关键样本。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7360920" y="1508760"/>
            <a:ext cx="6080760" cy="1874519"/>
          </a:xfrm>
          <a:prstGeom prst="roundRect">
            <a:avLst/>
          </a:prstGeom>
          <a:solidFill>
            <a:srgbClr val="0E1016"/>
          </a:solidFill>
          <a:ln w="12700">
            <a:solidFill>
              <a:srgbClr val="7458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7589520" y="1709928"/>
            <a:ext cx="50292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700" b="1">
                <a:solidFill>
                  <a:srgbClr val="D4AF37"/>
                </a:solidFill>
                <a:latin typeface="Microsoft YaHei UI"/>
              </a:rPr>
              <a:t>02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138160" y="1728216"/>
            <a:ext cx="512064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5DE8C"/>
                </a:solidFill>
                <a:latin typeface="Microsoft YaHei UI"/>
              </a:rPr>
              <a:t>规模基准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616952" y="2221991"/>
            <a:ext cx="5568696" cy="101498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F0F1EB"/>
                </a:solidFill>
                <a:latin typeface="Microsoft YaHei"/>
              </a:rPr>
              <a:t>直径约10万光年，包含约1000亿至4000亿颗恒星，中心存在超大质量黑洞人马座A*。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731520" y="3931920"/>
            <a:ext cx="6080760" cy="1874519"/>
          </a:xfrm>
          <a:prstGeom prst="roundRect">
            <a:avLst/>
          </a:prstGeom>
          <a:solidFill>
            <a:srgbClr val="0E1016"/>
          </a:solidFill>
          <a:ln w="12700">
            <a:solidFill>
              <a:srgbClr val="7458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960120" y="4133087"/>
            <a:ext cx="50292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700" b="1">
                <a:solidFill>
                  <a:srgbClr val="D4AF37"/>
                </a:solidFill>
                <a:latin typeface="Microsoft YaHei UI"/>
              </a:rPr>
              <a:t>03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508760" y="4151376"/>
            <a:ext cx="512064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5DE8C"/>
                </a:solidFill>
                <a:latin typeface="Microsoft YaHei UI"/>
              </a:rPr>
              <a:t>结构逻辑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87552" y="4645152"/>
            <a:ext cx="5568696" cy="101498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F0F1EB"/>
                </a:solidFill>
                <a:latin typeface="Microsoft YaHei"/>
              </a:rPr>
              <a:t>盘状结构、中央棒核、螺旋臂与暗物质晕共同塑造星系稳定性和物质循环。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7360920" y="3931920"/>
            <a:ext cx="6080760" cy="1874519"/>
          </a:xfrm>
          <a:prstGeom prst="roundRect">
            <a:avLst/>
          </a:prstGeom>
          <a:solidFill>
            <a:srgbClr val="0E1016"/>
          </a:solidFill>
          <a:ln w="12700">
            <a:solidFill>
              <a:srgbClr val="7458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589520" y="4133087"/>
            <a:ext cx="50292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700" b="1">
                <a:solidFill>
                  <a:srgbClr val="D4AF37"/>
                </a:solidFill>
                <a:latin typeface="Microsoft YaHei UI"/>
              </a:rPr>
              <a:t>04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138160" y="4151376"/>
            <a:ext cx="512064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5DE8C"/>
                </a:solidFill>
                <a:latin typeface="Microsoft YaHei UI"/>
              </a:rPr>
              <a:t>未来走向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616952" y="4645152"/>
            <a:ext cx="5568696" cy="101498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F0F1EB"/>
                </a:solidFill>
                <a:latin typeface="Microsoft YaHei"/>
              </a:rPr>
              <a:t>银河系正接近仙女座星系，约50亿年尺度上可能发生大规模合并。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5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960120"/>
          </a:xfrm>
          <a:prstGeom prst="rect">
            <a:avLst/>
          </a:prstGeom>
          <a:solidFill>
            <a:srgbClr val="0A0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253420" y="4043430"/>
            <a:ext cx="10972" cy="10972"/>
          </a:xfrm>
          <a:prstGeom prst="ellipse">
            <a:avLst/>
          </a:prstGeom>
          <a:solidFill>
            <a:srgbClr val="F5D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2855010" y="5925554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18221" y="1972638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4441362" y="5438858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035863" y="1552542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238817" y="1601783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87762" y="4027251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056985" y="2788725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795486" y="5606104"/>
            <a:ext cx="18288" cy="18288"/>
          </a:xfrm>
          <a:prstGeom prst="ellipse">
            <a:avLst/>
          </a:prstGeom>
          <a:solidFill>
            <a:srgbClr val="F5D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762535" y="4483601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75333" y="2710273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517213" y="4424941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747246" y="3011314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990951" y="1774322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405877" y="3608124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61491" y="5108469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521081" y="289788"/>
            <a:ext cx="23774" cy="23774"/>
          </a:xfrm>
          <a:prstGeom prst="ellipse">
            <a:avLst/>
          </a:prstGeom>
          <a:solidFill>
            <a:srgbClr val="F5D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281813" y="6761090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685099" y="5246752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3477602" y="2464688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2067247" y="7846550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984929" y="3181801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2489263" y="2342615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3500578" y="4152434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502161" y="6730367"/>
            <a:ext cx="29260" cy="29260"/>
          </a:xfrm>
          <a:prstGeom prst="ellipse">
            <a:avLst/>
          </a:prstGeom>
          <a:solidFill>
            <a:srgbClr val="F5D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2507030" y="3674041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833453" y="6147110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3480471" y="6981530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409439" y="6246179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770814" y="5696436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4280660" y="6377908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3940928" y="1169888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2570969" y="7017405"/>
            <a:ext cx="23774" cy="23774"/>
          </a:xfrm>
          <a:prstGeom prst="ellipse">
            <a:avLst/>
          </a:prstGeom>
          <a:solidFill>
            <a:srgbClr val="F5D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620362" y="3755198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2588722" y="7766118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1301090" y="2254859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404537" y="6842083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3787047" y="5083271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938247" y="2018341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800499" y="3575721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435489" y="5608664"/>
            <a:ext cx="10972" cy="10972"/>
          </a:xfrm>
          <a:prstGeom prst="ellipse">
            <a:avLst/>
          </a:prstGeom>
          <a:solidFill>
            <a:srgbClr val="F5D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717299" y="621626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248384" y="2092044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2493790" y="800264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213024" y="4742072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232694" y="3775857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3024757" y="5480523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407423" y="2884553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247587" y="3500178"/>
            <a:ext cx="18288" cy="18288"/>
          </a:xfrm>
          <a:prstGeom prst="ellipse">
            <a:avLst/>
          </a:prstGeom>
          <a:solidFill>
            <a:srgbClr val="F5D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2219618" y="1740382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581719" y="3164431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4342272" y="2491029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62345" y="6946080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2040099" y="7242133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3199779" y="1669354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9093623" y="7245798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1403130" y="443727"/>
            <a:ext cx="18288" cy="18288"/>
          </a:xfrm>
          <a:prstGeom prst="ellipse">
            <a:avLst/>
          </a:prstGeom>
          <a:solidFill>
            <a:srgbClr val="F5D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343802" y="2490088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2937526" y="6331931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2006020" y="2191902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0797518" y="2830996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3913116" y="1283335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3976145" y="6473242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1432963" y="291697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6595457" y="5443133"/>
            <a:ext cx="18288" cy="18288"/>
          </a:xfrm>
          <a:prstGeom prst="ellipse">
            <a:avLst/>
          </a:prstGeom>
          <a:solidFill>
            <a:srgbClr val="F5D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11890009" y="7534194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6835835" y="5026571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13227052" y="1913555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13142538" y="2545439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2058760" y="7580866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718063" y="2018574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5642919" y="3083492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8504478" y="5863519"/>
            <a:ext cx="23774" cy="23774"/>
          </a:xfrm>
          <a:prstGeom prst="ellipse">
            <a:avLst/>
          </a:prstGeom>
          <a:solidFill>
            <a:srgbClr val="F5D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12052401" y="4996122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9987004" y="1881520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2365742" y="959646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917750" y="2339754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365982" y="1841148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774141" y="2790294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33829" y="6164972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1755146" y="2004491"/>
            <a:ext cx="14630" cy="14630"/>
          </a:xfrm>
          <a:prstGeom prst="ellipse">
            <a:avLst/>
          </a:prstGeom>
          <a:solidFill>
            <a:srgbClr val="F5D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4038976" y="7876130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1545756" y="1042297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259735" y="6359074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272996" y="2257555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7622298" y="6012580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11250565" y="4195435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7301904" y="7574252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6642356" y="7719752"/>
            <a:ext cx="10972" cy="10972"/>
          </a:xfrm>
          <a:prstGeom prst="ellipse">
            <a:avLst/>
          </a:prstGeom>
          <a:solidFill>
            <a:srgbClr val="F5D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12248344" y="3515538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0305581" y="3650703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8806297" y="696391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5531428" y="4853361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7326565" y="3546229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6239501" y="7126082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594360" y="749808"/>
            <a:ext cx="13441680" cy="203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58368" y="292608"/>
            <a:ext cx="43891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>
                <a:solidFill>
                  <a:srgbClr val="F5DE8C"/>
                </a:solidFill>
                <a:latin typeface="Microsoft YaHei UI"/>
              </a:rPr>
              <a:t>BASELINE FACTS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40080" y="475488"/>
            <a:ext cx="11430000" cy="5669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0F1EB"/>
                </a:solidFill>
                <a:latin typeface="Microsoft YaHei UI"/>
              </a:rPr>
              <a:t>基本事实：以数据建立尺度感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777240" y="1920240"/>
            <a:ext cx="2971800" cy="1920240"/>
          </a:xfrm>
          <a:prstGeom prst="roundRect">
            <a:avLst/>
          </a:prstGeom>
          <a:solidFill>
            <a:srgbClr val="0F1116"/>
          </a:solidFill>
          <a:ln>
            <a:solidFill>
              <a:srgbClr val="7458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78408" y="2331720"/>
            <a:ext cx="260604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300" b="1">
                <a:solidFill>
                  <a:srgbClr val="F5DE8C"/>
                </a:solidFill>
                <a:latin typeface="Microsoft YaHei UI"/>
              </a:rPr>
              <a:t>10万光年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05840" y="2907792"/>
            <a:ext cx="251460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AAABA6"/>
                </a:solidFill>
                <a:latin typeface="Microsoft YaHei"/>
              </a:rPr>
              <a:t>银河系直径约值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4233672" y="1920240"/>
            <a:ext cx="2971800" cy="1920240"/>
          </a:xfrm>
          <a:prstGeom prst="roundRect">
            <a:avLst/>
          </a:prstGeom>
          <a:solidFill>
            <a:srgbClr val="0F1116"/>
          </a:solidFill>
          <a:ln>
            <a:solidFill>
              <a:srgbClr val="7458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434840" y="2331720"/>
            <a:ext cx="260604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300" b="1">
                <a:solidFill>
                  <a:srgbClr val="F5DE8C"/>
                </a:solidFill>
                <a:latin typeface="Microsoft YaHei UI"/>
              </a:rPr>
              <a:t>1000亿-4000亿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462272" y="2907792"/>
            <a:ext cx="251460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AAABA6"/>
                </a:solidFill>
                <a:latin typeface="Microsoft YaHei"/>
              </a:rPr>
              <a:t>恒星数量估计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7690104" y="1920240"/>
            <a:ext cx="2971800" cy="1920240"/>
          </a:xfrm>
          <a:prstGeom prst="roundRect">
            <a:avLst/>
          </a:prstGeom>
          <a:solidFill>
            <a:srgbClr val="0F1116"/>
          </a:solidFill>
          <a:ln>
            <a:solidFill>
              <a:srgbClr val="7458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891272" y="2331720"/>
            <a:ext cx="260604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300" b="1">
                <a:solidFill>
                  <a:srgbClr val="F5DE8C"/>
                </a:solidFill>
                <a:latin typeface="Microsoft YaHei UI"/>
              </a:rPr>
              <a:t>2.6万光年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918704" y="2907792"/>
            <a:ext cx="251460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AAABA6"/>
                </a:solidFill>
                <a:latin typeface="Microsoft YaHei"/>
              </a:rPr>
              <a:t>太阳系距银心约值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11146536" y="1920240"/>
            <a:ext cx="2971800" cy="1920240"/>
          </a:xfrm>
          <a:prstGeom prst="roundRect">
            <a:avLst/>
          </a:prstGeom>
          <a:solidFill>
            <a:srgbClr val="0F1116"/>
          </a:solidFill>
          <a:ln>
            <a:solidFill>
              <a:srgbClr val="7458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11347704" y="2331720"/>
            <a:ext cx="260604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300" b="1">
                <a:solidFill>
                  <a:srgbClr val="F5DE8C"/>
                </a:solidFill>
                <a:latin typeface="Microsoft YaHei UI"/>
              </a:rPr>
              <a:t>250万光年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1375136" y="2907792"/>
            <a:ext cx="251460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AAABA6"/>
                </a:solidFill>
                <a:latin typeface="Microsoft YaHei"/>
              </a:rPr>
              <a:t>至仙女座星系约距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097280" y="4736592"/>
            <a:ext cx="1243584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D4AF37"/>
                </a:solidFill>
                <a:latin typeface="Microsoft YaHei"/>
              </a:rPr>
              <a:t>•  </a:t>
            </a:r>
            <a:r>
              <a:rPr sz="1800">
                <a:solidFill>
                  <a:srgbClr val="F0F1EB"/>
                </a:solidFill>
                <a:latin typeface="Microsoft YaHei"/>
              </a:rPr>
              <a:t>银河系位于本星系群，是人类观测宇宙结构和星系演化的基础参照。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D4AF37"/>
                </a:solidFill>
                <a:latin typeface="Microsoft YaHei"/>
              </a:rPr>
              <a:t>•  </a:t>
            </a:r>
            <a:r>
              <a:rPr sz="1800">
                <a:solidFill>
                  <a:srgbClr val="F0F1EB"/>
                </a:solidFill>
                <a:latin typeface="Microsoft YaHei"/>
              </a:rPr>
              <a:t>地球处于猎户臂附近，无法从外部直接拍摄银河系全貌，现代认知主要依赖多波段观测与测绘模型。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D4AF37"/>
                </a:solidFill>
                <a:latin typeface="Microsoft YaHei"/>
              </a:rPr>
              <a:t>•  </a:t>
            </a:r>
            <a:r>
              <a:rPr sz="1800">
                <a:solidFill>
                  <a:srgbClr val="F0F1EB"/>
                </a:solidFill>
                <a:latin typeface="Microsoft YaHei"/>
              </a:rPr>
              <a:t>银心方向被星际尘埃遮挡，红外、射电和空间望远镜数据对研究中心区域尤为关键。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5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960120"/>
          </a:xfrm>
          <a:prstGeom prst="rect">
            <a:avLst/>
          </a:prstGeom>
          <a:solidFill>
            <a:srgbClr val="0A0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962046" y="3300200"/>
            <a:ext cx="10972" cy="10972"/>
          </a:xfrm>
          <a:prstGeom prst="ellipse">
            <a:avLst/>
          </a:prstGeom>
          <a:solidFill>
            <a:srgbClr val="F5D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191889" y="5382773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37179" y="3890763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88401" y="937832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058460" y="4767934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95117" y="3394631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92403" y="4876958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368786" y="1846097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248002" y="2920113"/>
            <a:ext cx="29260" cy="29260"/>
          </a:xfrm>
          <a:prstGeom prst="ellipse">
            <a:avLst/>
          </a:prstGeom>
          <a:solidFill>
            <a:srgbClr val="F5D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700275" y="2360759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2217475" y="7802002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816342" y="5325883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644036" y="5676663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101089" y="1601130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47875" y="5975865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791072" y="1864814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955235" y="3075999"/>
            <a:ext cx="18288" cy="18288"/>
          </a:xfrm>
          <a:prstGeom prst="ellipse">
            <a:avLst/>
          </a:prstGeom>
          <a:solidFill>
            <a:srgbClr val="F5D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2767437" y="1399222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752082" y="2310212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788707" y="3421018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016830" y="1049829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634519" y="2594139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23509" y="611171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3660088" y="6182110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771272" y="243313"/>
            <a:ext cx="23774" cy="23774"/>
          </a:xfrm>
          <a:prstGeom prst="ellipse">
            <a:avLst/>
          </a:prstGeom>
          <a:solidFill>
            <a:srgbClr val="F5D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906226" y="4346672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83736" y="6920257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15631" y="7384638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303707" y="5729828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704423" y="345939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586201" y="5015457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335155" y="1010530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591723" y="3277031"/>
            <a:ext cx="18288" cy="18288"/>
          </a:xfrm>
          <a:prstGeom prst="ellipse">
            <a:avLst/>
          </a:prstGeom>
          <a:solidFill>
            <a:srgbClr val="F5D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236756" y="6274116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687384" y="1698842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521288" y="6585518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526290" y="2184070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994188" y="5307728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727479" y="4590231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855268" y="7078838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2492430" y="5086540"/>
            <a:ext cx="14630" cy="14630"/>
          </a:xfrm>
          <a:prstGeom prst="ellipse">
            <a:avLst/>
          </a:prstGeom>
          <a:solidFill>
            <a:srgbClr val="F5D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29165" y="3640115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563229" y="2934406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695642" y="476897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150784" y="6939690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709600" y="4516591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3137675" y="4652160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758893" y="4102629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536333" y="7212361"/>
            <a:ext cx="18288" cy="18288"/>
          </a:xfrm>
          <a:prstGeom prst="ellipse">
            <a:avLst/>
          </a:prstGeom>
          <a:solidFill>
            <a:srgbClr val="F5D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312133" y="1531966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4317702" y="4280110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286505" y="7359419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1199406" y="5490583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994969" y="921738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3674912" y="6840527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4846733" y="4738807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4513615" y="5311994"/>
            <a:ext cx="23774" cy="23774"/>
          </a:xfrm>
          <a:prstGeom prst="ellipse">
            <a:avLst/>
          </a:prstGeom>
          <a:solidFill>
            <a:srgbClr val="F5D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615384" y="7516293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9313181" y="2750949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9349640" y="3493121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5267779" y="1592197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3693848" y="3984604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2277209" y="2495418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9578692" y="7034623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647143" y="1388846"/>
            <a:ext cx="14630" cy="14630"/>
          </a:xfrm>
          <a:prstGeom prst="ellipse">
            <a:avLst/>
          </a:prstGeom>
          <a:solidFill>
            <a:srgbClr val="F5D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10432053" y="524472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14009541" y="4956588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736441" y="2602337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5343291" y="7587657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1127020" y="6266347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3961720" y="6569433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2618519" y="590827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8032104" y="984938"/>
            <a:ext cx="29260" cy="29260"/>
          </a:xfrm>
          <a:prstGeom prst="ellipse">
            <a:avLst/>
          </a:prstGeom>
          <a:solidFill>
            <a:srgbClr val="F5D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4151140" y="6149018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3083758" y="1334869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3675774" y="1918799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3446190" y="3426593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3441348" y="7958198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451671" y="7460188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2027401" y="2425737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0974398" y="3850439"/>
            <a:ext cx="29260" cy="29260"/>
          </a:xfrm>
          <a:prstGeom prst="ellipse">
            <a:avLst/>
          </a:prstGeom>
          <a:solidFill>
            <a:srgbClr val="F5D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3091698" y="331454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7949488" y="5868488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647010" y="2435292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733397" y="3465126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950256" y="6724205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9147008" y="4678670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6227532" y="4989535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2743377" y="5407064"/>
            <a:ext cx="29260" cy="29260"/>
          </a:xfrm>
          <a:prstGeom prst="ellipse">
            <a:avLst/>
          </a:prstGeom>
          <a:solidFill>
            <a:srgbClr val="F5D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1020424" y="4295675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5668956" y="3858452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3698740" y="309863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3518367" y="5320201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967058" y="2937196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2004739" y="5535810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594360" y="749808"/>
            <a:ext cx="13441680" cy="203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58368" y="292608"/>
            <a:ext cx="43891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>
                <a:solidFill>
                  <a:srgbClr val="F5DE8C"/>
                </a:solidFill>
                <a:latin typeface="Microsoft YaHei UI"/>
              </a:rPr>
              <a:t>LOCATION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40080" y="475488"/>
            <a:ext cx="11430000" cy="5669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0F1EB"/>
                </a:solidFill>
                <a:latin typeface="Microsoft YaHei UI"/>
              </a:rPr>
              <a:t>位置与尺度：太阳系在银河中的坐标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097280" y="4206240"/>
            <a:ext cx="11887200" cy="25400"/>
          </a:xfrm>
          <a:prstGeom prst="rect">
            <a:avLst/>
          </a:prstGeom>
          <a:solidFill>
            <a:srgbClr val="745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1188719" y="4114800"/>
            <a:ext cx="182880" cy="182880"/>
          </a:xfrm>
          <a:prstGeom prst="ellipse">
            <a:avLst/>
          </a:prstGeom>
          <a:solidFill>
            <a:srgbClr val="F5D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31519" y="4526279"/>
            <a:ext cx="128016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0F1EB"/>
                </a:solidFill>
                <a:latin typeface="Microsoft YaHei"/>
              </a:rPr>
              <a:t>银心
人马座A*</a:t>
            </a:r>
          </a:p>
        </p:txBody>
      </p:sp>
      <p:sp>
        <p:nvSpPr>
          <p:cNvPr id="104" name="Oval 103"/>
          <p:cNvSpPr/>
          <p:nvPr/>
        </p:nvSpPr>
        <p:spPr>
          <a:xfrm>
            <a:off x="5669280" y="4114800"/>
            <a:ext cx="182880" cy="182880"/>
          </a:xfrm>
          <a:prstGeom prst="ellipse">
            <a:avLst/>
          </a:prstGeom>
          <a:solidFill>
            <a:srgbClr val="F5D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5212080" y="4526279"/>
            <a:ext cx="128016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0F1EB"/>
                </a:solidFill>
                <a:latin typeface="Microsoft YaHei"/>
              </a:rPr>
              <a:t>太阳系
猎户臂</a:t>
            </a:r>
          </a:p>
        </p:txBody>
      </p:sp>
      <p:sp>
        <p:nvSpPr>
          <p:cNvPr id="106" name="Oval 105"/>
          <p:cNvSpPr/>
          <p:nvPr/>
        </p:nvSpPr>
        <p:spPr>
          <a:xfrm>
            <a:off x="12710160" y="4114800"/>
            <a:ext cx="182880" cy="182880"/>
          </a:xfrm>
          <a:prstGeom prst="ellipse">
            <a:avLst/>
          </a:prstGeom>
          <a:solidFill>
            <a:srgbClr val="F5D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2252960" y="4526279"/>
            <a:ext cx="128016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0F1EB"/>
                </a:solidFill>
                <a:latin typeface="Microsoft YaHei"/>
              </a:rPr>
              <a:t>外盘
螺旋臂延展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143000" y="1874519"/>
            <a:ext cx="12070080" cy="1005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100" b="0">
                <a:solidFill>
                  <a:srgbClr val="F0F1EB"/>
                </a:solidFill>
                <a:latin typeface="Microsoft YaHei"/>
              </a:rPr>
              <a:t>太阳系并不位于银河系中心，而是在盘面上的猎户臂区域，距离银心约2.6万光年。这个位置让我们看到的“银河”呈现为横跨夜空的密集恒星带。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5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960120"/>
          </a:xfrm>
          <a:prstGeom prst="rect">
            <a:avLst/>
          </a:prstGeom>
          <a:solidFill>
            <a:srgbClr val="0A0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732747" y="676207"/>
            <a:ext cx="23774" cy="23774"/>
          </a:xfrm>
          <a:prstGeom prst="ellipse">
            <a:avLst/>
          </a:prstGeom>
          <a:solidFill>
            <a:srgbClr val="F5D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271821" y="525362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590867" y="2607090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93894" y="6072198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186790" y="6287593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838384" y="3060098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930110" y="3205715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12751" y="3054842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583694" y="5867289"/>
            <a:ext cx="10972" cy="10972"/>
          </a:xfrm>
          <a:prstGeom prst="ellipse">
            <a:avLst/>
          </a:prstGeom>
          <a:solidFill>
            <a:srgbClr val="F5D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22131" y="6612042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71742" y="808868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7709" y="5793654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108629" y="514017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999811" y="7844850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711976" y="3358680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3767602" y="1299147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46887" y="708518"/>
            <a:ext cx="18288" cy="18288"/>
          </a:xfrm>
          <a:prstGeom prst="ellipse">
            <a:avLst/>
          </a:prstGeom>
          <a:solidFill>
            <a:srgbClr val="F5D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559512" y="4617666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825435" y="7600896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035509" y="4669869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78126" y="5261223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18918" y="1637425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202376" y="1103549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135920" y="4966609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811919" y="6850378"/>
            <a:ext cx="23774" cy="23774"/>
          </a:xfrm>
          <a:prstGeom prst="ellipse">
            <a:avLst/>
          </a:prstGeom>
          <a:solidFill>
            <a:srgbClr val="F5D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2988315" y="3662812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663815" y="5730152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2882500" y="6838930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372718" y="1131706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455147" y="4045202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777205" y="7868185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92611" y="3295742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1123074" y="6619846"/>
            <a:ext cx="10972" cy="10972"/>
          </a:xfrm>
          <a:prstGeom prst="ellipse">
            <a:avLst/>
          </a:prstGeom>
          <a:solidFill>
            <a:srgbClr val="F5D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4049738" y="5204760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840513" y="2876337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1103157" y="1191675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2019244" y="4233464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378335" y="7490772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3691182" y="4239685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654887" y="5147832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848397" y="2550399"/>
            <a:ext cx="29260" cy="29260"/>
          </a:xfrm>
          <a:prstGeom prst="ellipse">
            <a:avLst/>
          </a:prstGeom>
          <a:solidFill>
            <a:srgbClr val="F5D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283677" y="1501295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2511317" y="5065133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2179668" y="4589313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00451" y="5197842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423163" y="6179057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7218364" y="5086123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7000994" y="6474028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577571" y="5566543"/>
            <a:ext cx="14630" cy="14630"/>
          </a:xfrm>
          <a:prstGeom prst="ellipse">
            <a:avLst/>
          </a:prstGeom>
          <a:solidFill>
            <a:srgbClr val="F5D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031421" y="3813944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4547470" y="5799127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928987" y="3079807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4641563" y="3829818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3616198" y="939765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2491234" y="3451907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3493422" y="5820748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221640" y="4207060"/>
            <a:ext cx="23774" cy="23774"/>
          </a:xfrm>
          <a:prstGeom prst="ellipse">
            <a:avLst/>
          </a:prstGeom>
          <a:solidFill>
            <a:srgbClr val="F5D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208747" y="886894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3967747" y="1864904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773592" y="4052022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7775032" y="6806175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2754670" y="5870625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97291" y="582836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5266714" y="2439202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1054515" y="2369769"/>
            <a:ext cx="29260" cy="29260"/>
          </a:xfrm>
          <a:prstGeom prst="ellipse">
            <a:avLst/>
          </a:prstGeom>
          <a:solidFill>
            <a:srgbClr val="F5D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1898704" y="938747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8079502" y="3041234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8722270" y="3320972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606151" y="5761826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2190733" y="7165490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3459106" y="2673186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8596423" y="4149129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0252848" y="2526678"/>
            <a:ext cx="10972" cy="10972"/>
          </a:xfrm>
          <a:prstGeom prst="ellipse">
            <a:avLst/>
          </a:prstGeom>
          <a:solidFill>
            <a:srgbClr val="F5D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4816166" y="1039781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1520423" y="5853551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3869836" y="5308368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0435180" y="4744935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2173956" y="5504884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2793357" y="3630972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5993088" y="1776929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2615866" y="5935744"/>
            <a:ext cx="10972" cy="10972"/>
          </a:xfrm>
          <a:prstGeom prst="ellipse">
            <a:avLst/>
          </a:prstGeom>
          <a:solidFill>
            <a:srgbClr val="F5D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7515691" y="4567960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4564322" y="1536840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7913037" y="5466901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2814670" y="2110196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3284210" y="7789212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10197562" y="5579258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6955752" y="4564839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1800926" y="5472793"/>
            <a:ext cx="23774" cy="23774"/>
          </a:xfrm>
          <a:prstGeom prst="ellipse">
            <a:avLst/>
          </a:prstGeom>
          <a:solidFill>
            <a:srgbClr val="F5D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11831828" y="7646126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651553" y="7651637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13353121" y="5311348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2955863" y="4393546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2022697" y="4996316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3537552" y="5419722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594360" y="749808"/>
            <a:ext cx="13441680" cy="203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58368" y="292608"/>
            <a:ext cx="43891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>
                <a:solidFill>
                  <a:srgbClr val="F5DE8C"/>
                </a:solidFill>
                <a:latin typeface="Microsoft YaHei UI"/>
              </a:rPr>
              <a:t>STRUCTURE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40080" y="475488"/>
            <a:ext cx="11430000" cy="5669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0F1EB"/>
                </a:solidFill>
                <a:latin typeface="Microsoft YaHei UI"/>
              </a:rPr>
              <a:t>结构框架：棒旋星系的四层架构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822960" y="1508760"/>
            <a:ext cx="5989320" cy="1783080"/>
          </a:xfrm>
          <a:prstGeom prst="roundRect">
            <a:avLst/>
          </a:prstGeom>
          <a:solidFill>
            <a:srgbClr val="0E1016"/>
          </a:solidFill>
          <a:ln w="12700">
            <a:solidFill>
              <a:srgbClr val="7458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078992" y="1728216"/>
            <a:ext cx="5477256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5DE8C"/>
                </a:solidFill>
                <a:latin typeface="Microsoft YaHei UI"/>
              </a:rPr>
              <a:t>中央棒核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78992" y="2221991"/>
            <a:ext cx="5477256" cy="9235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F0F1EB"/>
                </a:solidFill>
                <a:latin typeface="Microsoft YaHei"/>
              </a:rPr>
              <a:t>银心高密度恒星群与超大质量黑洞共同构成核心引力区。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7406640" y="1508760"/>
            <a:ext cx="5989320" cy="1783080"/>
          </a:xfrm>
          <a:prstGeom prst="roundRect">
            <a:avLst/>
          </a:prstGeom>
          <a:solidFill>
            <a:srgbClr val="0E1016"/>
          </a:solidFill>
          <a:ln w="12700">
            <a:solidFill>
              <a:srgbClr val="7458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662671" y="1728216"/>
            <a:ext cx="5477256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5DE8C"/>
                </a:solidFill>
                <a:latin typeface="Microsoft YaHei UI"/>
              </a:rPr>
              <a:t>银盘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662671" y="2221991"/>
            <a:ext cx="5477256" cy="9235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F0F1EB"/>
                </a:solidFill>
                <a:latin typeface="Microsoft YaHei"/>
              </a:rPr>
              <a:t>大多数恒星、气体和尘埃集中于扁平盘面，是恒星形成的主要舞台。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822960" y="3840479"/>
            <a:ext cx="5989320" cy="1783080"/>
          </a:xfrm>
          <a:prstGeom prst="roundRect">
            <a:avLst/>
          </a:prstGeom>
          <a:solidFill>
            <a:srgbClr val="0E1016"/>
          </a:solidFill>
          <a:ln w="12700">
            <a:solidFill>
              <a:srgbClr val="7458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078992" y="4059935"/>
            <a:ext cx="5477256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5DE8C"/>
                </a:solidFill>
                <a:latin typeface="Microsoft YaHei UI"/>
              </a:rPr>
              <a:t>螺旋臂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78992" y="4553712"/>
            <a:ext cx="5477256" cy="9235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F0F1EB"/>
                </a:solidFill>
                <a:latin typeface="Microsoft YaHei"/>
              </a:rPr>
              <a:t>人马臂、英仙臂等区域富含年轻恒星、星云与星际介质。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7406640" y="3840479"/>
            <a:ext cx="5989320" cy="1783080"/>
          </a:xfrm>
          <a:prstGeom prst="roundRect">
            <a:avLst/>
          </a:prstGeom>
          <a:solidFill>
            <a:srgbClr val="0E1016"/>
          </a:solidFill>
          <a:ln w="12700">
            <a:solidFill>
              <a:srgbClr val="7458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662671" y="4059935"/>
            <a:ext cx="5477256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5DE8C"/>
                </a:solidFill>
                <a:latin typeface="Microsoft YaHei UI"/>
              </a:rPr>
              <a:t>星系晕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662671" y="4553712"/>
            <a:ext cx="5477256" cy="9235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F0F1EB"/>
                </a:solidFill>
                <a:latin typeface="Microsoft YaHei"/>
              </a:rPr>
              <a:t>稀疏恒星、球状星团和暗物质晕包裹星系主体。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5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960120"/>
          </a:xfrm>
          <a:prstGeom prst="rect">
            <a:avLst/>
          </a:prstGeom>
          <a:solidFill>
            <a:srgbClr val="0A0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233270" y="593261"/>
            <a:ext cx="23774" cy="23774"/>
          </a:xfrm>
          <a:prstGeom prst="ellipse">
            <a:avLst/>
          </a:prstGeom>
          <a:solidFill>
            <a:srgbClr val="F5D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76967" y="968952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936526" y="7828303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48551" y="7067887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14648" y="6092683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156214" y="645420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52876" y="5836300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064015" y="6731375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393771" y="1639486"/>
            <a:ext cx="18288" cy="18288"/>
          </a:xfrm>
          <a:prstGeom prst="ellipse">
            <a:avLst/>
          </a:prstGeom>
          <a:solidFill>
            <a:srgbClr val="F5D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79183" y="4623274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143920" y="7915778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2852664" y="1232071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975065" y="6506283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575152" y="5251252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654343" y="6365196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573162" y="6876336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466688" y="861006"/>
            <a:ext cx="10972" cy="10972"/>
          </a:xfrm>
          <a:prstGeom prst="ellipse">
            <a:avLst/>
          </a:prstGeom>
          <a:solidFill>
            <a:srgbClr val="F5D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183753" y="3915673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801497" y="2024213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394283" y="5834462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459937" y="5599027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748245" y="1431565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987143" y="5176401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897432" y="1896053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251867" y="6028760"/>
            <a:ext cx="29260" cy="29260"/>
          </a:xfrm>
          <a:prstGeom prst="ellipse">
            <a:avLst/>
          </a:prstGeom>
          <a:solidFill>
            <a:srgbClr val="F5D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034645" y="4476861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017869" y="5501874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613961" y="4312200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3255694" y="1060141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293654" y="1354443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719785" y="1788733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355443" y="4173055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945955" y="3430719"/>
            <a:ext cx="29260" cy="29260"/>
          </a:xfrm>
          <a:prstGeom prst="ellipse">
            <a:avLst/>
          </a:prstGeom>
          <a:solidFill>
            <a:srgbClr val="F5D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093405" y="5442658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748094" y="6566009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97974" y="2876448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3505394" y="722479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180342" y="1589995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438631" y="7151433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455691" y="5520547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457787" y="2901786"/>
            <a:ext cx="14630" cy="14630"/>
          </a:xfrm>
          <a:prstGeom prst="ellipse">
            <a:avLst/>
          </a:prstGeom>
          <a:solidFill>
            <a:srgbClr val="F5D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662004" y="5873362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936064" y="7832837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706521" y="6620010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5031043" y="2337942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1703662" y="3460553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3013666" y="971702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654898" y="5681256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710844" y="3327838"/>
            <a:ext cx="14630" cy="14630"/>
          </a:xfrm>
          <a:prstGeom prst="ellipse">
            <a:avLst/>
          </a:prstGeom>
          <a:solidFill>
            <a:srgbClr val="F5D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910232" y="6250238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3418067" y="7347381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8362396" y="6222676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4391671" y="1302907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6001731" y="2334066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9061147" y="3522785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4048449" y="7544315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073814" y="3374699"/>
            <a:ext cx="18288" cy="18288"/>
          </a:xfrm>
          <a:prstGeom prst="ellipse">
            <a:avLst/>
          </a:prstGeom>
          <a:solidFill>
            <a:srgbClr val="F5D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2693908" y="4388467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4376865" y="5714800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145089" y="7749148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5639653" y="2176466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3327435" y="6805870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787940" y="3131624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2627427" y="1653963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6949859" y="6980530"/>
            <a:ext cx="18288" cy="18288"/>
          </a:xfrm>
          <a:prstGeom prst="ellipse">
            <a:avLst/>
          </a:prstGeom>
          <a:solidFill>
            <a:srgbClr val="F5D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13828527" y="302760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10802125" y="6080328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5757935" y="2053998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5527934" y="4355020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812678" y="4192141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465856" y="7854945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3213724" y="3081095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8147088" y="1912827"/>
            <a:ext cx="14630" cy="14630"/>
          </a:xfrm>
          <a:prstGeom prst="ellipse">
            <a:avLst/>
          </a:prstGeom>
          <a:solidFill>
            <a:srgbClr val="F5D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3801336" y="7490932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4297020" y="1716730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8251714" y="2104026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3751688" y="6606184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2468587" y="6398093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419531" y="4000595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7591462" y="6742818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1053575" y="3407011"/>
            <a:ext cx="14630" cy="14630"/>
          </a:xfrm>
          <a:prstGeom prst="ellipse">
            <a:avLst/>
          </a:prstGeom>
          <a:solidFill>
            <a:srgbClr val="F5D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0230234" y="254349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5420481" y="5013190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9540601" y="305872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216395" y="4321930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292604" y="6540240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1586949" y="935873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2809887" y="4298776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11494234" y="800661"/>
            <a:ext cx="23774" cy="23774"/>
          </a:xfrm>
          <a:prstGeom prst="ellipse">
            <a:avLst/>
          </a:prstGeom>
          <a:solidFill>
            <a:srgbClr val="F5D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8182768" y="7924640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9897150" y="6811606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5882456" y="3131636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9216038" y="5677807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2219990" y="5224842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2932324" y="7368922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594360" y="749808"/>
            <a:ext cx="13441680" cy="203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58368" y="292608"/>
            <a:ext cx="43891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>
                <a:solidFill>
                  <a:srgbClr val="F5DE8C"/>
                </a:solidFill>
                <a:latin typeface="Microsoft YaHei UI"/>
              </a:rPr>
              <a:t>COMPOSITION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40080" y="475488"/>
            <a:ext cx="11430000" cy="5669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0F1EB"/>
                </a:solidFill>
                <a:latin typeface="Microsoft YaHei UI"/>
              </a:rPr>
              <a:t>组成资产：可见物质与暗物质共同定价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97280" y="1828800"/>
            <a:ext cx="29260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700" b="1">
                <a:solidFill>
                  <a:srgbClr val="F0F1EB"/>
                </a:solidFill>
                <a:latin typeface="Microsoft YaHei"/>
              </a:rPr>
              <a:t>恒星与行星系统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160520" y="1901952"/>
            <a:ext cx="6583680" cy="256032"/>
          </a:xfrm>
          <a:prstGeom prst="rect">
            <a:avLst/>
          </a:prstGeom>
          <a:solidFill>
            <a:srgbClr val="1C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4160520" y="1901952"/>
            <a:ext cx="4476902" cy="25603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1064240" y="1810512"/>
            <a:ext cx="7315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500" b="1">
                <a:solidFill>
                  <a:srgbClr val="F5DE8C"/>
                </a:solidFill>
                <a:latin typeface="Microsoft YaHei"/>
              </a:rPr>
              <a:t>34%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97280" y="3246120"/>
            <a:ext cx="29260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700" b="1">
                <a:solidFill>
                  <a:srgbClr val="F0F1EB"/>
                </a:solidFill>
                <a:latin typeface="Microsoft YaHei"/>
              </a:rPr>
              <a:t>星际气体与尘埃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160520" y="3319272"/>
            <a:ext cx="6583680" cy="256032"/>
          </a:xfrm>
          <a:prstGeom prst="rect">
            <a:avLst/>
          </a:prstGeom>
          <a:solidFill>
            <a:srgbClr val="1C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4160520" y="3319272"/>
            <a:ext cx="2896819" cy="256032"/>
          </a:xfrm>
          <a:prstGeom prst="rect">
            <a:avLst/>
          </a:prstGeom>
          <a:solidFill>
            <a:srgbClr val="F5D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1064240" y="3227832"/>
            <a:ext cx="7315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500" b="1">
                <a:solidFill>
                  <a:srgbClr val="F5DE8C"/>
                </a:solidFill>
                <a:latin typeface="Microsoft YaHei"/>
              </a:rPr>
              <a:t>22%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97280" y="4663440"/>
            <a:ext cx="29260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700" b="1">
                <a:solidFill>
                  <a:srgbClr val="F0F1EB"/>
                </a:solidFill>
                <a:latin typeface="Microsoft YaHei"/>
              </a:rPr>
              <a:t>暗物质晕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160520" y="4736592"/>
            <a:ext cx="6583680" cy="256032"/>
          </a:xfrm>
          <a:prstGeom prst="rect">
            <a:avLst/>
          </a:prstGeom>
          <a:solidFill>
            <a:srgbClr val="1C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4160520" y="4736592"/>
            <a:ext cx="5793638" cy="256032"/>
          </a:xfrm>
          <a:prstGeom prst="rect">
            <a:avLst/>
          </a:prstGeom>
          <a:solidFill>
            <a:srgbClr val="2A3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11064240" y="4645152"/>
            <a:ext cx="7315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500" b="1">
                <a:solidFill>
                  <a:srgbClr val="F5DE8C"/>
                </a:solidFill>
                <a:latin typeface="Microsoft YaHei"/>
              </a:rPr>
              <a:t>44%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097280" y="6537960"/>
            <a:ext cx="1152144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50" b="0">
                <a:solidFill>
                  <a:srgbClr val="AAABA6"/>
                </a:solidFill>
                <a:latin typeface="Microsoft YaHei"/>
              </a:rPr>
              <a:t>注：上图为演示性结构占比，用于表达“可见结构 + 暗物质主导引力”的核心概念，并非精确质量核算。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5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960120"/>
          </a:xfrm>
          <a:prstGeom prst="rect">
            <a:avLst/>
          </a:prstGeom>
          <a:solidFill>
            <a:srgbClr val="0A0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025672" y="5595268"/>
            <a:ext cx="29260" cy="29260"/>
          </a:xfrm>
          <a:prstGeom prst="ellipse">
            <a:avLst/>
          </a:prstGeom>
          <a:solidFill>
            <a:srgbClr val="F5D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949976" y="7408068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28747" y="6831625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500096" y="6064095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355845" y="4591972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796242" y="4409061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30315" y="5571992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19045" y="3600088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61239" y="4982152"/>
            <a:ext cx="29260" cy="29260"/>
          </a:xfrm>
          <a:prstGeom prst="ellipse">
            <a:avLst/>
          </a:prstGeom>
          <a:solidFill>
            <a:srgbClr val="F5D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999919" y="2734531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11292" y="2964654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720679" y="4763322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166320" y="2492192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227215" y="1388598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606456" y="1015907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50716" y="6135178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302957" y="3552329"/>
            <a:ext cx="29260" cy="29260"/>
          </a:xfrm>
          <a:prstGeom prst="ellipse">
            <a:avLst/>
          </a:prstGeom>
          <a:solidFill>
            <a:srgbClr val="F5D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533324" y="883530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642508" y="6315716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248847" y="3214743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82979" y="1508699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045266" y="2537160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6880" y="3581231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019522" y="784260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427969" y="4059122"/>
            <a:ext cx="29260" cy="29260"/>
          </a:xfrm>
          <a:prstGeom prst="ellipse">
            <a:avLst/>
          </a:prstGeom>
          <a:solidFill>
            <a:srgbClr val="F5D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639751" y="1242153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830245" y="5031616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866524" y="6558365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372528" y="4898858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570524" y="7724040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629233" y="5130987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739068" y="2374300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685909" y="4591130"/>
            <a:ext cx="29260" cy="29260"/>
          </a:xfrm>
          <a:prstGeom prst="ellipse">
            <a:avLst/>
          </a:prstGeom>
          <a:solidFill>
            <a:srgbClr val="F5D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863608" y="4483621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360260" y="2460542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737809" y="1270999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684791" y="1387990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10951" y="7928296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741572" y="7402880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1433524" y="2993724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620836" y="2123579"/>
            <a:ext cx="18288" cy="18288"/>
          </a:xfrm>
          <a:prstGeom prst="ellipse">
            <a:avLst/>
          </a:prstGeom>
          <a:solidFill>
            <a:srgbClr val="F5D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363682" y="529196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3953779" y="3548233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3772018" y="4175408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465733" y="3240813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013871" y="374913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036514" y="7701783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062279" y="2865016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061871" y="946108"/>
            <a:ext cx="23774" cy="23774"/>
          </a:xfrm>
          <a:prstGeom prst="ellipse">
            <a:avLst/>
          </a:prstGeom>
          <a:solidFill>
            <a:srgbClr val="F5D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13151" y="532217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2275440" y="5248786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476960" y="4497780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3849306" y="1995554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2730027" y="5321792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0665439" y="7087041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5645655" y="5692587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880561" y="6505626"/>
            <a:ext cx="10972" cy="10972"/>
          </a:xfrm>
          <a:prstGeom prst="ellipse">
            <a:avLst/>
          </a:prstGeom>
          <a:solidFill>
            <a:srgbClr val="F5D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1559993" y="4380342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2883944" y="1073793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643174" y="4962162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5056461" y="6793239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1765015" y="5702381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9725314" y="2631403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729994" y="3101431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6069115" y="1260743"/>
            <a:ext cx="23774" cy="23774"/>
          </a:xfrm>
          <a:prstGeom prst="ellipse">
            <a:avLst/>
          </a:prstGeom>
          <a:solidFill>
            <a:srgbClr val="F5D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2720907" y="5151308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7097446" y="1279735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8966338" y="6949636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2012065" y="6556336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5937991" y="4027251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2454471" y="4603227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516588" y="1940732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1289784" y="4605203"/>
            <a:ext cx="23774" cy="23774"/>
          </a:xfrm>
          <a:prstGeom prst="ellipse">
            <a:avLst/>
          </a:prstGeom>
          <a:solidFill>
            <a:srgbClr val="F5D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8293833" y="2277267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7852120" y="6099525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4300272" y="983584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2644556" y="434861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2462946" y="862923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3068343" y="5949626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2436154" y="1271435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1645512" y="4639789"/>
            <a:ext cx="29260" cy="29260"/>
          </a:xfrm>
          <a:prstGeom prst="ellipse">
            <a:avLst/>
          </a:prstGeom>
          <a:solidFill>
            <a:srgbClr val="F5D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8641545" y="1499274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8294143" y="7628836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998444" y="6047205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14339308" y="6961562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3641521" y="5744650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7094806" y="4697262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5448876" y="773275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7471482" y="2358081"/>
            <a:ext cx="18288" cy="18288"/>
          </a:xfrm>
          <a:prstGeom prst="ellipse">
            <a:avLst/>
          </a:prstGeom>
          <a:solidFill>
            <a:srgbClr val="F5D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13731089" y="2741666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0572455" y="3767091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11504914" y="3292270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7170505" y="2707078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7927976" y="1203881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2923156" y="6142273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594360" y="749808"/>
            <a:ext cx="13441680" cy="203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58368" y="292608"/>
            <a:ext cx="43891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>
                <a:solidFill>
                  <a:srgbClr val="F5DE8C"/>
                </a:solidFill>
                <a:latin typeface="Microsoft YaHei UI"/>
              </a:rPr>
              <a:t>EVOLUTION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40080" y="475488"/>
            <a:ext cx="11430000" cy="5669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0F1EB"/>
                </a:solidFill>
                <a:latin typeface="Microsoft YaHei UI"/>
              </a:rPr>
              <a:t>起源与演化：从早期坍缩到持续生长</a:t>
            </a:r>
          </a:p>
        </p:txBody>
      </p:sp>
      <p:sp>
        <p:nvSpPr>
          <p:cNvPr id="101" name="Oval 100"/>
          <p:cNvSpPr/>
          <p:nvPr/>
        </p:nvSpPr>
        <p:spPr>
          <a:xfrm>
            <a:off x="2011680" y="2743200"/>
            <a:ext cx="310896" cy="310896"/>
          </a:xfrm>
          <a:prstGeom prst="ellipse">
            <a:avLst/>
          </a:prstGeom>
          <a:solidFill>
            <a:srgbClr val="F5D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2331720" y="2880360"/>
            <a:ext cx="2560320" cy="15240"/>
          </a:xfrm>
          <a:prstGeom prst="rect">
            <a:avLst/>
          </a:prstGeom>
          <a:solidFill>
            <a:srgbClr val="745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914400" y="3337560"/>
            <a:ext cx="25146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5DE8C"/>
                </a:solidFill>
                <a:latin typeface="Microsoft YaHei UI"/>
              </a:rPr>
              <a:t>早期宇宙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14400" y="3858768"/>
            <a:ext cx="2514600" cy="1005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20" b="0">
                <a:solidFill>
                  <a:srgbClr val="F0F1EB"/>
                </a:solidFill>
                <a:latin typeface="Microsoft YaHei"/>
              </a:rPr>
              <a:t>大爆炸后，原始气体云在引力作用下聚集。</a:t>
            </a:r>
          </a:p>
        </p:txBody>
      </p:sp>
      <p:sp>
        <p:nvSpPr>
          <p:cNvPr id="105" name="Oval 104"/>
          <p:cNvSpPr/>
          <p:nvPr/>
        </p:nvSpPr>
        <p:spPr>
          <a:xfrm>
            <a:off x="5349240" y="2743200"/>
            <a:ext cx="310896" cy="310896"/>
          </a:xfrm>
          <a:prstGeom prst="ellipse">
            <a:avLst/>
          </a:prstGeom>
          <a:solidFill>
            <a:srgbClr val="F5D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5669280" y="2880360"/>
            <a:ext cx="2560320" cy="15240"/>
          </a:xfrm>
          <a:prstGeom prst="rect">
            <a:avLst/>
          </a:prstGeom>
          <a:solidFill>
            <a:srgbClr val="745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251960" y="3337560"/>
            <a:ext cx="25146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5DE8C"/>
                </a:solidFill>
                <a:latin typeface="Microsoft YaHei UI"/>
              </a:rPr>
              <a:t>恒星形成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251960" y="3858768"/>
            <a:ext cx="2514600" cy="1005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20" b="0">
                <a:solidFill>
                  <a:srgbClr val="F0F1EB"/>
                </a:solidFill>
                <a:latin typeface="Microsoft YaHei"/>
              </a:rPr>
              <a:t>气体坍缩生成恒星，重元素逐步累积。</a:t>
            </a:r>
          </a:p>
        </p:txBody>
      </p:sp>
      <p:sp>
        <p:nvSpPr>
          <p:cNvPr id="109" name="Oval 108"/>
          <p:cNvSpPr/>
          <p:nvPr/>
        </p:nvSpPr>
        <p:spPr>
          <a:xfrm>
            <a:off x="8686800" y="2743200"/>
            <a:ext cx="310896" cy="310896"/>
          </a:xfrm>
          <a:prstGeom prst="ellipse">
            <a:avLst/>
          </a:prstGeom>
          <a:solidFill>
            <a:srgbClr val="F5D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006840" y="2880360"/>
            <a:ext cx="2560320" cy="15240"/>
          </a:xfrm>
          <a:prstGeom prst="rect">
            <a:avLst/>
          </a:prstGeom>
          <a:solidFill>
            <a:srgbClr val="745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89520" y="3337560"/>
            <a:ext cx="25146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5DE8C"/>
                </a:solidFill>
                <a:latin typeface="Microsoft YaHei UI"/>
              </a:rPr>
              <a:t>并合增生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589520" y="3858768"/>
            <a:ext cx="2514600" cy="1005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20" b="0">
                <a:solidFill>
                  <a:srgbClr val="F0F1EB"/>
                </a:solidFill>
                <a:latin typeface="Microsoft YaHei"/>
              </a:rPr>
              <a:t>早期可能经历多次小星系并合，塑造今日结构。</a:t>
            </a:r>
          </a:p>
        </p:txBody>
      </p:sp>
      <p:sp>
        <p:nvSpPr>
          <p:cNvPr id="113" name="Oval 112"/>
          <p:cNvSpPr/>
          <p:nvPr/>
        </p:nvSpPr>
        <p:spPr>
          <a:xfrm>
            <a:off x="12024359" y="2743200"/>
            <a:ext cx="310896" cy="310896"/>
          </a:xfrm>
          <a:prstGeom prst="ellipse">
            <a:avLst/>
          </a:prstGeom>
          <a:solidFill>
            <a:srgbClr val="F5D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0927080" y="3337560"/>
            <a:ext cx="25146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5DE8C"/>
                </a:solidFill>
                <a:latin typeface="Microsoft YaHei UI"/>
              </a:rPr>
              <a:t>动态平衡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927080" y="3858768"/>
            <a:ext cx="2514600" cy="1005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20" b="0">
                <a:solidFill>
                  <a:srgbClr val="F0F1EB"/>
                </a:solidFill>
                <a:latin typeface="Microsoft YaHei"/>
              </a:rPr>
              <a:t>恒星诞生和死亡持续进行，盘面与螺旋臂不断更新。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5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960120"/>
          </a:xfrm>
          <a:prstGeom prst="rect">
            <a:avLst/>
          </a:prstGeom>
          <a:solidFill>
            <a:srgbClr val="0A0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063832" y="6724318"/>
            <a:ext cx="10972" cy="10972"/>
          </a:xfrm>
          <a:prstGeom prst="ellipse">
            <a:avLst/>
          </a:prstGeom>
          <a:solidFill>
            <a:srgbClr val="F5D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3431226" y="1418014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4329975" y="3527466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335281" y="7475040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72964" y="2140453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91549" y="5073929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485887" y="5684475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912594" y="1220342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79468" y="5621141"/>
            <a:ext cx="10972" cy="10972"/>
          </a:xfrm>
          <a:prstGeom prst="ellipse">
            <a:avLst/>
          </a:prstGeom>
          <a:solidFill>
            <a:srgbClr val="F5D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41015" y="3917597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32248" y="6483947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339269" y="2522494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285571" y="5476818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835415" y="1465962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091203" y="1366341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430728" y="860617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882291" y="4792239"/>
            <a:ext cx="23774" cy="23774"/>
          </a:xfrm>
          <a:prstGeom prst="ellipse">
            <a:avLst/>
          </a:prstGeom>
          <a:solidFill>
            <a:srgbClr val="F5D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3918235" y="2641707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034552" y="841546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264285" y="5581104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502239" y="4166388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351727" y="6310734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603166" y="2067686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653996" y="7826632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946511" y="6912827"/>
            <a:ext cx="29260" cy="29260"/>
          </a:xfrm>
          <a:prstGeom prst="ellipse">
            <a:avLst/>
          </a:prstGeom>
          <a:solidFill>
            <a:srgbClr val="F5D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308317" y="5522202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86077" y="710857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19298" y="655632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098269" y="4100140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153056" y="827310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041754" y="2605769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4077586" y="1397637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91470" y="6149857"/>
            <a:ext cx="10972" cy="10972"/>
          </a:xfrm>
          <a:prstGeom prst="ellipse">
            <a:avLst/>
          </a:prstGeom>
          <a:solidFill>
            <a:srgbClr val="F5D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107910" y="5889782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566668" y="7411730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863895" y="613100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28118" y="1255618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194959" y="2893462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450287" y="1175238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1155704" y="412390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590163" y="2238651"/>
            <a:ext cx="29260" cy="29260"/>
          </a:xfrm>
          <a:prstGeom prst="ellipse">
            <a:avLst/>
          </a:prstGeom>
          <a:solidFill>
            <a:srgbClr val="F5D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191138" y="4176234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2422047" y="1487578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1183048" y="7174377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714284" y="202960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07936" y="3028491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3456101" y="6886802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3279144" y="2123831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1941563" y="4651216"/>
            <a:ext cx="10972" cy="10972"/>
          </a:xfrm>
          <a:prstGeom prst="ellipse">
            <a:avLst/>
          </a:prstGeom>
          <a:solidFill>
            <a:srgbClr val="F5D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628601" y="6471291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038384" y="3819042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4759442" y="4507014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2935745" y="4590788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6727099" y="4808790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0594510" y="4455945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37572" y="3388591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9204427" y="5604439"/>
            <a:ext cx="10972" cy="10972"/>
          </a:xfrm>
          <a:prstGeom prst="ellipse">
            <a:avLst/>
          </a:prstGeom>
          <a:solidFill>
            <a:srgbClr val="F5D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6776" y="5321760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3000888" y="7868996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3888515" y="7786464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385471" y="7385513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0139177" y="3095066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7324789" y="5164708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570084" y="669814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4246379" y="6835425"/>
            <a:ext cx="23774" cy="23774"/>
          </a:xfrm>
          <a:prstGeom prst="ellipse">
            <a:avLst/>
          </a:prstGeom>
          <a:solidFill>
            <a:srgbClr val="F5D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4626323" y="2309063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2005975" y="6203978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1567381" y="3697646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1784546" y="2984014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4485906" y="2254743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2315665" y="5546539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3142406" y="6879672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0287666" y="7753947"/>
            <a:ext cx="23774" cy="23774"/>
          </a:xfrm>
          <a:prstGeom prst="ellipse">
            <a:avLst/>
          </a:prstGeom>
          <a:solidFill>
            <a:srgbClr val="F5D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9798379" y="2216895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3757624" y="6864255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409934" y="979603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217921" y="6674830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2899192" y="3314676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3258342" y="769138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3043288" y="3649679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3080471" y="6666886"/>
            <a:ext cx="18288" cy="18288"/>
          </a:xfrm>
          <a:prstGeom prst="ellipse">
            <a:avLst/>
          </a:prstGeom>
          <a:solidFill>
            <a:srgbClr val="F5D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660623" y="3786993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1879468" y="3271027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9885215" y="1533907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4005952" y="3669850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8889960" y="5006481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5979149" y="4488230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4074997" y="1255807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9129718" y="6454326"/>
            <a:ext cx="10972" cy="10972"/>
          </a:xfrm>
          <a:prstGeom prst="ellipse">
            <a:avLst/>
          </a:prstGeom>
          <a:solidFill>
            <a:srgbClr val="F5D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11306714" y="2990461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5000430" y="4605208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3940480" y="386643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467742" y="6520946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1691791" y="3870565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4072783" y="965742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594360" y="749808"/>
            <a:ext cx="13441680" cy="203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58368" y="292608"/>
            <a:ext cx="43891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>
                <a:solidFill>
                  <a:srgbClr val="F5DE8C"/>
                </a:solidFill>
                <a:latin typeface="Microsoft YaHei UI"/>
              </a:rPr>
              <a:t>FUTURE SCENARIO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40080" y="475488"/>
            <a:ext cx="11430000" cy="5669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0F1EB"/>
                </a:solidFill>
                <a:latin typeface="Microsoft YaHei UI"/>
              </a:rPr>
              <a:t>未来情景：与仙女座星系的长期合并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68680" y="1828800"/>
            <a:ext cx="45720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000" b="1">
                <a:solidFill>
                  <a:srgbClr val="F5DE8C"/>
                </a:solidFill>
                <a:latin typeface="Microsoft YaHei UI"/>
              </a:rPr>
              <a:t>约50亿年尺度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14400" y="2606040"/>
            <a:ext cx="585216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000" b="0">
                <a:solidFill>
                  <a:srgbClr val="F0F1EB"/>
                </a:solidFill>
                <a:latin typeface="Microsoft YaHei"/>
              </a:rPr>
              <a:t>银河系与仙女座星系正相互接近，长期来看可能发生合并，并重塑本星系群的大尺度结构。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7635240" y="1508760"/>
            <a:ext cx="5989320" cy="1554480"/>
          </a:xfrm>
          <a:prstGeom prst="roundRect">
            <a:avLst/>
          </a:prstGeom>
          <a:solidFill>
            <a:srgbClr val="0E1016"/>
          </a:solidFill>
          <a:ln w="12700">
            <a:solidFill>
              <a:srgbClr val="7458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7891271" y="1728216"/>
            <a:ext cx="5477256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5DE8C"/>
                </a:solidFill>
                <a:latin typeface="Microsoft YaHei UI"/>
              </a:rPr>
              <a:t>战略含义一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891271" y="2221991"/>
            <a:ext cx="5477256" cy="6949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F0F1EB"/>
                </a:solidFill>
                <a:latin typeface="Microsoft YaHei"/>
              </a:rPr>
              <a:t>星系结构并非静态资产，而是由引力、物质循环和并合历史持续塑造。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7635240" y="3383280"/>
            <a:ext cx="5989320" cy="1554480"/>
          </a:xfrm>
          <a:prstGeom prst="roundRect">
            <a:avLst/>
          </a:prstGeom>
          <a:solidFill>
            <a:srgbClr val="0E1016"/>
          </a:solidFill>
          <a:ln w="12700">
            <a:solidFill>
              <a:srgbClr val="7458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891271" y="3602736"/>
            <a:ext cx="5477256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5DE8C"/>
                </a:solidFill>
                <a:latin typeface="Microsoft YaHei UI"/>
              </a:rPr>
              <a:t>战略含义二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891271" y="4096512"/>
            <a:ext cx="5477256" cy="6949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F0F1EB"/>
                </a:solidFill>
                <a:latin typeface="Microsoft YaHei"/>
              </a:rPr>
              <a:t>未来合并不会像恒星碰撞那样密集发生，但会显著改变轨道分布、恒星形成和星系形态。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7635240" y="5257800"/>
            <a:ext cx="5989320" cy="1554480"/>
          </a:xfrm>
          <a:prstGeom prst="roundRect">
            <a:avLst/>
          </a:prstGeom>
          <a:solidFill>
            <a:srgbClr val="0E1016"/>
          </a:solidFill>
          <a:ln w="12700">
            <a:solidFill>
              <a:srgbClr val="7458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7891271" y="5477256"/>
            <a:ext cx="5477256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5DE8C"/>
                </a:solidFill>
                <a:latin typeface="Microsoft YaHei UI"/>
              </a:rPr>
              <a:t>战略含义三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891271" y="5971032"/>
            <a:ext cx="5477256" cy="6949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F0F1EB"/>
                </a:solidFill>
                <a:latin typeface="Microsoft YaHei"/>
              </a:rPr>
              <a:t>暗物质与引力势场将决定合并后系统的宏观结构。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5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960120"/>
          </a:xfrm>
          <a:prstGeom prst="rect">
            <a:avLst/>
          </a:prstGeom>
          <a:solidFill>
            <a:srgbClr val="0A0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31810" y="6368867"/>
            <a:ext cx="10972" cy="10972"/>
          </a:xfrm>
          <a:prstGeom prst="ellipse">
            <a:avLst/>
          </a:prstGeom>
          <a:solidFill>
            <a:srgbClr val="F5D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36722" y="7865470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514370" y="7934873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452482" y="2669076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176707" y="2932373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155501" y="1654513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574053" y="479685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710747" y="338679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23286" y="4984259"/>
            <a:ext cx="14630" cy="14630"/>
          </a:xfrm>
          <a:prstGeom prst="ellipse">
            <a:avLst/>
          </a:prstGeom>
          <a:solidFill>
            <a:srgbClr val="F5D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70912" y="7366018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1305" y="4769060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2236568" y="6911697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192335" y="5359566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892805" y="2705030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449677" y="7693451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30426" y="4576486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260737" y="4787362"/>
            <a:ext cx="14630" cy="14630"/>
          </a:xfrm>
          <a:prstGeom prst="ellipse">
            <a:avLst/>
          </a:prstGeom>
          <a:solidFill>
            <a:srgbClr val="F5D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464526" y="5565643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542197" y="7600619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2298151" y="6209324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668025" y="2670738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257784" y="996826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815141" y="791181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463600" y="7104419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77994" y="2256342"/>
            <a:ext cx="14630" cy="14630"/>
          </a:xfrm>
          <a:prstGeom prst="ellipse">
            <a:avLst/>
          </a:prstGeom>
          <a:solidFill>
            <a:srgbClr val="F5D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093279" y="6335896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603908" y="5910313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146988" y="3143700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506473" y="3931584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388266" y="759148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34879" y="2224407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968373" y="7124833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924170" y="7204522"/>
            <a:ext cx="10972" cy="10972"/>
          </a:xfrm>
          <a:prstGeom prst="ellipse">
            <a:avLst/>
          </a:prstGeom>
          <a:solidFill>
            <a:srgbClr val="F5D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600829" y="4980428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257552" y="5293078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308297" y="974525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940086" y="4514997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559518" y="2507993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704219" y="4480208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30687" y="212710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1911324" y="5069916"/>
            <a:ext cx="23774" cy="23774"/>
          </a:xfrm>
          <a:prstGeom prst="ellipse">
            <a:avLst/>
          </a:prstGeom>
          <a:solidFill>
            <a:srgbClr val="F5D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442505" y="1800863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865989" y="1085942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089594" y="5350970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2708342" y="7105768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465686" y="2241359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3304016" y="2282529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879260" y="5401228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1684968" y="3419477"/>
            <a:ext cx="29260" cy="29260"/>
          </a:xfrm>
          <a:prstGeom prst="ellipse">
            <a:avLst/>
          </a:prstGeom>
          <a:solidFill>
            <a:srgbClr val="F5D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8018583" y="6756333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3952497" y="5554459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904754" y="800160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777995" y="6102672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4046644" y="6503522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6143080" y="7909371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4408191" y="5086609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4650688" y="5867458"/>
            <a:ext cx="10972" cy="10972"/>
          </a:xfrm>
          <a:prstGeom prst="ellipse">
            <a:avLst/>
          </a:prstGeom>
          <a:solidFill>
            <a:srgbClr val="F5D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5635046" y="3289449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530165" y="7353361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666193" y="1352801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3366350" y="4582009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2538925" y="7063887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5562235" y="3979240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585293" y="2336100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604258" y="7137677"/>
            <a:ext cx="18288" cy="18288"/>
          </a:xfrm>
          <a:prstGeom prst="ellipse">
            <a:avLst/>
          </a:prstGeom>
          <a:solidFill>
            <a:srgbClr val="F5D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755598" y="3898192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337110" y="6573301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4083216" y="4026418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1981113" y="7799444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925852" y="3441259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6407234" y="7324207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983790" y="6962667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990722" y="5730378"/>
            <a:ext cx="23774" cy="23774"/>
          </a:xfrm>
          <a:prstGeom prst="ellipse">
            <a:avLst/>
          </a:prstGeom>
          <a:solidFill>
            <a:srgbClr val="F5D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11286561" y="4281812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2547850" y="7025146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3638828" y="3751450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3991489" y="6621151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9196764" y="1151332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5409911" y="4827184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8497851" y="2917344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0832108" y="5568396"/>
            <a:ext cx="18288" cy="18288"/>
          </a:xfrm>
          <a:prstGeom prst="ellipse">
            <a:avLst/>
          </a:prstGeom>
          <a:solidFill>
            <a:srgbClr val="F5D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5612961" y="1456509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2389663" y="5244173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9429750" y="4195774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13173183" y="5244108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3268411" y="4938985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6149300" y="3126210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3674955" y="3831581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8463387" y="240324"/>
            <a:ext cx="18288" cy="18288"/>
          </a:xfrm>
          <a:prstGeom prst="ellipse">
            <a:avLst/>
          </a:prstGeom>
          <a:solidFill>
            <a:srgbClr val="F5D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4344310" y="1028054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4279896" y="5191126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9495023" y="7627198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2204971" y="6167450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9558545" y="5505110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4411070" y="2211105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594360" y="749808"/>
            <a:ext cx="13441680" cy="203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58368" y="292608"/>
            <a:ext cx="43891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>
                <a:solidFill>
                  <a:srgbClr val="F5DE8C"/>
                </a:solidFill>
                <a:latin typeface="Microsoft YaHei UI"/>
              </a:rPr>
              <a:t>OBSERVATION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40080" y="475488"/>
            <a:ext cx="11430000" cy="5669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0F1EB"/>
                </a:solidFill>
                <a:latin typeface="Microsoft YaHei UI"/>
              </a:rPr>
              <a:t>观测路径：从肉眼银河到空间测绘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914400" y="1828800"/>
            <a:ext cx="3794760" cy="4160520"/>
          </a:xfrm>
          <a:prstGeom prst="roundRect">
            <a:avLst/>
          </a:prstGeom>
          <a:solidFill>
            <a:srgbClr val="0E1016"/>
          </a:solidFill>
          <a:ln w="12700">
            <a:solidFill>
              <a:srgbClr val="7458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143000" y="2029968"/>
            <a:ext cx="50292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700" b="1">
                <a:solidFill>
                  <a:srgbClr val="D4AF37"/>
                </a:solidFill>
                <a:latin typeface="Microsoft YaHei UI"/>
              </a:rPr>
              <a:t>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691640" y="2048256"/>
            <a:ext cx="283464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5DE8C"/>
                </a:solidFill>
                <a:latin typeface="Microsoft YaHei UI"/>
              </a:rPr>
              <a:t>肉眼观测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170432" y="2542032"/>
            <a:ext cx="3282696" cy="3300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F0F1EB"/>
                </a:solidFill>
                <a:latin typeface="Microsoft YaHei"/>
              </a:rPr>
              <a:t>晴朗暗夜中，银河呈现为横跨天穹的乳白色光带。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5303520" y="1828800"/>
            <a:ext cx="3794760" cy="4160520"/>
          </a:xfrm>
          <a:prstGeom prst="roundRect">
            <a:avLst/>
          </a:prstGeom>
          <a:solidFill>
            <a:srgbClr val="0E1016"/>
          </a:solidFill>
          <a:ln w="12700">
            <a:solidFill>
              <a:srgbClr val="7458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5532120" y="2029968"/>
            <a:ext cx="50292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700" b="1">
                <a:solidFill>
                  <a:srgbClr val="D4AF37"/>
                </a:solidFill>
                <a:latin typeface="Microsoft YaHei UI"/>
              </a:rPr>
              <a:t>2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080759" y="2048256"/>
            <a:ext cx="283464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5DE8C"/>
                </a:solidFill>
                <a:latin typeface="Microsoft YaHei UI"/>
              </a:rPr>
              <a:t>地面望远镜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559552" y="2542032"/>
            <a:ext cx="3282696" cy="3300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F0F1EB"/>
                </a:solidFill>
                <a:latin typeface="Microsoft YaHei"/>
              </a:rPr>
              <a:t>解析星团、星云与恒星形成区，补充光学和射电数据。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9692640" y="1828800"/>
            <a:ext cx="3794760" cy="4160520"/>
          </a:xfrm>
          <a:prstGeom prst="roundRect">
            <a:avLst/>
          </a:prstGeom>
          <a:solidFill>
            <a:srgbClr val="0E1016"/>
          </a:solidFill>
          <a:ln w="12700">
            <a:solidFill>
              <a:srgbClr val="7458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9921240" y="2029968"/>
            <a:ext cx="50292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700" b="1">
                <a:solidFill>
                  <a:srgbClr val="D4AF37"/>
                </a:solidFill>
                <a:latin typeface="Microsoft YaHei UI"/>
              </a:rPr>
              <a:t>3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0469880" y="2048256"/>
            <a:ext cx="283464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5DE8C"/>
                </a:solidFill>
                <a:latin typeface="Microsoft YaHei UI"/>
              </a:rPr>
              <a:t>空间任务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948672" y="2542032"/>
            <a:ext cx="3282696" cy="3300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F0F1EB"/>
                </a:solidFill>
                <a:latin typeface="Microsoft YaHei"/>
              </a:rPr>
              <a:t>哈勃、盖亚、詹姆斯·韦伯等任务推动三维测绘和化学演化研究。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051560" y="6492240"/>
            <a:ext cx="124358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AAABA6"/>
                </a:solidFill>
                <a:latin typeface="Microsoft YaHei"/>
              </a:rPr>
              <a:t>现代天文学将不同波段与大规模数据集结合，逐步穿透尘埃遮挡，校准银河系结构模型。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5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960120"/>
          </a:xfrm>
          <a:prstGeom prst="rect">
            <a:avLst/>
          </a:prstGeom>
          <a:solidFill>
            <a:srgbClr val="0A0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37577" y="459008"/>
            <a:ext cx="29260" cy="29260"/>
          </a:xfrm>
          <a:prstGeom prst="ellipse">
            <a:avLst/>
          </a:prstGeom>
          <a:solidFill>
            <a:srgbClr val="F5D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987943" y="5760086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101333" y="5435628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2221278" y="6755094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276739" y="3863501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683121" y="7215991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162440" y="6001202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395640" y="2773157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724707" y="1103709"/>
            <a:ext cx="10972" cy="10972"/>
          </a:xfrm>
          <a:prstGeom prst="ellipse">
            <a:avLst/>
          </a:prstGeom>
          <a:solidFill>
            <a:srgbClr val="F5D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46533" y="1703846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676348" y="3412602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337315" y="2861914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108405" y="6925179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067761" y="5116369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83647" y="219730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008273" y="1501060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354170" y="6279078"/>
            <a:ext cx="14630" cy="14630"/>
          </a:xfrm>
          <a:prstGeom prst="ellipse">
            <a:avLst/>
          </a:prstGeom>
          <a:solidFill>
            <a:srgbClr val="F5D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169080" y="3336658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963" y="4356056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2892217" y="6100006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03744" y="215120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033724" y="2875047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569537" y="4785178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910554" y="2514261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527809" y="4845371"/>
            <a:ext cx="18288" cy="18288"/>
          </a:xfrm>
          <a:prstGeom prst="ellipse">
            <a:avLst/>
          </a:prstGeom>
          <a:solidFill>
            <a:srgbClr val="F5D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2834144" y="7965602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219579" y="1656017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335354" y="5867973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617744" y="4793169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325296" y="5268882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2669533" y="2182670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599295" y="557839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40391" y="1088138"/>
            <a:ext cx="23774" cy="23774"/>
          </a:xfrm>
          <a:prstGeom prst="ellipse">
            <a:avLst/>
          </a:prstGeom>
          <a:solidFill>
            <a:srgbClr val="F5D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825711" y="2158818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057736" y="5110729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574880" y="5362251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077564" y="7208414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117206" y="6318228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816442" y="6265056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200438" y="3386403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939904" y="7300157"/>
            <a:ext cx="23774" cy="23774"/>
          </a:xfrm>
          <a:prstGeom prst="ellipse">
            <a:avLst/>
          </a:prstGeom>
          <a:solidFill>
            <a:srgbClr val="F5D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423017" y="282556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2074566" y="5413373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1272300" y="769615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325329" y="3753815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732149" y="963198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2319635" y="2999081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682028" y="925589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2316035" y="5369069"/>
            <a:ext cx="14630" cy="14630"/>
          </a:xfrm>
          <a:prstGeom prst="ellipse">
            <a:avLst/>
          </a:prstGeom>
          <a:solidFill>
            <a:srgbClr val="F5D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194758" y="3604984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2697348" y="909584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685105" y="3312084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2081424" y="5576619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9390277" y="6413214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0071819" y="641384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037267" y="4801436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2656198" y="3151817"/>
            <a:ext cx="18288" cy="18288"/>
          </a:xfrm>
          <a:prstGeom prst="ellipse">
            <a:avLst/>
          </a:prstGeom>
          <a:solidFill>
            <a:srgbClr val="F5D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2468363" y="7062436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3301107" y="1065838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707804" y="2228200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0192769" y="5483009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4129176" y="5419803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279508" y="5863932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9604347" y="5197456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213427" y="7487907"/>
            <a:ext cx="29260" cy="29260"/>
          </a:xfrm>
          <a:prstGeom prst="ellipse">
            <a:avLst/>
          </a:prstGeom>
          <a:solidFill>
            <a:srgbClr val="F5D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12314197" y="6980075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4663424" y="2769855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346414" y="4486720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11813478" y="799187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313364" y="4079869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4169143" y="6009247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5855977" y="463018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1940292" y="6373136"/>
            <a:ext cx="29260" cy="29260"/>
          </a:xfrm>
          <a:prstGeom prst="ellipse">
            <a:avLst/>
          </a:prstGeom>
          <a:solidFill>
            <a:srgbClr val="F5D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12864919" y="4579263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5278505" y="607210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4826723" y="6182633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0366886" y="3023160"/>
            <a:ext cx="23774" cy="23774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448988" y="5334319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5160360" y="5136919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157166" y="540778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2068441" y="5787347"/>
            <a:ext cx="23774" cy="23774"/>
          </a:xfrm>
          <a:prstGeom prst="ellipse">
            <a:avLst/>
          </a:prstGeom>
          <a:solidFill>
            <a:srgbClr val="F5D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3707943" y="1714617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3150596" y="6629343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597740" y="3423258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11166000" y="3704978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13926963" y="216792"/>
            <a:ext cx="10972" cy="10972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12126181" y="3958500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10009140" y="1540498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5625057" y="4878020"/>
            <a:ext cx="18288" cy="18288"/>
          </a:xfrm>
          <a:prstGeom prst="ellipse">
            <a:avLst/>
          </a:prstGeom>
          <a:solidFill>
            <a:srgbClr val="F5D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6075245" y="4944065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5775764" y="2863391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11636242" y="1263187"/>
            <a:ext cx="29260" cy="2926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12187509" y="4465692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2938884" y="5062697"/>
            <a:ext cx="18288" cy="18288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3312539" y="1220123"/>
            <a:ext cx="14630" cy="14630"/>
          </a:xfrm>
          <a:prstGeom prst="ellipse">
            <a:avLst/>
          </a:prstGeom>
          <a:solidFill>
            <a:srgbClr val="80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594360" y="749808"/>
            <a:ext cx="13441680" cy="203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58368" y="292608"/>
            <a:ext cx="43891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>
                <a:solidFill>
                  <a:srgbClr val="F5DE8C"/>
                </a:solidFill>
                <a:latin typeface="Microsoft YaHei UI"/>
              </a:rPr>
              <a:t>CLOSING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40080" y="475488"/>
            <a:ext cx="11430000" cy="5669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0F1EB"/>
                </a:solidFill>
                <a:latin typeface="Microsoft YaHei UI"/>
              </a:rPr>
              <a:t>结语：银河系是理解宇宙演化的近场样本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234440" y="2057400"/>
            <a:ext cx="11795760" cy="2057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100" b="1">
                <a:solidFill>
                  <a:srgbClr val="D4AF37"/>
                </a:solidFill>
                <a:latin typeface="Microsoft YaHei"/>
              </a:rPr>
              <a:t>•  </a:t>
            </a:r>
            <a:r>
              <a:rPr sz="2100">
                <a:solidFill>
                  <a:srgbClr val="F0F1EB"/>
                </a:solidFill>
                <a:latin typeface="Microsoft YaHei"/>
              </a:rPr>
              <a:t>它为研究恒星生命周期、行星系统多样性、星际介质循环提供了最近的实验场。</a:t>
            </a:r>
          </a:p>
          <a:p>
            <a:pPr>
              <a:spcAft>
                <a:spcPts val="1000"/>
              </a:spcAft>
            </a:pPr>
            <a:r>
              <a:rPr sz="2100" b="1">
                <a:solidFill>
                  <a:srgbClr val="D4AF37"/>
                </a:solidFill>
                <a:latin typeface="Microsoft YaHei"/>
              </a:rPr>
              <a:t>•  </a:t>
            </a:r>
            <a:r>
              <a:rPr sz="2100">
                <a:solidFill>
                  <a:srgbClr val="F0F1EB"/>
                </a:solidFill>
                <a:latin typeface="Microsoft YaHei"/>
              </a:rPr>
              <a:t>它揭示了暗物质在星系尺度上的主导作用，也展示了星系并合对宇宙结构的长期影响。</a:t>
            </a:r>
          </a:p>
          <a:p>
            <a:pPr>
              <a:spcAft>
                <a:spcPts val="1000"/>
              </a:spcAft>
            </a:pPr>
            <a:r>
              <a:rPr sz="2100" b="1">
                <a:solidFill>
                  <a:srgbClr val="D4AF37"/>
                </a:solidFill>
                <a:latin typeface="Microsoft YaHei"/>
              </a:rPr>
              <a:t>•  </a:t>
            </a:r>
            <a:r>
              <a:rPr sz="2100">
                <a:solidFill>
                  <a:srgbClr val="F0F1EB"/>
                </a:solidFill>
                <a:latin typeface="Microsoft YaHei"/>
              </a:rPr>
              <a:t>通过持续观测与数据建模，人类正在把夜空中的“银河”转化为可量化、可推演的三维星系图谱。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234440" y="5943600"/>
            <a:ext cx="45720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500" b="1">
                <a:solidFill>
                  <a:srgbClr val="F5DE8C"/>
                </a:solidFill>
                <a:latin typeface="Microsoft YaHei UI"/>
              </a:rPr>
              <a:t>MILKY WAY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261872" y="6492240"/>
            <a:ext cx="53035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AAABA6"/>
                </a:solidFill>
                <a:latin typeface="Microsoft YaHei"/>
              </a:rPr>
              <a:t>A premium briefing deck in black and gold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银河系高端商务风格演示文稿</dc:title>
  <dc:subject>银河系结构、组成、起源演化与观测研究</dc:subject>
  <dc:creator>Codex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