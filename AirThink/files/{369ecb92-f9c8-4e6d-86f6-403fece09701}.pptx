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EF4F4F"/>
                </a:solidFill>
                <a:latin typeface="Comic Sans MS"/>
              </a:defRPr>
            </a:pPr>
            <a:r>
              <a:t>史前巨兽大揭秘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比今天的大象、鲸和鲨鱼更早登场的地球明星。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恐龙、巨型哺乳动物、海洋爬行动物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通过化石把远古故事拼回来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EF4F4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7987283" y="3076956"/>
            <a:ext cx="2256282" cy="1132941"/>
          </a:xfrm>
          <a:prstGeom prst="ellipse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63506" y="2520086"/>
            <a:ext cx="1296162" cy="883310"/>
          </a:xfrm>
          <a:prstGeom prst="ellipse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7411212" y="3124962"/>
            <a:ext cx="720090" cy="336042"/>
          </a:xfrm>
          <a:prstGeom prst="line">
            <a:avLst/>
          </a:prstGeom>
          <a:ln w="1143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11212" y="3124962"/>
            <a:ext cx="576071" cy="672084"/>
          </a:xfrm>
          <a:prstGeom prst="line">
            <a:avLst/>
          </a:prstGeom>
          <a:ln w="1143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496147" y="4017873"/>
            <a:ext cx="115215" cy="835305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96147" y="4853178"/>
            <a:ext cx="326441" cy="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389059" y="4017873"/>
            <a:ext cx="115214" cy="835305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89059" y="4853178"/>
            <a:ext cx="326441" cy="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26726" y="3249777"/>
            <a:ext cx="240030" cy="451256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176357" y="3249777"/>
            <a:ext cx="240030" cy="451256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522000" y="2769717"/>
            <a:ext cx="105613" cy="105613"/>
          </a:xfrm>
          <a:prstGeom prst="ellipse">
            <a:avLst/>
          </a:prstGeom>
          <a:solidFill>
            <a:srgbClr val="31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10550804" y="3115360"/>
            <a:ext cx="393649" cy="19203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19953" y="2768212"/>
            <a:ext cx="109728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229681" y="2740780"/>
            <a:ext cx="118872" cy="192024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814985" y="2756677"/>
            <a:ext cx="109728" cy="16459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924713" y="2729245"/>
            <a:ext cx="118872" cy="192024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03463" y="5442766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813191" y="5415334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42463" y="2791400"/>
            <a:ext cx="109728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752191" y="2763968"/>
            <a:ext cx="118872" cy="192024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FFA237"/>
                </a:solidFill>
                <a:latin typeface="Comic Sans MS"/>
              </a:defRPr>
            </a:pPr>
            <a:r>
              <a:t>今天的探险地图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20 页小小考古笔记。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先认识“史前”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再拜访陆地和海洋巨兽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最后看看灭绝与现代科学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FFA237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691640"/>
            <a:ext cx="3429000" cy="2743200"/>
          </a:xfrm>
          <a:prstGeom prst="roundRect">
            <a:avLst/>
          </a:prstGeom>
          <a:solidFill>
            <a:srgbClr val="FFF4B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680960" y="2194560"/>
            <a:ext cx="731520" cy="640080"/>
          </a:xfrm>
          <a:prstGeom prst="line">
            <a:avLst/>
          </a:prstGeom>
          <a:ln w="508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412480" y="2514600"/>
            <a:ext cx="914400" cy="320040"/>
          </a:xfrm>
          <a:prstGeom prst="line">
            <a:avLst/>
          </a:prstGeom>
          <a:ln w="508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2514600"/>
            <a:ext cx="822960" cy="868680"/>
          </a:xfrm>
          <a:prstGeom prst="line">
            <a:avLst/>
          </a:prstGeom>
          <a:ln w="508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18120" y="3246120"/>
            <a:ext cx="868680" cy="502919"/>
          </a:xfrm>
          <a:prstGeom prst="line">
            <a:avLst/>
          </a:prstGeom>
          <a:ln w="508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86800" y="3246120"/>
            <a:ext cx="1097280" cy="594360"/>
          </a:xfrm>
          <a:prstGeom prst="line">
            <a:avLst/>
          </a:prstGeom>
          <a:ln w="508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784080" y="2194560"/>
            <a:ext cx="502920" cy="1645920"/>
          </a:xfrm>
          <a:prstGeom prst="line">
            <a:avLst/>
          </a:prstGeom>
          <a:ln w="508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635240" y="2148840"/>
            <a:ext cx="292608" cy="292608"/>
          </a:xfrm>
          <a:prstGeom prst="ellipse">
            <a:avLst/>
          </a:prstGeom>
          <a:solidFill>
            <a:srgbClr val="FF7EB1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04120" y="3337560"/>
            <a:ext cx="292608" cy="292608"/>
          </a:xfrm>
          <a:prstGeom prst="ellipse">
            <a:avLst/>
          </a:prstGeom>
          <a:solidFill>
            <a:srgbClr val="FF7EB1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38360" y="2148840"/>
            <a:ext cx="292608" cy="292608"/>
          </a:xfrm>
          <a:prstGeom prst="ellipse">
            <a:avLst/>
          </a:prstGeom>
          <a:solidFill>
            <a:srgbClr val="FF7EB1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837934" y="4231084"/>
            <a:ext cx="109728" cy="164592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947662" y="4203652"/>
            <a:ext cx="118872" cy="192024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132480" y="5350246"/>
            <a:ext cx="109728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242208" y="5322814"/>
            <a:ext cx="118872" cy="192024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37814" y="5519948"/>
            <a:ext cx="109728" cy="16459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647542" y="5492516"/>
            <a:ext cx="118872" cy="192024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135160" y="1167671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244888" y="1140239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39556" y="4224483"/>
            <a:ext cx="109728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349284" y="4197051"/>
            <a:ext cx="118872" cy="192024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FFDC4E"/>
                </a:solidFill>
                <a:latin typeface="Comic Sans MS"/>
              </a:defRPr>
            </a:pPr>
            <a:r>
              <a:t>什么是史前巨兽？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在人类出现前生活过的巨大生物。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多数只能通过化石认识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体型大，但并不都很凶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分布在不同地质时代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FFDC4E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3</a:t>
            </a:r>
          </a:p>
        </p:txBody>
      </p:sp>
      <p:sp>
        <p:nvSpPr>
          <p:cNvPr id="24" name="Oval 23"/>
          <p:cNvSpPr/>
          <p:nvPr/>
        </p:nvSpPr>
        <p:spPr>
          <a:xfrm rot="1500000">
            <a:off x="7772400" y="2011680"/>
            <a:ext cx="685800" cy="96012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26679" y="1920240"/>
            <a:ext cx="182880" cy="1828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27848" y="1901952"/>
            <a:ext cx="182880" cy="1828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29015" y="1883664"/>
            <a:ext cx="182880" cy="1828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1500000">
            <a:off x="8549640" y="2514600"/>
            <a:ext cx="685800" cy="96012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03919" y="2423160"/>
            <a:ext cx="182880" cy="1828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05088" y="2404872"/>
            <a:ext cx="182880" cy="1828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06255" y="2386584"/>
            <a:ext cx="182880" cy="1828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 rot="1500000">
            <a:off x="9326880" y="3017520"/>
            <a:ext cx="685800" cy="96012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81159" y="2926080"/>
            <a:ext cx="182880" cy="1828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82328" y="2907792"/>
            <a:ext cx="182880" cy="1828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83495" y="2889504"/>
            <a:ext cx="182880" cy="1828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9076052" y="2302986"/>
            <a:ext cx="109728" cy="16459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185780" y="2275554"/>
            <a:ext cx="118872" cy="192024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808332" y="4570593"/>
            <a:ext cx="109728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918060" y="4543161"/>
            <a:ext cx="118872" cy="192024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5BC475"/>
                </a:solidFill>
                <a:latin typeface="Comic Sans MS"/>
              </a:defRPr>
            </a:pPr>
            <a:r>
              <a:t>时间轴：从三叠纪到冰河时代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不同巨兽生活在不同年代。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中生代：恐龙与海洋爬行动物繁盛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6600 万年前：恐龙大灭绝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新生代：猛犸象、剑齿虎登场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0" y="2926080"/>
            <a:ext cx="3566160" cy="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452360" y="2724912"/>
            <a:ext cx="384048" cy="384048"/>
          </a:xfrm>
          <a:prstGeom prst="ellipse">
            <a:avLst/>
          </a:prstGeom>
          <a:solidFill>
            <a:srgbClr val="EF4F4F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200400"/>
            <a:ext cx="8686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300" b="1">
                <a:solidFill>
                  <a:srgbClr val="312D2A"/>
                </a:solidFill>
                <a:latin typeface="Comic Sans MS"/>
              </a:defRPr>
            </a:pPr>
            <a:r>
              <a:t>三叠</a:t>
            </a:r>
          </a:p>
        </p:txBody>
      </p:sp>
      <p:sp>
        <p:nvSpPr>
          <p:cNvPr id="27" name="Oval 26"/>
          <p:cNvSpPr/>
          <p:nvPr/>
        </p:nvSpPr>
        <p:spPr>
          <a:xfrm>
            <a:off x="8531352" y="2724912"/>
            <a:ext cx="384048" cy="384048"/>
          </a:xfrm>
          <a:prstGeom prst="ellipse">
            <a:avLst/>
          </a:prstGeom>
          <a:solidFill>
            <a:srgbClr val="FFDC4E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3200400"/>
            <a:ext cx="8686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300" b="1">
                <a:solidFill>
                  <a:srgbClr val="312D2A"/>
                </a:solidFill>
                <a:latin typeface="Comic Sans MS"/>
              </a:defRPr>
            </a:pPr>
            <a:r>
              <a:t>侏罗</a:t>
            </a:r>
          </a:p>
        </p:txBody>
      </p:sp>
      <p:sp>
        <p:nvSpPr>
          <p:cNvPr id="29" name="Oval 28"/>
          <p:cNvSpPr/>
          <p:nvPr/>
        </p:nvSpPr>
        <p:spPr>
          <a:xfrm>
            <a:off x="9610344" y="2724912"/>
            <a:ext cx="384048" cy="384048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73184" y="3200400"/>
            <a:ext cx="8686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300" b="1">
                <a:solidFill>
                  <a:srgbClr val="312D2A"/>
                </a:solidFill>
                <a:latin typeface="Comic Sans MS"/>
              </a:defRPr>
            </a:pPr>
            <a:r>
              <a:t>白垩</a:t>
            </a:r>
          </a:p>
        </p:txBody>
      </p:sp>
      <p:sp>
        <p:nvSpPr>
          <p:cNvPr id="31" name="Oval 30"/>
          <p:cNvSpPr/>
          <p:nvPr/>
        </p:nvSpPr>
        <p:spPr>
          <a:xfrm>
            <a:off x="10689336" y="2724912"/>
            <a:ext cx="384048" cy="384048"/>
          </a:xfrm>
          <a:prstGeom prst="ellipse">
            <a:avLst/>
          </a:prstGeom>
          <a:solidFill>
            <a:srgbClr val="498BF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52176" y="3200400"/>
            <a:ext cx="8686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300" b="1">
                <a:solidFill>
                  <a:srgbClr val="312D2A"/>
                </a:solidFill>
                <a:latin typeface="Comic Sans MS"/>
              </a:defRPr>
            </a:pPr>
            <a:r>
              <a:t>冰河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90888" y="3353284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900616" y="3325852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30532" y="4597824"/>
            <a:ext cx="109728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440260" y="4570392"/>
            <a:ext cx="118872" cy="192024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89010" y="2598885"/>
            <a:ext cx="109728" cy="164592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998738" y="2571453"/>
            <a:ext cx="118872" cy="192024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05527" y="3329806"/>
            <a:ext cx="109728" cy="164592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5255" y="3302374"/>
            <a:ext cx="118872" cy="192024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43BEC6"/>
                </a:solidFill>
                <a:latin typeface="Comic Sans MS"/>
              </a:defRPr>
            </a:pPr>
            <a:r>
              <a:t>为什么要研究它们？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巨兽是地球历史留下的线索。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了解古气候和生态系统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寻找物种灭绝的原因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帮助保护今天的生物多样性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43BEC6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7987283" y="3076956"/>
            <a:ext cx="2256282" cy="1132941"/>
          </a:xfrm>
          <a:prstGeom prst="ellipse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63506" y="2520086"/>
            <a:ext cx="1296162" cy="883310"/>
          </a:xfrm>
          <a:prstGeom prst="ellipse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7411212" y="3124962"/>
            <a:ext cx="720090" cy="336042"/>
          </a:xfrm>
          <a:prstGeom prst="line">
            <a:avLst/>
          </a:prstGeom>
          <a:ln w="1143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11212" y="3124962"/>
            <a:ext cx="576071" cy="672084"/>
          </a:xfrm>
          <a:prstGeom prst="line">
            <a:avLst/>
          </a:prstGeom>
          <a:ln w="1143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496147" y="4017873"/>
            <a:ext cx="115215" cy="835305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96147" y="4853178"/>
            <a:ext cx="326441" cy="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389059" y="4017873"/>
            <a:ext cx="115214" cy="835305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89059" y="4853178"/>
            <a:ext cx="326441" cy="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26726" y="3249777"/>
            <a:ext cx="240030" cy="451256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176357" y="3249777"/>
            <a:ext cx="240030" cy="451256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522000" y="2769717"/>
            <a:ext cx="105613" cy="105613"/>
          </a:xfrm>
          <a:prstGeom prst="ellipse">
            <a:avLst/>
          </a:prstGeom>
          <a:solidFill>
            <a:srgbClr val="31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0550804" y="3115360"/>
            <a:ext cx="393649" cy="19203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29555" y="5391894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339283" y="5364462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873648" y="3891602"/>
            <a:ext cx="109728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983376" y="3864170"/>
            <a:ext cx="118872" cy="192024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214220" y="2474865"/>
            <a:ext cx="109728" cy="164592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323948" y="2447433"/>
            <a:ext cx="118872" cy="192024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916229" y="4637397"/>
            <a:ext cx="109728" cy="164592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025957" y="4609965"/>
            <a:ext cx="118872" cy="192024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498BF5"/>
                </a:solidFill>
                <a:latin typeface="Comic Sans MS"/>
              </a:defRPr>
            </a:pPr>
            <a:r>
              <a:t>暴龙：顶级捕食者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T. rex 体长可达约 12 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强壮后腿适合追击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牙齿像一排锋利香蕉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嗅觉灵敏，咬合力惊人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498BF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7987283" y="3076956"/>
            <a:ext cx="2256282" cy="1132941"/>
          </a:xfrm>
          <a:prstGeom prst="ellipse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63506" y="2520086"/>
            <a:ext cx="1296162" cy="883310"/>
          </a:xfrm>
          <a:prstGeom prst="ellipse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7411212" y="3124962"/>
            <a:ext cx="720090" cy="336042"/>
          </a:xfrm>
          <a:prstGeom prst="line">
            <a:avLst/>
          </a:prstGeom>
          <a:ln w="1143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11212" y="3124962"/>
            <a:ext cx="576071" cy="672084"/>
          </a:xfrm>
          <a:prstGeom prst="line">
            <a:avLst/>
          </a:prstGeom>
          <a:ln w="1143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496147" y="4017873"/>
            <a:ext cx="115215" cy="835305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96147" y="4853178"/>
            <a:ext cx="326441" cy="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389059" y="4017873"/>
            <a:ext cx="115214" cy="835305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89059" y="4853178"/>
            <a:ext cx="326441" cy="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26726" y="3249777"/>
            <a:ext cx="240030" cy="451256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176357" y="3249777"/>
            <a:ext cx="240030" cy="451256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522000" y="2769717"/>
            <a:ext cx="105613" cy="105613"/>
          </a:xfrm>
          <a:prstGeom prst="ellipse">
            <a:avLst/>
          </a:prstGeom>
          <a:solidFill>
            <a:srgbClr val="31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0550804" y="3115360"/>
            <a:ext cx="393649" cy="19203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51326" y="3681397"/>
            <a:ext cx="109728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861054" y="3653965"/>
            <a:ext cx="118872" cy="192024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42539" y="4527453"/>
            <a:ext cx="109728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352267" y="4500021"/>
            <a:ext cx="118872" cy="192024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192404" y="2489916"/>
            <a:ext cx="109728" cy="164592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02132" y="2462484"/>
            <a:ext cx="118872" cy="192024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424211" y="2135423"/>
            <a:ext cx="109728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533939" y="2107991"/>
            <a:ext cx="118872" cy="192024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9A65EC"/>
                </a:solidFill>
                <a:latin typeface="Comic Sans MS"/>
              </a:defRPr>
            </a:pPr>
            <a:r>
              <a:t>腕龙：长脖子的树梢食客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高大的草食恐龙，能吃到高处植物。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身高可达约 15 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长脖子扩大取食范围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庞大身体是天然防御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9A65EC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7</a:t>
            </a:r>
          </a:p>
        </p:txBody>
      </p:sp>
      <p:sp>
        <p:nvSpPr>
          <p:cNvPr id="24" name="Oval 23"/>
          <p:cNvSpPr/>
          <p:nvPr/>
        </p:nvSpPr>
        <p:spPr>
          <a:xfrm>
            <a:off x="7747254" y="3316986"/>
            <a:ext cx="2736342" cy="1008126"/>
          </a:xfrm>
          <a:prstGeom prst="ellipse">
            <a:avLst/>
          </a:prstGeom>
          <a:solidFill>
            <a:srgbClr val="43BEC6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9926726" y="2520086"/>
            <a:ext cx="460858" cy="892912"/>
          </a:xfrm>
          <a:prstGeom prst="line">
            <a:avLst/>
          </a:prstGeom>
          <a:ln w="1778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387584" y="2356866"/>
            <a:ext cx="336042" cy="163220"/>
          </a:xfrm>
          <a:prstGeom prst="line">
            <a:avLst/>
          </a:prstGeom>
          <a:ln w="1778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627614" y="2164842"/>
            <a:ext cx="556869" cy="403250"/>
          </a:xfrm>
          <a:prstGeom prst="ellipse">
            <a:avLst/>
          </a:prstGeom>
          <a:solidFill>
            <a:srgbClr val="43BEC6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71182" y="3124962"/>
            <a:ext cx="672084" cy="451256"/>
          </a:xfrm>
          <a:prstGeom prst="line">
            <a:avLst/>
          </a:prstGeom>
          <a:ln w="1270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75320" y="4094683"/>
            <a:ext cx="0" cy="691286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99398" y="4094683"/>
            <a:ext cx="0" cy="691286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475470" y="4094683"/>
            <a:ext cx="0" cy="691286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51542" y="4094683"/>
            <a:ext cx="0" cy="691286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65591" y="2616655"/>
            <a:ext cx="109728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175319" y="2589223"/>
            <a:ext cx="118872" cy="192024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15834" y="2654628"/>
            <a:ext cx="109728" cy="164592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25562" y="2627196"/>
            <a:ext cx="118872" cy="192024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159045" y="2480250"/>
            <a:ext cx="109728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268773" y="2452818"/>
            <a:ext cx="118872" cy="192024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52947" y="3236769"/>
            <a:ext cx="109728" cy="16459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562675" y="3209337"/>
            <a:ext cx="118872" cy="192024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FF7EB1"/>
                </a:solidFill>
                <a:latin typeface="Comic Sans MS"/>
              </a:defRPr>
            </a:pPr>
            <a:r>
              <a:t>猛犸象：冰河时代的毛毛巨人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像大象，但披着厚厚毛衣。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体高可达约 4 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长毛和脂肪帮助保暖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弯曲长牙能拨雪找草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FF7EB1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8</a:t>
            </a:r>
          </a:p>
        </p:txBody>
      </p:sp>
      <p:sp>
        <p:nvSpPr>
          <p:cNvPr id="24" name="Oval 23"/>
          <p:cNvSpPr/>
          <p:nvPr/>
        </p:nvSpPr>
        <p:spPr>
          <a:xfrm>
            <a:off x="7843266" y="2961741"/>
            <a:ext cx="2736342" cy="1392174"/>
          </a:xfrm>
          <a:prstGeom prst="ellipse">
            <a:avLst/>
          </a:prstGeom>
          <a:solidFill>
            <a:srgbClr val="FFA237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99548" y="2932938"/>
            <a:ext cx="912114" cy="883310"/>
          </a:xfrm>
          <a:prstGeom prst="ellipse">
            <a:avLst/>
          </a:prstGeom>
          <a:solidFill>
            <a:srgbClr val="FFA237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27614" y="3633825"/>
            <a:ext cx="96012" cy="691287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406786" y="4325112"/>
            <a:ext cx="316840" cy="211226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560405" y="3461004"/>
            <a:ext cx="739293" cy="240029"/>
          </a:xfrm>
          <a:prstGeom prst="line">
            <a:avLst/>
          </a:prstGeom>
          <a:ln w="762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059667" y="3701033"/>
            <a:ext cx="240031" cy="384049"/>
          </a:xfrm>
          <a:prstGeom prst="line">
            <a:avLst/>
          </a:prstGeom>
          <a:ln w="762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523476" y="3480206"/>
            <a:ext cx="672084" cy="249631"/>
          </a:xfrm>
          <a:prstGeom prst="line">
            <a:avLst/>
          </a:prstGeom>
          <a:ln w="762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523476" y="3729837"/>
            <a:ext cx="240030" cy="326441"/>
          </a:xfrm>
          <a:prstGeom prst="line">
            <a:avLst/>
          </a:prstGeom>
          <a:ln w="762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71332" y="4113885"/>
            <a:ext cx="0" cy="643281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024213" y="4113885"/>
            <a:ext cx="0" cy="643281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67494" y="4113885"/>
            <a:ext cx="0" cy="643281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195560" y="4113885"/>
            <a:ext cx="0" cy="643281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006486" y="3105759"/>
            <a:ext cx="76810" cy="43205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332927" y="3105759"/>
            <a:ext cx="76809" cy="43205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659368" y="3105759"/>
            <a:ext cx="76809" cy="43205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985808" y="3105759"/>
            <a:ext cx="76810" cy="43205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312249" y="3105759"/>
            <a:ext cx="76810" cy="43205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638690" y="3105759"/>
            <a:ext cx="76810" cy="43205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965131" y="3105759"/>
            <a:ext cx="76809" cy="43205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560830" y="4786961"/>
            <a:ext cx="109728" cy="164592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670558" y="4759529"/>
            <a:ext cx="118872" cy="192024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366056" y="1182498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475784" y="1155066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EF4F4F"/>
                </a:solidFill>
                <a:latin typeface="Comic Sans MS"/>
              </a:defRPr>
            </a:pPr>
            <a:r>
              <a:t>剑齿虎：长牙猎手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真正的名字常指刃齿虎。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犬齿可达约 20 厘米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适合伏击大型猎物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约 1 万年前走向灭绝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EF4F4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7843266" y="3220974"/>
            <a:ext cx="2544318" cy="912114"/>
          </a:xfrm>
          <a:prstGeom prst="ellipse">
            <a:avLst/>
          </a:prstGeom>
          <a:solidFill>
            <a:srgbClr val="FFDC4E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55530" y="2980944"/>
            <a:ext cx="864108" cy="691286"/>
          </a:xfrm>
          <a:prstGeom prst="ellipse">
            <a:avLst/>
          </a:prstGeom>
          <a:solidFill>
            <a:srgbClr val="FFDC4E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368381" y="3509010"/>
            <a:ext cx="28804" cy="643280"/>
          </a:xfrm>
          <a:prstGeom prst="line">
            <a:avLst/>
          </a:prstGeom>
          <a:ln w="635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598810" y="3509010"/>
            <a:ext cx="28804" cy="643280"/>
          </a:xfrm>
          <a:prstGeom prst="line">
            <a:avLst/>
          </a:prstGeom>
          <a:ln w="635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179308" y="3864254"/>
            <a:ext cx="96012" cy="700888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947404" y="3864254"/>
            <a:ext cx="96012" cy="700888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667494" y="3864254"/>
            <a:ext cx="96012" cy="700888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147554" y="3864254"/>
            <a:ext cx="96012" cy="700888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363206" y="3096158"/>
            <a:ext cx="528066" cy="364846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70674" y="4154130"/>
            <a:ext cx="109728" cy="164592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180402" y="4126698"/>
            <a:ext cx="118872" cy="192024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24016" y="3275656"/>
            <a:ext cx="109728" cy="164592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033744" y="3248224"/>
            <a:ext cx="118872" cy="192024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05643" y="2523835"/>
            <a:ext cx="109728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371" y="2496403"/>
            <a:ext cx="118872" cy="192024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68563" y="3215741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278291" y="3188309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FFA237"/>
                </a:solidFill>
                <a:latin typeface="Comic Sans MS"/>
              </a:defRPr>
            </a:pPr>
            <a:r>
              <a:t>沧龙：古海洋霸主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海里的巨型爬行动物，不是恐龙。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体长可达约 20 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用鳍状肢推进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位于白垩纪海洋食物链顶端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FFA237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10</a:t>
            </a:r>
          </a:p>
        </p:txBody>
      </p:sp>
      <p:sp>
        <p:nvSpPr>
          <p:cNvPr id="24" name="Oval 23"/>
          <p:cNvSpPr/>
          <p:nvPr/>
        </p:nvSpPr>
        <p:spPr>
          <a:xfrm>
            <a:off x="7747254" y="3028950"/>
            <a:ext cx="2880360" cy="960120"/>
          </a:xfrm>
          <a:prstGeom prst="ellipse">
            <a:avLst/>
          </a:prstGeom>
          <a:solidFill>
            <a:srgbClr val="498BF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72369" y="3009747"/>
            <a:ext cx="912114" cy="624078"/>
          </a:xfrm>
          <a:prstGeom prst="ellipse">
            <a:avLst/>
          </a:prstGeom>
          <a:solidFill>
            <a:srgbClr val="498BF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7199985" y="3057753"/>
            <a:ext cx="643281" cy="403251"/>
          </a:xfrm>
          <a:prstGeom prst="line">
            <a:avLst/>
          </a:prstGeom>
          <a:ln w="762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99985" y="3057753"/>
            <a:ext cx="115215" cy="691286"/>
          </a:xfrm>
          <a:prstGeom prst="line">
            <a:avLst/>
          </a:prstGeom>
          <a:ln w="762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15200" y="3461004"/>
            <a:ext cx="528066" cy="288035"/>
          </a:xfrm>
          <a:prstGeom prst="line">
            <a:avLst/>
          </a:prstGeom>
          <a:ln w="762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323325" y="3864254"/>
            <a:ext cx="288037" cy="55687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235440" y="2654503"/>
            <a:ext cx="144018" cy="537667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603236" y="4373118"/>
            <a:ext cx="576072" cy="9601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79308" y="4373118"/>
            <a:ext cx="288036" cy="105613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659368" y="4373118"/>
            <a:ext cx="576072" cy="9601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35440" y="4373118"/>
            <a:ext cx="288036" cy="105613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715500" y="4373118"/>
            <a:ext cx="576072" cy="9601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291572" y="4373118"/>
            <a:ext cx="288036" cy="105613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576827" y="4057114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686555" y="4029682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768922" y="2087868"/>
            <a:ext cx="109728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878650" y="2060436"/>
            <a:ext cx="118872" cy="192024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FFDC4E"/>
                </a:solidFill>
                <a:latin typeface="Comic Sans MS"/>
              </a:defRPr>
            </a:pPr>
            <a:r>
              <a:t>鱼龙：史前“海豚”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外形像鱼，身份却是爬行动物。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流线型身体适合高速游泳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大眼睛帮助在海中捕猎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说明相似环境会塑造相似外形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FFDC4E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11</a:t>
            </a:r>
          </a:p>
        </p:txBody>
      </p:sp>
      <p:sp>
        <p:nvSpPr>
          <p:cNvPr id="24" name="Oval 23"/>
          <p:cNvSpPr/>
          <p:nvPr/>
        </p:nvSpPr>
        <p:spPr>
          <a:xfrm>
            <a:off x="7747254" y="3028950"/>
            <a:ext cx="2880360" cy="960120"/>
          </a:xfrm>
          <a:prstGeom prst="ellipse">
            <a:avLst/>
          </a:prstGeom>
          <a:solidFill>
            <a:srgbClr val="9A65EC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72369" y="3009747"/>
            <a:ext cx="912114" cy="624078"/>
          </a:xfrm>
          <a:prstGeom prst="ellipse">
            <a:avLst/>
          </a:prstGeom>
          <a:solidFill>
            <a:srgbClr val="9A65EC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7199985" y="3057753"/>
            <a:ext cx="643281" cy="403251"/>
          </a:xfrm>
          <a:prstGeom prst="line">
            <a:avLst/>
          </a:prstGeom>
          <a:ln w="762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99985" y="3057753"/>
            <a:ext cx="115215" cy="691286"/>
          </a:xfrm>
          <a:prstGeom prst="line">
            <a:avLst/>
          </a:prstGeom>
          <a:ln w="762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15200" y="3461004"/>
            <a:ext cx="528066" cy="288035"/>
          </a:xfrm>
          <a:prstGeom prst="line">
            <a:avLst/>
          </a:prstGeom>
          <a:ln w="762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323325" y="3864254"/>
            <a:ext cx="288037" cy="55687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235440" y="2654503"/>
            <a:ext cx="144018" cy="537667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603236" y="4373118"/>
            <a:ext cx="576072" cy="9601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79308" y="4373118"/>
            <a:ext cx="288036" cy="105613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659368" y="4373118"/>
            <a:ext cx="576072" cy="9601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35440" y="4373118"/>
            <a:ext cx="288036" cy="105613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715500" y="4373118"/>
            <a:ext cx="576072" cy="9601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291572" y="4373118"/>
            <a:ext cx="288036" cy="105613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812990" y="5093200"/>
            <a:ext cx="109728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922718" y="5065768"/>
            <a:ext cx="118872" cy="192024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62279" y="5564828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272007" y="5537396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5BC475"/>
                </a:solidFill>
                <a:latin typeface="Comic Sans MS"/>
              </a:defRPr>
            </a:pPr>
            <a:r>
              <a:t>谁最大？体型对照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大，不只有一种“大法”。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腕龙高，沧龙长，猛犸象重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体型会影响食物、速度和防御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环境决定身体设计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12</a:t>
            </a:r>
          </a:p>
        </p:txBody>
      </p:sp>
      <p:sp>
        <p:nvSpPr>
          <p:cNvPr id="24" name="Oval 23"/>
          <p:cNvSpPr/>
          <p:nvPr/>
        </p:nvSpPr>
        <p:spPr>
          <a:xfrm>
            <a:off x="7591806" y="3336645"/>
            <a:ext cx="1433322" cy="729234"/>
          </a:xfrm>
          <a:prstGeom prst="ellipse">
            <a:avLst/>
          </a:prstGeom>
          <a:solidFill>
            <a:srgbClr val="FFA237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3668" y="3321558"/>
            <a:ext cx="477773" cy="462686"/>
          </a:xfrm>
          <a:prstGeom prst="ellipse">
            <a:avLst/>
          </a:prstGeom>
          <a:solidFill>
            <a:srgbClr val="FFA237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050274" y="3688689"/>
            <a:ext cx="50292" cy="362102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934602" y="4050791"/>
            <a:ext cx="165964" cy="110643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15069" y="3598164"/>
            <a:ext cx="387249" cy="125730"/>
          </a:xfrm>
          <a:prstGeom prst="line">
            <a:avLst/>
          </a:prstGeom>
          <a:ln w="762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276588" y="3723894"/>
            <a:ext cx="125730" cy="201168"/>
          </a:xfrm>
          <a:prstGeom prst="line">
            <a:avLst/>
          </a:prstGeom>
          <a:ln w="762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471916" y="3608222"/>
            <a:ext cx="352044" cy="130759"/>
          </a:xfrm>
          <a:prstGeom prst="line">
            <a:avLst/>
          </a:prstGeom>
          <a:ln w="762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71916" y="3738981"/>
            <a:ext cx="125730" cy="170993"/>
          </a:xfrm>
          <a:prstGeom prst="line">
            <a:avLst/>
          </a:prstGeom>
          <a:ln w="762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68412" y="3940149"/>
            <a:ext cx="0" cy="336957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10397" y="3940149"/>
            <a:ext cx="0" cy="336957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47354" y="3940149"/>
            <a:ext cx="0" cy="336957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823960" y="3940149"/>
            <a:ext cx="0" cy="336957"/>
          </a:xfrm>
          <a:prstGeom prst="line">
            <a:avLst/>
          </a:prstGeom>
          <a:ln w="635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677302" y="3412083"/>
            <a:ext cx="40234" cy="22631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848295" y="3412083"/>
            <a:ext cx="40233" cy="22631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019288" y="3412083"/>
            <a:ext cx="40233" cy="22631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190280" y="3412083"/>
            <a:ext cx="40234" cy="22631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361273" y="3412083"/>
            <a:ext cx="40234" cy="22631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532266" y="3412083"/>
            <a:ext cx="40234" cy="22631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703259" y="3412083"/>
            <a:ext cx="40233" cy="226314"/>
          </a:xfrm>
          <a:prstGeom prst="line">
            <a:avLst/>
          </a:prstGeom>
          <a:ln w="1651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810244" y="2894076"/>
            <a:ext cx="1181862" cy="593445"/>
          </a:xfrm>
          <a:prstGeom prst="ellipse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40646" y="2602382"/>
            <a:ext cx="678942" cy="462686"/>
          </a:xfrm>
          <a:prstGeom prst="ellipse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8508492" y="2919222"/>
            <a:ext cx="377190" cy="176022"/>
          </a:xfrm>
          <a:prstGeom prst="line">
            <a:avLst/>
          </a:prstGeom>
          <a:ln w="1143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508492" y="2919222"/>
            <a:ext cx="301752" cy="352044"/>
          </a:xfrm>
          <a:prstGeom prst="line">
            <a:avLst/>
          </a:prstGeom>
          <a:ln w="1143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076791" y="3386937"/>
            <a:ext cx="60351" cy="437541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76791" y="3824478"/>
            <a:ext cx="170993" cy="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544507" y="3386937"/>
            <a:ext cx="60350" cy="437541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44507" y="3824478"/>
            <a:ext cx="170993" cy="0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26142" y="2984601"/>
            <a:ext cx="125730" cy="236373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56901" y="2984601"/>
            <a:ext cx="125730" cy="236373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0137952" y="2733141"/>
            <a:ext cx="55321" cy="55321"/>
          </a:xfrm>
          <a:prstGeom prst="ellipse">
            <a:avLst/>
          </a:prstGeom>
          <a:solidFill>
            <a:srgbClr val="312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10153040" y="2914192"/>
            <a:ext cx="206197" cy="10059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736074" y="2425446"/>
            <a:ext cx="1433322" cy="528066"/>
          </a:xfrm>
          <a:prstGeom prst="ellipse">
            <a:avLst/>
          </a:prstGeom>
          <a:solidFill>
            <a:srgbClr val="43BEC6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10877702" y="2008022"/>
            <a:ext cx="241402" cy="467716"/>
          </a:xfrm>
          <a:prstGeom prst="line">
            <a:avLst/>
          </a:prstGeom>
          <a:ln w="1778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119104" y="1922526"/>
            <a:ext cx="176022" cy="85496"/>
          </a:xfrm>
          <a:prstGeom prst="line">
            <a:avLst/>
          </a:prstGeom>
          <a:ln w="1778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1244834" y="1821942"/>
            <a:ext cx="291693" cy="211226"/>
          </a:xfrm>
          <a:prstGeom prst="ellipse">
            <a:avLst/>
          </a:prstGeom>
          <a:solidFill>
            <a:srgbClr val="43BEC6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H="1" flipV="1">
            <a:off x="9434322" y="2324862"/>
            <a:ext cx="352044" cy="236372"/>
          </a:xfrm>
          <a:prstGeom prst="line">
            <a:avLst/>
          </a:prstGeom>
          <a:ln w="1270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012680" y="2832811"/>
            <a:ext cx="0" cy="362102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339578" y="2832811"/>
            <a:ext cx="0" cy="362102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641330" y="2832811"/>
            <a:ext cx="0" cy="362102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943082" y="2832811"/>
            <a:ext cx="0" cy="362102"/>
          </a:xfrm>
          <a:prstGeom prst="line">
            <a:avLst/>
          </a:prstGeom>
          <a:ln w="508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526152" y="2328175"/>
            <a:ext cx="109728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635880" y="2300743"/>
            <a:ext cx="118872" cy="192024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67772" y="5048958"/>
            <a:ext cx="109728" cy="164592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377500" y="5021526"/>
            <a:ext cx="118872" cy="192024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43BEC6"/>
                </a:solidFill>
                <a:latin typeface="Comic Sans MS"/>
              </a:defRPr>
            </a:pPr>
            <a:r>
              <a:t>化石：远古拼图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骨骼、牙齿、脚印都能留下证据。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发掘时要记录位置和岩层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同一块骨头可能讲出年龄、饮食、疾病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化石越完整，复原越可靠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43BEC6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828800"/>
            <a:ext cx="2926080" cy="2423160"/>
          </a:xfrm>
          <a:prstGeom prst="roundRect">
            <a:avLst/>
          </a:prstGeom>
          <a:solidFill>
            <a:srgbClr val="EBD69C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909560" y="2788920"/>
            <a:ext cx="274319" cy="310896"/>
          </a:xfrm>
          <a:prstGeom prst="line">
            <a:avLst/>
          </a:prstGeom>
          <a:ln w="1016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93608" y="2927419"/>
            <a:ext cx="274320" cy="113548"/>
          </a:xfrm>
          <a:prstGeom prst="line">
            <a:avLst/>
          </a:prstGeom>
          <a:ln w="1016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677656" y="2918526"/>
            <a:ext cx="274320" cy="20057"/>
          </a:xfrm>
          <a:prstGeom prst="line">
            <a:avLst/>
          </a:prstGeom>
          <a:ln w="1016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61704" y="2812147"/>
            <a:ext cx="274320" cy="32918"/>
          </a:xfrm>
          <a:prstGeom prst="line">
            <a:avLst/>
          </a:prstGeom>
          <a:ln w="1016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45752" y="2664356"/>
            <a:ext cx="274320" cy="223767"/>
          </a:xfrm>
          <a:prstGeom prst="line">
            <a:avLst/>
          </a:prstGeom>
          <a:ln w="1016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29800" y="2631088"/>
            <a:ext cx="274319" cy="377025"/>
          </a:xfrm>
          <a:prstGeom prst="line">
            <a:avLst/>
          </a:prstGeom>
          <a:ln w="101600">
            <a:solidFill>
              <a:srgbClr val="FFFF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26679" y="4434840"/>
            <a:ext cx="237744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800" b="1">
                <a:solidFill>
                  <a:srgbClr val="FFA237"/>
                </a:solidFill>
                <a:latin typeface="Comic Sans MS"/>
              </a:defRPr>
            </a:pPr>
            <a:r>
              <a:t>化石拼图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32611" y="2722947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942339" y="2695515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61711" y="4423878"/>
            <a:ext cx="109728" cy="164592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471439" y="4396446"/>
            <a:ext cx="118872" cy="192024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115102" y="3750562"/>
            <a:ext cx="109728" cy="164592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224830" y="3723130"/>
            <a:ext cx="118872" cy="192024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498BF5"/>
                </a:solidFill>
                <a:latin typeface="Comic Sans MS"/>
              </a:defRPr>
            </a:pPr>
            <a:r>
              <a:t>3D 与 CT：不拆开的观察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现代设备能看见骨头内部。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CT 扫描呈现细节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3D 建模复原姿态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计算机模拟测试奔跑和咬合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498BF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828800"/>
            <a:ext cx="288036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rc 24"/>
          <p:cNvSpPr/>
          <p:nvPr/>
        </p:nvSpPr>
        <p:spPr>
          <a:xfrm>
            <a:off x="8046720" y="2240280"/>
            <a:ext cx="1600200" cy="1143000"/>
          </a:xfrm>
          <a:prstGeom prst="arc">
            <a:avLst/>
          </a:prstGeom>
          <a:ln w="50800">
            <a:solidFill>
              <a:srgbClr val="43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c 25"/>
          <p:cNvSpPr/>
          <p:nvPr/>
        </p:nvSpPr>
        <p:spPr>
          <a:xfrm>
            <a:off x="8348472" y="2313432"/>
            <a:ext cx="1600200" cy="1143000"/>
          </a:xfrm>
          <a:prstGeom prst="arc">
            <a:avLst/>
          </a:prstGeom>
          <a:ln w="50800">
            <a:solidFill>
              <a:srgbClr val="498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c 26"/>
          <p:cNvSpPr/>
          <p:nvPr/>
        </p:nvSpPr>
        <p:spPr>
          <a:xfrm>
            <a:off x="8650224" y="2386584"/>
            <a:ext cx="1600200" cy="1143000"/>
          </a:xfrm>
          <a:prstGeom prst="arc">
            <a:avLst/>
          </a:prstGeom>
          <a:ln w="50800">
            <a:solidFill>
              <a:srgbClr val="9A6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4389120"/>
            <a:ext cx="1920240" cy="320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800" b="1">
                <a:solidFill>
                  <a:srgbClr val="498BF5"/>
                </a:solidFill>
                <a:latin typeface="Comic Sans MS"/>
              </a:defRPr>
            </a:pPr>
            <a:r>
              <a:t>CT + 3D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47036" y="3372513"/>
            <a:ext cx="109728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6764" y="3345081"/>
            <a:ext cx="118872" cy="192024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17518" y="3972078"/>
            <a:ext cx="109728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227246" y="3944646"/>
            <a:ext cx="118872" cy="192024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741746" y="3485446"/>
            <a:ext cx="109728" cy="164592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851474" y="3458014"/>
            <a:ext cx="118872" cy="192024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87843" y="2368887"/>
            <a:ext cx="109728" cy="164592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897571" y="2341455"/>
            <a:ext cx="118872" cy="192024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9A65EC"/>
                </a:solidFill>
                <a:latin typeface="Comic Sans MS"/>
              </a:defRPr>
            </a:pPr>
            <a:r>
              <a:t>古 DNA：亲缘关系线索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有些冰河时代化石保存了遗传信息。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猛犸象 DNA 显示它和亚洲象亲缘较近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DNA 帮助理解适应寒冷的基因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年代太久远的恐龙 DNA 很难保存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9A65EC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0" y="1828800"/>
            <a:ext cx="2103120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412480" y="1828800"/>
            <a:ext cx="2057400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2075688"/>
            <a:ext cx="2103120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412480" y="2075688"/>
            <a:ext cx="2057400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72400" y="2322576"/>
            <a:ext cx="2103120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2480" y="2322576"/>
            <a:ext cx="2057400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72400" y="2569464"/>
            <a:ext cx="2103120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12480" y="2569464"/>
            <a:ext cx="2057400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72400" y="2816352"/>
            <a:ext cx="2103120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412480" y="2816352"/>
            <a:ext cx="2057400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72400" y="3063240"/>
            <a:ext cx="2103120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412480" y="3063240"/>
            <a:ext cx="2057400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72400" y="3310128"/>
            <a:ext cx="2103120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12480" y="3310128"/>
            <a:ext cx="2057400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3557016"/>
            <a:ext cx="2103120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412480" y="3557016"/>
            <a:ext cx="2057400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772400" y="3803904"/>
            <a:ext cx="2103120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412480" y="3803904"/>
            <a:ext cx="2057400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92440" y="4434840"/>
            <a:ext cx="2057400" cy="34747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800" b="1">
                <a:solidFill>
                  <a:srgbClr val="9A65EC"/>
                </a:solidFill>
                <a:latin typeface="Comic Sans MS"/>
              </a:defRPr>
            </a:pPr>
            <a:r>
              <a:t>DNA 线索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297524" y="5018628"/>
            <a:ext cx="109728" cy="16459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407252" y="4991196"/>
            <a:ext cx="118872" cy="192024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FF7EB1"/>
                </a:solidFill>
                <a:latin typeface="Comic Sans MS"/>
              </a:defRPr>
            </a:pPr>
            <a:r>
              <a:t>灭绝原因一：气候变化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温度、降水和植物变化会连锁影响动物。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冰河期带来寒冷和食物压力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栖息地缩小让种群更脆弱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适应慢的物种风险更高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FF7EB1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4023360"/>
            <a:ext cx="347472" cy="457200"/>
          </a:xfrm>
          <a:prstGeom prst="rect">
            <a:avLst/>
          </a:prstGeom>
          <a:solidFill>
            <a:srgbClr val="498BF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82712" y="3639312"/>
            <a:ext cx="347472" cy="841247"/>
          </a:xfrm>
          <a:prstGeom prst="rect">
            <a:avLst/>
          </a:prstGeom>
          <a:solidFill>
            <a:srgbClr val="43BEC6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21624" y="3255264"/>
            <a:ext cx="347472" cy="1225295"/>
          </a:xfrm>
          <a:prstGeom prst="rect">
            <a:avLst/>
          </a:prstGeom>
          <a:solidFill>
            <a:srgbClr val="FFDC4E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0536" y="2871216"/>
            <a:ext cx="347472" cy="1609344"/>
          </a:xfrm>
          <a:prstGeom prst="rect">
            <a:avLst/>
          </a:prstGeom>
          <a:solidFill>
            <a:srgbClr val="FFA237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9448" y="2487168"/>
            <a:ext cx="347472" cy="1993391"/>
          </a:xfrm>
          <a:prstGeom prst="rect">
            <a:avLst/>
          </a:prstGeom>
          <a:solidFill>
            <a:srgbClr val="EF4F4F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1737360"/>
            <a:ext cx="310896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2400" b="1">
                <a:solidFill>
                  <a:srgbClr val="EF4F4F"/>
                </a:solidFill>
                <a:latin typeface="Comic Sans MS"/>
              </a:defRPr>
            </a:pPr>
            <a:r>
              <a:t>温度变化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70404" y="3067937"/>
            <a:ext cx="109728" cy="164592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480132" y="3040505"/>
            <a:ext cx="118872" cy="192024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EF4F4F"/>
                </a:solidFill>
                <a:latin typeface="Comic Sans MS"/>
              </a:defRPr>
            </a:pPr>
            <a:r>
              <a:t>灭绝原因二：陨石撞击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约 6600 万年前的撞击改变了地球。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尘埃遮挡阳光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植物减少，食物链受冲击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非鸟类恐龙在这次事件后消失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EF4F4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17</a:t>
            </a:r>
          </a:p>
        </p:txBody>
      </p:sp>
      <p:sp>
        <p:nvSpPr>
          <p:cNvPr id="24" name="Oval 23"/>
          <p:cNvSpPr/>
          <p:nvPr/>
        </p:nvSpPr>
        <p:spPr>
          <a:xfrm>
            <a:off x="9235440" y="1417320"/>
            <a:ext cx="685800" cy="685800"/>
          </a:xfrm>
          <a:prstGeom prst="ellipse">
            <a:avLst/>
          </a:prstGeom>
          <a:solidFill>
            <a:srgbClr val="FFA237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8412480" y="2011680"/>
            <a:ext cx="914400" cy="731520"/>
          </a:xfrm>
          <a:prstGeom prst="line">
            <a:avLst/>
          </a:prstGeom>
          <a:ln w="889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726679" y="2743200"/>
            <a:ext cx="685801" cy="685800"/>
          </a:xfrm>
          <a:prstGeom prst="line">
            <a:avLst/>
          </a:prstGeom>
          <a:ln w="889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315200" y="3886200"/>
            <a:ext cx="228600" cy="457200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845552" y="3886200"/>
            <a:ext cx="228600" cy="457200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375904" y="3886200"/>
            <a:ext cx="228600" cy="457200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906256" y="3886200"/>
            <a:ext cx="228600" cy="457200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436608" y="3886200"/>
            <a:ext cx="228600" cy="457200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55119" y="3336576"/>
            <a:ext cx="109728" cy="164592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964847" y="3309144"/>
            <a:ext cx="118872" cy="192024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557418" y="4960102"/>
            <a:ext cx="109728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667146" y="4932670"/>
            <a:ext cx="118872" cy="192024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02668" y="4379255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412396" y="4351823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FFA237"/>
                </a:solidFill>
                <a:latin typeface="Comic Sans MS"/>
              </a:defRPr>
            </a:pPr>
            <a:r>
              <a:t>生态系统：每个巨兽都有位置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捕食者、植食者和环境互相牵连。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草食动物影响植物分布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捕食者调节猎物数量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一个环节变化会影响整张生命网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FFA237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18</a:t>
            </a:r>
          </a:p>
        </p:txBody>
      </p:sp>
      <p:sp>
        <p:nvSpPr>
          <p:cNvPr id="24" name="Oval 23"/>
          <p:cNvSpPr/>
          <p:nvPr/>
        </p:nvSpPr>
        <p:spPr>
          <a:xfrm>
            <a:off x="7589520" y="2194560"/>
            <a:ext cx="868680" cy="868680"/>
          </a:xfrm>
          <a:prstGeom prst="ellipse">
            <a:avLst/>
          </a:prstGeom>
          <a:solidFill>
            <a:srgbClr val="5BC475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2" y="2487168"/>
            <a:ext cx="731520" cy="228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100" b="1">
                <a:solidFill>
                  <a:srgbClr val="312D2A"/>
                </a:solidFill>
                <a:latin typeface="Comic Sans MS"/>
              </a:defRPr>
            </a:pPr>
            <a:r>
              <a:t>植物</a:t>
            </a:r>
          </a:p>
        </p:txBody>
      </p:sp>
      <p:sp>
        <p:nvSpPr>
          <p:cNvPr id="26" name="Oval 25"/>
          <p:cNvSpPr/>
          <p:nvPr/>
        </p:nvSpPr>
        <p:spPr>
          <a:xfrm>
            <a:off x="8823960" y="2514600"/>
            <a:ext cx="868680" cy="868680"/>
          </a:xfrm>
          <a:prstGeom prst="ellipse">
            <a:avLst/>
          </a:prstGeom>
          <a:solidFill>
            <a:srgbClr val="FFDC4E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7112" y="2807208"/>
            <a:ext cx="731520" cy="228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100" b="1">
                <a:solidFill>
                  <a:srgbClr val="312D2A"/>
                </a:solidFill>
                <a:latin typeface="Comic Sans MS"/>
              </a:defRPr>
            </a:pPr>
            <a:r>
              <a:t>草食</a:t>
            </a:r>
          </a:p>
        </p:txBody>
      </p:sp>
      <p:sp>
        <p:nvSpPr>
          <p:cNvPr id="28" name="Oval 27"/>
          <p:cNvSpPr/>
          <p:nvPr/>
        </p:nvSpPr>
        <p:spPr>
          <a:xfrm>
            <a:off x="10058400" y="2834639"/>
            <a:ext cx="868680" cy="868680"/>
          </a:xfrm>
          <a:prstGeom prst="ellipse">
            <a:avLst/>
          </a:prstGeom>
          <a:solidFill>
            <a:srgbClr val="EF4F4F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31552" y="3127247"/>
            <a:ext cx="731520" cy="228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100" b="1">
                <a:solidFill>
                  <a:srgbClr val="312D2A"/>
                </a:solidFill>
                <a:latin typeface="Comic Sans MS"/>
              </a:defRPr>
            </a:pPr>
            <a:r>
              <a:t>捕食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0" y="2651760"/>
            <a:ext cx="502920" cy="320040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15400" y="2971800"/>
            <a:ext cx="731520" cy="274320"/>
          </a:xfrm>
          <a:prstGeom prst="line">
            <a:avLst/>
          </a:prstGeom>
          <a:ln w="38100">
            <a:solidFill>
              <a:srgbClr val="312D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45045" y="4189541"/>
            <a:ext cx="109728" cy="164592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154773" y="4162109"/>
            <a:ext cx="118872" cy="192024"/>
          </a:xfrm>
          <a:prstGeom prst="line">
            <a:avLst/>
          </a:prstGeom>
          <a:ln w="254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04255" y="2405277"/>
            <a:ext cx="109728" cy="164592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513983" y="2377845"/>
            <a:ext cx="118872" cy="192024"/>
          </a:xfrm>
          <a:prstGeom prst="line">
            <a:avLst/>
          </a:prstGeom>
          <a:ln w="254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550068" y="3597996"/>
            <a:ext cx="109728" cy="16459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659796" y="3570564"/>
            <a:ext cx="118872" cy="192024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60643" y="2637575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70371" y="2610143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713358" y="3142292"/>
            <a:ext cx="109728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823086" y="3114860"/>
            <a:ext cx="118872" cy="192024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25678" y="2765975"/>
            <a:ext cx="109728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35406" y="2738543"/>
            <a:ext cx="118872" cy="192024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FFDC4E"/>
                </a:solidFill>
                <a:latin typeface="Comic Sans MS"/>
              </a:defRPr>
            </a:pPr>
            <a:r>
              <a:t>给今天的提醒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FFDC4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灭绝不是只发生在遥远过去。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气候变化仍会影响栖息地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保护物种就是保护生态关系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科学研究帮助我们更早发现风险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FFDC4E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19</a:t>
            </a:r>
          </a:p>
        </p:txBody>
      </p:sp>
      <p:sp>
        <p:nvSpPr>
          <p:cNvPr id="24" name="Oval 23"/>
          <p:cNvSpPr/>
          <p:nvPr/>
        </p:nvSpPr>
        <p:spPr>
          <a:xfrm>
            <a:off x="7818120" y="1828800"/>
            <a:ext cx="2103120" cy="2103120"/>
          </a:xfrm>
          <a:prstGeom prst="ellipse">
            <a:avLst/>
          </a:prstGeom>
          <a:solidFill>
            <a:srgbClr val="43BEC6"/>
          </a:solidFill>
          <a:ln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229600" y="2194560"/>
            <a:ext cx="320040" cy="457200"/>
          </a:xfrm>
          <a:prstGeom prst="line">
            <a:avLst/>
          </a:prstGeom>
          <a:ln w="1016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229600" y="2651760"/>
            <a:ext cx="320040" cy="320040"/>
          </a:xfrm>
          <a:prstGeom prst="line">
            <a:avLst/>
          </a:prstGeom>
          <a:ln w="1016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29600" y="2971800"/>
            <a:ext cx="548640" cy="365760"/>
          </a:xfrm>
          <a:prstGeom prst="line">
            <a:avLst/>
          </a:prstGeom>
          <a:ln w="1016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2148840"/>
            <a:ext cx="411480" cy="502920"/>
          </a:xfrm>
          <a:prstGeom prst="line">
            <a:avLst/>
          </a:prstGeom>
          <a:ln w="1016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281160" y="2651760"/>
            <a:ext cx="274320" cy="438912"/>
          </a:xfrm>
          <a:prstGeom prst="line">
            <a:avLst/>
          </a:prstGeom>
          <a:ln w="1016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26679" y="4251960"/>
            <a:ext cx="2286000" cy="411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900" b="1">
                <a:solidFill>
                  <a:srgbClr val="5BC475"/>
                </a:solidFill>
                <a:latin typeface="Comic Sans MS"/>
              </a:defRPr>
            </a:pPr>
            <a:r>
              <a:t>保护现在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845489" y="2830577"/>
            <a:ext cx="109728" cy="16459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955217" y="2803145"/>
            <a:ext cx="118872" cy="192024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77622" y="5324306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887350" y="5296874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657949" y="1622761"/>
            <a:ext cx="109728" cy="164592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767677" y="1595329"/>
            <a:ext cx="118872" cy="192024"/>
          </a:xfrm>
          <a:prstGeom prst="line">
            <a:avLst/>
          </a:prstGeom>
          <a:ln w="25400">
            <a:solidFill>
              <a:srgbClr val="9A65E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893525" y="4039093"/>
            <a:ext cx="109728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003253" y="4011661"/>
            <a:ext cx="118872" cy="192024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021705" y="4859688"/>
            <a:ext cx="109728" cy="164592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131433" y="4832256"/>
            <a:ext cx="118872" cy="192024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167eab12-fc8b-4f48-8841-8c9f0fc9404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56687" cy="91440"/>
          </a:xfrm>
          <a:prstGeom prst="rect">
            <a:avLst/>
          </a:prstGeom>
          <a:solidFill>
            <a:srgbClr val="E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99" y="0"/>
            <a:ext cx="2456687" cy="91440"/>
          </a:xfrm>
          <a:prstGeom prst="rect">
            <a:avLst/>
          </a:prstGeom>
          <a:solidFill>
            <a:srgbClr val="FFD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799" y="0"/>
            <a:ext cx="2456687" cy="91440"/>
          </a:xfrm>
          <a:prstGeom prst="rect">
            <a:avLst/>
          </a:prstGeom>
          <a:solidFill>
            <a:srgbClr val="43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9" y="0"/>
            <a:ext cx="2456687" cy="91440"/>
          </a:xfrm>
          <a:prstGeom prst="rect">
            <a:avLst/>
          </a:prstGeom>
          <a:solidFill>
            <a:srgbClr val="5BC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599" y="0"/>
            <a:ext cx="2456687" cy="91440"/>
          </a:xfrm>
          <a:prstGeom prst="rect">
            <a:avLst/>
          </a:prstGeom>
          <a:solidFill>
            <a:srgbClr val="49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8138160" cy="6583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3200" b="1">
                <a:solidFill>
                  <a:srgbClr val="5BC475"/>
                </a:solidFill>
                <a:latin typeface="Comic Sans MS"/>
              </a:defRPr>
            </a:pPr>
            <a:r>
              <a:t>小考古家复盘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13232" y="1060704"/>
            <a:ext cx="2029968" cy="36576"/>
          </a:xfrm>
          <a:prstGeom prst="line">
            <a:avLst/>
          </a:prstGeom>
          <a:ln w="635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060704"/>
            <a:ext cx="2011680" cy="64008"/>
          </a:xfrm>
          <a:prstGeom prst="line">
            <a:avLst/>
          </a:prstGeom>
          <a:ln w="635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" y="1078992"/>
            <a:ext cx="1920240" cy="45720"/>
          </a:xfrm>
          <a:prstGeom prst="line">
            <a:avLst/>
          </a:prstGeom>
          <a:ln w="63500">
            <a:solidFill>
              <a:srgbClr val="5BC47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1298448"/>
            <a:ext cx="6126480" cy="640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Comic Sans MS"/>
              </a:defRPr>
            </a:pPr>
            <a:r>
              <a:t>把今天的线索收进探险本。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478024"/>
            <a:ext cx="347472" cy="347472"/>
          </a:xfrm>
          <a:prstGeom prst="ellipse">
            <a:avLst/>
          </a:prstGeom>
          <a:solidFill>
            <a:srgbClr val="FFDC4E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史前巨兽包括恐龙、巨型哺乳动物和海洋爬行动物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438144"/>
            <a:ext cx="347472" cy="347472"/>
          </a:xfrm>
          <a:prstGeom prst="ellipse">
            <a:avLst/>
          </a:prstGeom>
          <a:solidFill>
            <a:srgbClr val="43BEC6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0156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化石、CT、DNA 帮助重建过去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8064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398264"/>
            <a:ext cx="347472" cy="347472"/>
          </a:xfrm>
          <a:prstGeom prst="ellipse">
            <a:avLst/>
          </a:prstGeom>
          <a:solidFill>
            <a:srgbClr val="FF7EB1"/>
          </a:solidFill>
          <a:ln w="1905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61688"/>
            <a:ext cx="4983480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defRPr sz="1900" b="0">
                <a:solidFill>
                  <a:srgbClr val="312D2A"/>
                </a:solidFill>
                <a:latin typeface="Comic Sans MS"/>
              </a:defRPr>
            </a:pPr>
            <a:r>
              <a:t>理解灭绝能帮助保护现在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6144768"/>
            <a:ext cx="713232" cy="384048"/>
          </a:xfrm>
          <a:prstGeom prst="roundRect">
            <a:avLst/>
          </a:prstGeom>
          <a:solidFill>
            <a:srgbClr val="5BC475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0504" y="6199632"/>
            <a:ext cx="411480" cy="21945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mic Sans MS"/>
              </a:defRPr>
            </a:pPr>
            <a:r>
              <a:t>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874519"/>
            <a:ext cx="2834640" cy="530352"/>
          </a:xfrm>
          <a:prstGeom prst="roundRect">
            <a:avLst/>
          </a:prstGeom>
          <a:solidFill>
            <a:srgbClr val="EF4F4F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1993392"/>
            <a:ext cx="24231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mic Sans MS"/>
              </a:defRPr>
            </a:pPr>
            <a:r>
              <a:t>谁住海里？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2697479"/>
            <a:ext cx="2834640" cy="530352"/>
          </a:xfrm>
          <a:prstGeom prst="roundRect">
            <a:avLst/>
          </a:prstGeom>
          <a:solidFill>
            <a:srgbClr val="FFDC4E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2816352"/>
            <a:ext cx="24231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mic Sans MS"/>
              </a:defRPr>
            </a:pPr>
            <a:r>
              <a:t>谁披长毛？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520439"/>
            <a:ext cx="2834640" cy="530352"/>
          </a:xfrm>
          <a:prstGeom prst="roundRect">
            <a:avLst/>
          </a:prstGeom>
          <a:solidFill>
            <a:srgbClr val="43BEC6"/>
          </a:solidFill>
          <a:ln w="25400">
            <a:solidFill>
              <a:srgbClr val="312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3639312"/>
            <a:ext cx="24231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mic Sans MS"/>
              </a:defRPr>
            </a:pPr>
            <a:r>
              <a:t>化石像什么？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81270" y="1590388"/>
            <a:ext cx="109728" cy="164592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290998" y="1562956"/>
            <a:ext cx="118872" cy="192024"/>
          </a:xfrm>
          <a:prstGeom prst="line">
            <a:avLst/>
          </a:prstGeom>
          <a:ln w="25400">
            <a:solidFill>
              <a:srgbClr val="43BEC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85748" y="4817087"/>
            <a:ext cx="109728" cy="164592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495476" y="4789655"/>
            <a:ext cx="118872" cy="192024"/>
          </a:xfrm>
          <a:prstGeom prst="line">
            <a:avLst/>
          </a:prstGeom>
          <a:ln w="25400">
            <a:solidFill>
              <a:srgbClr val="498BF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49007" y="3434787"/>
            <a:ext cx="109728" cy="164592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458735" y="3407355"/>
            <a:ext cx="118872" cy="192024"/>
          </a:xfrm>
          <a:prstGeom prst="line">
            <a:avLst/>
          </a:prstGeom>
          <a:ln w="25400">
            <a:solidFill>
              <a:srgbClr val="FF7EB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168022" y="4149471"/>
            <a:ext cx="109728" cy="164592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277750" y="4122039"/>
            <a:ext cx="118872" cy="192024"/>
          </a:xfrm>
          <a:prstGeom prst="line">
            <a:avLst/>
          </a:prstGeom>
          <a:ln w="25400">
            <a:solidFill>
              <a:srgbClr val="EF4F4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023910" y="5118378"/>
            <a:ext cx="109728" cy="164592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133638" y="5090946"/>
            <a:ext cx="118872" cy="192024"/>
          </a:xfrm>
          <a:prstGeom prst="line">
            <a:avLst/>
          </a:prstGeom>
          <a:ln w="25400">
            <a:solidFill>
              <a:srgbClr val="FFA23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