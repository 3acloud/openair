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97855">
            <a:off x="621792" y="420624"/>
            <a:ext cx="1828800" cy="164592"/>
          </a:xfrm>
          <a:prstGeom prst="rect">
            <a:avLst/>
          </a:prstGeom>
          <a:solidFill>
            <a:srgbClr val="2D8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D3741"/>
                </a:solidFill>
                <a:latin typeface="KaiTi"/>
              </a:rPr>
              <a:t>胡彦斌、李笑来都在Vibe Coding，腾讯蚂蚁也杀进来...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72417" y="1423425"/>
            <a:ext cx="9030858" cy="10577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82471" y="1445733"/>
            <a:ext cx="9019095" cy="402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核心判断：2026 年 5 月正在发生对“编程”定义的全面改写，从个人到平台、从中国到硅谷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胡彦斌：街边使用 MacBook + VS Code + Claude Code 插件开发「彦火」粉丝 Ap...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李笑来：阳台终端直接指挥 Claude Code，开发 VMark Markdown 编辑器及打字练习软件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核心判断：2026 年 5 月正在发生对“编程”定义的全面改写，从个人到平台、从中国到硅谷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00376" y="1075270"/>
            <a:ext cx="3239911" cy="1441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56541" y="1078862"/>
            <a:ext cx="3264374" cy="965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18141" y="1100409"/>
            <a:ext cx="14258" cy="536517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616977" y="1101323"/>
            <a:ext cx="30149" cy="534430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388343" y="6453361"/>
            <a:ext cx="3250000" cy="10445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370265" y="6428570"/>
            <a:ext cx="3274213" cy="1317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383009" y="1112324"/>
            <a:ext cx="8643" cy="533316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383846" y="1082448"/>
            <a:ext cx="16033" cy="535936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45729" y="1935726"/>
            <a:ext cx="2350524" cy="21702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46722" y="1929742"/>
            <a:ext cx="2338806" cy="13418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369762" y="1953463"/>
            <a:ext cx="24281" cy="1746932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378299" y="1934543"/>
            <a:ext cx="733" cy="1779643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045956" y="3691437"/>
            <a:ext cx="2327493" cy="26987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036896" y="3689062"/>
            <a:ext cx="2371967" cy="43505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031605" y="1921990"/>
            <a:ext cx="21720" cy="1780198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037704" y="1924432"/>
            <a:ext cx="16411" cy="1770199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751137" y="2347900"/>
            <a:ext cx="850629" cy="894884"/>
          </a:xfrm>
          <a:prstGeom prst="line">
            <a:avLst/>
          </a:prstGeom>
          <a:ln w="381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771177" y="2342607"/>
            <a:ext cx="871325" cy="910393"/>
          </a:xfrm>
          <a:prstGeom prst="line">
            <a:avLst/>
          </a:prstGeom>
          <a:ln w="381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634039" y="2341558"/>
            <a:ext cx="152774" cy="51494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624567" y="2351494"/>
            <a:ext cx="140033" cy="54054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753102" y="3247754"/>
            <a:ext cx="545771" cy="14498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762588" y="3274788"/>
            <a:ext cx="522883" cy="10530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D84AD"/>
                </a:solidFill>
                <a:latin typeface="KaiTi"/>
              </a:rPr>
              <a:t>VIBE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01/15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98942" y="7704005"/>
            <a:ext cx="812192" cy="22561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09171" y="7729166"/>
            <a:ext cx="780080" cy="11703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395259" y="7730842"/>
            <a:ext cx="11166588" cy="4462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390377" y="7728483"/>
            <a:ext cx="11183542" cy="1411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525205">
            <a:off x="621792" y="420624"/>
            <a:ext cx="1828800" cy="164592"/>
          </a:xfrm>
          <a:prstGeom prst="rect">
            <a:avLst/>
          </a:prstGeom>
          <a:solidFill>
            <a:srgbClr val="52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引言：现象概述与核心事件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96597" y="1441549"/>
            <a:ext cx="8994190" cy="6264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76573" y="1445246"/>
            <a:ext cx="9015904" cy="1351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两块屏幕、两个“外行”的并行实践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胡彦斌：街边使用 MacBook + VS Code + Claude Code 插件开发「彦火」粉丝 Ap...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李笑来：阳台终端直接指挥 Claude Code，开发 VMark Markdown 编辑器及打字练习软件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大厂同步入场时间线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81997" y="1092342"/>
            <a:ext cx="3241220" cy="1856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74673" y="1097142"/>
            <a:ext cx="3242447" cy="1861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41700" y="1090008"/>
            <a:ext cx="1193" cy="536849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616516" y="1076624"/>
            <a:ext cx="17647" cy="536805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361172" y="6439307"/>
            <a:ext cx="3267993" cy="1044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362371" y="6443658"/>
            <a:ext cx="3246930" cy="410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358701" y="1111403"/>
            <a:ext cx="41225" cy="531480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360982" y="1108378"/>
            <a:ext cx="9434" cy="535228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037544" y="1947664"/>
            <a:ext cx="2339284" cy="1826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29469" y="1928300"/>
            <a:ext cx="2379498" cy="460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366404" y="1932401"/>
            <a:ext cx="2281" cy="1782284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3375384" y="1958776"/>
            <a:ext cx="31046" cy="1742425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066355" y="3695519"/>
            <a:ext cx="2319395" cy="22976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029616" y="3717821"/>
            <a:ext cx="2353791" cy="14174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039380" y="1931753"/>
            <a:ext cx="9342" cy="1769614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2087" y="1928363"/>
            <a:ext cx="21670" cy="1782110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541800" y="2389313"/>
            <a:ext cx="1312650" cy="323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32432" y="2371214"/>
            <a:ext cx="1296610" cy="562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823462" y="2368412"/>
            <a:ext cx="27928" cy="73618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836762" y="2357852"/>
            <a:ext cx="25951" cy="76687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1514049" y="3118788"/>
            <a:ext cx="1336492" cy="8115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1538175" y="3101211"/>
            <a:ext cx="1281913" cy="3034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527888" y="2386013"/>
            <a:ext cx="3145" cy="727045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1506611" y="2377289"/>
            <a:ext cx="343" cy="75577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348403" y="3256943"/>
            <a:ext cx="1734068" cy="22110"/>
          </a:xfrm>
          <a:prstGeom prst="line">
            <a:avLst/>
          </a:prstGeom>
          <a:ln w="381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324309" y="3246320"/>
            <a:ext cx="1786376" cy="25384"/>
          </a:xfrm>
          <a:prstGeom prst="line">
            <a:avLst/>
          </a:prstGeom>
          <a:ln w="381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9770"/>
                </a:solidFill>
                <a:latin typeface="KaiTi"/>
              </a:rPr>
              <a:t>VIBE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02/15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1843" y="7712367"/>
            <a:ext cx="1606546" cy="32594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14242" y="7717597"/>
            <a:ext cx="1569943" cy="4800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71843" y="7708283"/>
            <a:ext cx="10421080" cy="35226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171004" y="7720314"/>
            <a:ext cx="10422832" cy="3751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79722">
            <a:off x="621792" y="420624"/>
            <a:ext cx="1828800" cy="164592"/>
          </a:xfrm>
          <a:prstGeom prst="rect">
            <a:avLst/>
          </a:prstGeom>
          <a:solidFill>
            <a:srgbClr val="E4B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大厂同步入场时间线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78138" y="1426656"/>
            <a:ext cx="9033564" cy="33687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96325" y="1454571"/>
            <a:ext cx="9006255" cy="8340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核心判断：2026 年 5 月正在发生对“编程”定义的全面改写，从个人到平台、从中国到硅谷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腾讯「吐司」2026 年 5 月 18 日公测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蚂蚁「灵光」已实现 30 秒生成带 3D 模型的可交互 App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Google I/O 2026 年 5 月 20 日发布「Antigravity」，搜索框即 App 生成器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382295" y="1095044"/>
            <a:ext cx="3246411" cy="553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83858" y="1081228"/>
            <a:ext cx="3259538" cy="1028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41454" y="1100691"/>
            <a:ext cx="5609" cy="533736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621102" y="1090742"/>
            <a:ext cx="25713" cy="534080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359234" y="6441467"/>
            <a:ext cx="3274135" cy="1368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377462" y="6433531"/>
            <a:ext cx="3225517" cy="3232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66712" y="1117042"/>
            <a:ext cx="29305" cy="532025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356898" y="1084040"/>
            <a:ext cx="44364" cy="536885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34138" y="1924955"/>
            <a:ext cx="2355865" cy="10767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31228" y="1919684"/>
            <a:ext cx="2339004" cy="27019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367937" y="1929030"/>
            <a:ext cx="35513" cy="1797860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3369957" y="1944877"/>
            <a:ext cx="15312" cy="1757995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055531" y="3690177"/>
            <a:ext cx="2313242" cy="41578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1045809" y="3702334"/>
            <a:ext cx="2357446" cy="6800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35684" y="1926539"/>
            <a:ext cx="26769" cy="1803521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28045" y="1936780"/>
            <a:ext cx="21087" cy="1753195"/>
          </a:xfrm>
          <a:prstGeom prst="line">
            <a:avLst/>
          </a:prstGeom>
          <a:ln w="29209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367143" y="2841180"/>
            <a:ext cx="1722730" cy="190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391215" y="2827448"/>
            <a:ext cx="1677467" cy="16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70653" y="2581501"/>
            <a:ext cx="346" cy="519242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1558014" y="2596707"/>
            <a:ext cx="12697" cy="506589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2204370" y="2573109"/>
            <a:ext cx="18309" cy="528321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2209250" y="2587847"/>
            <a:ext cx="24193" cy="509283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839162" y="2593005"/>
            <a:ext cx="10177" cy="485843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2836164" y="2580610"/>
            <a:ext cx="10094" cy="518911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7E66A8"/>
                </a:solidFill>
                <a:latin typeface="KaiTi"/>
              </a:rPr>
              <a:t>NOW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03/15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5229" y="7732982"/>
            <a:ext cx="2395605" cy="1378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73175" y="7726912"/>
            <a:ext cx="2428769" cy="9000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11813" y="7711872"/>
            <a:ext cx="9569115" cy="1729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78451" y="7705136"/>
            <a:ext cx="9613627" cy="949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535883">
            <a:off x="621792" y="420624"/>
            <a:ext cx="1828800" cy="164592"/>
          </a:xfrm>
          <a:prstGeom prst="rect">
            <a:avLst/>
          </a:prstGeom>
          <a:solidFill>
            <a:srgbClr val="7E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核心问题提炼：不会写代码也能做出产品时，会写代码者的优势在...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89082" y="1431355"/>
            <a:ext cx="9006894" cy="19682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7734" y="1434772"/>
            <a:ext cx="9001596" cy="19161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三、Vibe Coding 的本质不是 Coding，是 Thinking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低代码节省编码劳动，思维框架仍为程序员式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Vibe Coding 节省 thinking-to-code 的翻译成本，用户只需表达“想要什么”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终极评判标准：用了 AI 后，你的思考是变多了还是变少了？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379419" y="1106216"/>
            <a:ext cx="3242043" cy="838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66836" y="1089625"/>
            <a:ext cx="3264948" cy="1061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603347" y="1093544"/>
            <a:ext cx="17527" cy="533178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605922" y="1091489"/>
            <a:ext cx="5316" cy="535124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361725" y="6436278"/>
            <a:ext cx="3276308" cy="44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370647" y="6437589"/>
            <a:ext cx="3254140" cy="2756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367304" y="1104312"/>
            <a:ext cx="18881" cy="532725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357238" y="1093055"/>
            <a:ext cx="20324" cy="535609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55959" y="1921229"/>
            <a:ext cx="2333516" cy="3838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38083" y="1928931"/>
            <a:ext cx="2330300" cy="11506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370472" y="1959393"/>
            <a:ext cx="859" cy="1735993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390515" y="1920756"/>
            <a:ext cx="6171" cy="1804792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041926" y="3724493"/>
            <a:ext cx="2342731" cy="2798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1059112" y="3701286"/>
            <a:ext cx="2313754" cy="30007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47027" y="1921990"/>
            <a:ext cx="8954" cy="1788642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032146" y="1925921"/>
            <a:ext cx="4859" cy="1762602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823192" y="2144268"/>
            <a:ext cx="914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7E66A8"/>
                </a:solidFill>
                <a:latin typeface="KaiTi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A5549"/>
                </a:solidFill>
                <a:latin typeface="KaiTi"/>
              </a:rPr>
              <a:t>VIBE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04/15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2370" y="7714833"/>
            <a:ext cx="3196301" cy="29080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5096" y="7734321"/>
            <a:ext cx="3198167" cy="10592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801554" y="7707909"/>
            <a:ext cx="8781809" cy="12497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2157" y="7709523"/>
            <a:ext cx="8767541" cy="5285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87957">
            <a:off x="621792" y="420624"/>
            <a:ext cx="1828800" cy="164592"/>
          </a:xfrm>
          <a:prstGeom prst="rect">
            <a:avLst/>
          </a:prstGeom>
          <a:solidFill>
            <a:srgbClr val="DA5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胡彦斌案例细节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2970" y="1445732"/>
            <a:ext cx="8986783" cy="224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03052" y="1438750"/>
            <a:ext cx="9001477" cy="6090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一、名人大军压境：Vibe Coding 不是程序员的专利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App 功能清单：每日打卡、通告日历、巡演倒计时+交互地图、粉丝写信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网友反应：从“抢程序员饭碗”到歌词改编吐槽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核心问题提炼：不会写代码也能做出产品时，会写代码者的优势在哪里？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89935" y="1087248"/>
            <a:ext cx="3252436" cy="1866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360537" y="1105368"/>
            <a:ext cx="3251079" cy="1294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622265" y="1112957"/>
            <a:ext cx="11847" cy="534704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619540" y="1114298"/>
            <a:ext cx="23986" cy="532571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370695" y="6446735"/>
            <a:ext cx="3266710" cy="655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358432" y="6444134"/>
            <a:ext cx="3273418" cy="1085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70465" y="1082581"/>
            <a:ext cx="26823" cy="535808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390141" y="1109282"/>
            <a:ext cx="1553" cy="534070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35971" y="1920842"/>
            <a:ext cx="2349627" cy="14294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55750" y="1926820"/>
            <a:ext cx="2326947" cy="294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375662" y="1933407"/>
            <a:ext cx="34272" cy="1757074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3368760" y="1926829"/>
            <a:ext cx="13586" cy="1793718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034616" y="3703594"/>
            <a:ext cx="2360411" cy="25190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045868" y="3693161"/>
            <a:ext cx="2362009" cy="1081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040124" y="1943800"/>
            <a:ext cx="22728" cy="1780728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39270" y="1927603"/>
            <a:ext cx="1931" cy="1792119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871623" y="2169126"/>
            <a:ext cx="691466" cy="1679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884013" y="2175592"/>
            <a:ext cx="694833" cy="5075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2579874" y="2180148"/>
            <a:ext cx="4781" cy="127868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2569640" y="2211957"/>
            <a:ext cx="2063" cy="121982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1846977" y="3439198"/>
            <a:ext cx="736689" cy="2562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1881384" y="3441926"/>
            <a:ext cx="711804" cy="2035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1850285" y="2200947"/>
            <a:ext cx="28405" cy="122987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857051" y="2209476"/>
            <a:ext cx="10885" cy="125806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069160" y="3271486"/>
            <a:ext cx="306925" cy="1523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2048066" y="3233588"/>
            <a:ext cx="353237" cy="28621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D84AD"/>
                </a:solidFill>
                <a:latin typeface="KaiTi"/>
              </a:rPr>
              <a:t>VIBE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05/15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601269" y="7707772"/>
            <a:ext cx="3988931" cy="35148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96615" y="7729011"/>
            <a:ext cx="4011468" cy="8838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73172" y="7707986"/>
            <a:ext cx="8017555" cy="39481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736" y="7722754"/>
            <a:ext cx="7992310" cy="26532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54351">
            <a:off x="621792" y="420624"/>
            <a:ext cx="1828800" cy="164592"/>
          </a:xfrm>
          <a:prstGeom prst="rect">
            <a:avLst/>
          </a:prstGeom>
          <a:solidFill>
            <a:srgbClr val="2D8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李笑来案例细节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79198" y="1425574"/>
            <a:ext cx="9032046" cy="4091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93573" y="1439859"/>
            <a:ext cx="8991551" cy="16276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核心观点：“AI 写的代码比自己或雇佣的人类程序员好太多”；“AI 时代一人公司的本质是管理一堆 markdown 文件”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2025 年 8 月起步，2026 年 2 月完成 VMark 全功能版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极端生产方式：一行代码不看、一个 diff 不读，直接在终端管理 AI 机器人团队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核心观点：“AI 写的代码比自己或雇佣的人类程序员好太多”；“AI 时代一人公司的本质是管理一堆 markd...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97963" y="1096433"/>
            <a:ext cx="3215218" cy="2121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367053" y="1090117"/>
            <a:ext cx="3252400" cy="2613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634263" y="1096530"/>
            <a:ext cx="2028" cy="534089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623332" y="1117951"/>
            <a:ext cx="20304" cy="531183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367203" y="6431945"/>
            <a:ext cx="3236973" cy="1336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390829" y="6430883"/>
            <a:ext cx="3232821" cy="801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59834" y="1087867"/>
            <a:ext cx="18243" cy="536030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358512" y="1113628"/>
            <a:ext cx="12861" cy="531720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066092" y="1929983"/>
            <a:ext cx="2345223" cy="6431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41448" y="1919737"/>
            <a:ext cx="2357564" cy="21664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387907" y="1921689"/>
            <a:ext cx="14434" cy="1795376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3367969" y="1951132"/>
            <a:ext cx="43419" cy="1772586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026171" y="3703470"/>
            <a:ext cx="2384392" cy="1468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1040873" y="3712345"/>
            <a:ext cx="2357770" cy="4138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29125" y="1916937"/>
            <a:ext cx="4577" cy="1810419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046217" y="1944339"/>
            <a:ext cx="6601" cy="1755825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488509" y="2349696"/>
            <a:ext cx="1468369" cy="555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87898" y="2350652"/>
            <a:ext cx="1463672" cy="855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941144" y="2337456"/>
            <a:ext cx="6126" cy="96345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938245" y="2353370"/>
            <a:ext cx="9716" cy="95479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1480962" y="3312766"/>
            <a:ext cx="1448128" cy="2254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1497781" y="3308920"/>
            <a:ext cx="1447422" cy="2539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1463888" y="2315742"/>
            <a:ext cx="3161" cy="99434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1466995" y="2332568"/>
            <a:ext cx="13647" cy="98144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654815" y="2660660"/>
            <a:ext cx="341825" cy="158978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695148" y="2641585"/>
            <a:ext cx="267263" cy="171233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1670069" y="2994394"/>
            <a:ext cx="448615" cy="27270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692484" y="2993699"/>
            <a:ext cx="425907" cy="30442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9770"/>
                </a:solidFill>
                <a:latin typeface="KaiTi"/>
              </a:rPr>
              <a:t>VIBE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06/15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8197" y="7718327"/>
            <a:ext cx="4770852" cy="4260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89526" y="7716425"/>
            <a:ext cx="4791208" cy="26804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386554" y="7708504"/>
            <a:ext cx="7176618" cy="14589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397241" y="7724163"/>
            <a:ext cx="7195654" cy="2647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586675">
            <a:off x="621792" y="420624"/>
            <a:ext cx="1828800" cy="164592"/>
          </a:xfrm>
          <a:prstGeom prst="rect">
            <a:avLst/>
          </a:prstGeom>
          <a:solidFill>
            <a:srgbClr val="52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国际名人实践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4666" y="1426485"/>
            <a:ext cx="9013500" cy="8088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10874" y="1435753"/>
            <a:ext cx="9004003" cy="16133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一、名人大军压境：Vibe Coding 不是程序员的专利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米拉·乔沃维奇：发布开源 AI memory 系统 MemPalace，GitHub 5.2 万星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Khyati Trehan：用 Google AI Studio 创作交互艺术项目「2×2 Anything」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Sound of Fractures：用 Cursor 开发「SCENES: Memory Atlas」，粉...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83254" y="1108724"/>
            <a:ext cx="3258413" cy="700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56928" y="1109451"/>
            <a:ext cx="3286800" cy="171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611703" y="1103872"/>
            <a:ext cx="32984" cy="532732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619232" y="1115797"/>
            <a:ext cx="5695" cy="531028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366100" y="6451787"/>
            <a:ext cx="3240947" cy="1625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365314" y="6434002"/>
            <a:ext cx="3257192" cy="2097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61696" y="1114145"/>
            <a:ext cx="23271" cy="530994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369400" y="1110785"/>
            <a:ext cx="15717" cy="533539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039216" y="1937397"/>
            <a:ext cx="2352416" cy="12575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24882" y="1943374"/>
            <a:ext cx="2379634" cy="6602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388402" y="1936120"/>
            <a:ext cx="2204" cy="1794307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3380087" y="1918265"/>
            <a:ext cx="30341" cy="1773991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067168" y="3699971"/>
            <a:ext cx="2301693" cy="10769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051029" y="3717142"/>
            <a:ext cx="2337495" cy="11753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55305" y="1948367"/>
            <a:ext cx="5817" cy="1749256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9300" y="1939548"/>
            <a:ext cx="6525" cy="1756209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560302" y="2304288"/>
            <a:ext cx="1314450" cy="1028700"/>
          </a:xfrm>
          <a:prstGeom prst="ellipse">
            <a:avLst/>
          </a:prstGeom>
          <a:noFill/>
          <a:ln w="25400">
            <a:solidFill>
              <a:srgbClr val="2D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937492" y="2567178"/>
            <a:ext cx="160020" cy="160020"/>
          </a:xfrm>
          <a:prstGeom prst="ellipse">
            <a:avLst/>
          </a:prstGeom>
          <a:solidFill>
            <a:srgbClr val="DA5549"/>
          </a:solidFill>
          <a:ln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2303252" y="2532888"/>
            <a:ext cx="160020" cy="160020"/>
          </a:xfrm>
          <a:prstGeom prst="ellipse">
            <a:avLst/>
          </a:prstGeom>
          <a:solidFill>
            <a:srgbClr val="2D84AD"/>
          </a:solidFill>
          <a:ln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097512" y="2910078"/>
            <a:ext cx="160020" cy="160020"/>
          </a:xfrm>
          <a:prstGeom prst="ellipse">
            <a:avLst/>
          </a:prstGeom>
          <a:solidFill>
            <a:srgbClr val="529770"/>
          </a:solidFill>
          <a:ln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7E66A8"/>
                </a:solidFill>
                <a:latin typeface="KaiTi"/>
              </a:rPr>
              <a:t>VIBE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07/15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594424" y="7712294"/>
            <a:ext cx="5601849" cy="6118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2720" y="7717660"/>
            <a:ext cx="5587797" cy="18493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79712" y="7736960"/>
            <a:ext cx="6383748" cy="1554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63653" y="7705112"/>
            <a:ext cx="6393162" cy="1209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534365">
            <a:off x="621792" y="420624"/>
            <a:ext cx="1828800" cy="164592"/>
          </a:xfrm>
          <a:prstGeom prst="rect">
            <a:avLst/>
          </a:prstGeom>
          <a:solidFill>
            <a:srgbClr val="E4B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二、大厂入场：平台化 Vibe Coding，把门槛彻底铲平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4241" y="1433124"/>
            <a:ext cx="8993031" cy="18776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9875" y="1449049"/>
            <a:ext cx="9008832" cy="4655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三巨头共同方向总结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腾讯：个人行为 → 社交平台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蚂蚁：文本代码 → 全模态交互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Google：主动行为 → 搜索默认结果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367672" y="1098542"/>
            <a:ext cx="3265867" cy="460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357783" y="1082931"/>
            <a:ext cx="3275928" cy="2584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29476" y="1083520"/>
            <a:ext cx="8138" cy="534743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603160" y="1101380"/>
            <a:ext cx="26620" cy="532817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375623" y="6429997"/>
            <a:ext cx="3264338" cy="2158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361678" y="6444727"/>
            <a:ext cx="3275673" cy="10625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369459" y="1101739"/>
            <a:ext cx="10277" cy="534278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367810" y="1085272"/>
            <a:ext cx="16871" cy="534384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49083" y="1927025"/>
            <a:ext cx="2318023" cy="11578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31110" y="1935234"/>
            <a:ext cx="2357471" cy="18489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388240" y="1951410"/>
            <a:ext cx="10805" cy="1753260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372863" y="1947694"/>
            <a:ext cx="21324" cy="1747838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067725" y="3702224"/>
            <a:ext cx="2341129" cy="24305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1029965" y="3690425"/>
            <a:ext cx="2350735" cy="12669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37518" y="1923498"/>
            <a:ext cx="10763" cy="1765288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043624" y="1956307"/>
            <a:ext cx="24016" cy="1764607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450987" y="3274962"/>
            <a:ext cx="1578593" cy="3249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59329" y="3280722"/>
            <a:ext cx="1579270" cy="349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1509845" y="2678140"/>
            <a:ext cx="18404" cy="61940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505033" y="2662687"/>
            <a:ext cx="35208" cy="61188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531473" y="2702725"/>
            <a:ext cx="391059" cy="22413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506592" y="2694970"/>
            <a:ext cx="408821" cy="25345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925256" y="2659948"/>
            <a:ext cx="390841" cy="27683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928070" y="2681082"/>
            <a:ext cx="363913" cy="24305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294366" y="2670219"/>
            <a:ext cx="435896" cy="28271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2301394" y="2682621"/>
            <a:ext cx="413754" cy="26640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A5549"/>
                </a:solidFill>
                <a:latin typeface="KaiTi"/>
              </a:rPr>
              <a:t>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08/15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614428" y="7706738"/>
            <a:ext cx="6356701" cy="35535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08501" y="7704298"/>
            <a:ext cx="6392346" cy="19929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963213" y="7743123"/>
            <a:ext cx="5597162" cy="185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996444" y="7708039"/>
            <a:ext cx="5555555" cy="17075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144145">
            <a:off x="621792" y="420624"/>
            <a:ext cx="1828800" cy="164592"/>
          </a:xfrm>
          <a:prstGeom prst="rect">
            <a:avLst/>
          </a:prstGeom>
          <a:solidFill>
            <a:srgbClr val="7E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腾讯「吐司」产品逻辑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13465" y="1464751"/>
            <a:ext cx="8994618" cy="1721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04218" y="1433769"/>
            <a:ext cx="8980079" cy="31678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二、大厂入场：平台化 Vibe Coding，把门槛彻底铲平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定位：探索型 Vibe Coding 产品，面向完全不懂代码的普通人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流程：自然语言输入 → AI 拆解功能 → 多轮对话调整 → 一键打包 APK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社交闭环：公开模板、一键复刻、二次创作、灵感搜索，形成“想法→应用→分发→共创”生态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01040" y="1092848"/>
            <a:ext cx="3203744" cy="1796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90446" y="1082443"/>
            <a:ext cx="3234884" cy="2341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609347" y="1084388"/>
            <a:ext cx="11822" cy="536819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639985" y="1107425"/>
            <a:ext cx="724" cy="531919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369187" y="6446509"/>
            <a:ext cx="3250196" cy="1358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379693" y="6445925"/>
            <a:ext cx="3230427" cy="811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385898" y="1084551"/>
            <a:ext cx="6221" cy="535163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368316" y="1090959"/>
            <a:ext cx="26700" cy="535450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059961" y="1922748"/>
            <a:ext cx="2312613" cy="24175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43860" y="1920076"/>
            <a:ext cx="2341665" cy="20405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366352" y="1957348"/>
            <a:ext cx="20368" cy="1753479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3380261" y="1959611"/>
            <a:ext cx="29082" cy="1751082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042793" y="3706646"/>
            <a:ext cx="2365525" cy="11345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1030964" y="3697273"/>
            <a:ext cx="2366451" cy="8010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023436" y="1927589"/>
            <a:ext cx="13508" cy="1794480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9107" y="1933405"/>
            <a:ext cx="11402" cy="1771859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loud 29"/>
          <p:cNvSpPr/>
          <p:nvPr/>
        </p:nvSpPr>
        <p:spPr>
          <a:xfrm>
            <a:off x="11674602" y="2338578"/>
            <a:ext cx="1085850" cy="857250"/>
          </a:xfrm>
          <a:prstGeom prst="cloud">
            <a:avLst/>
          </a:prstGeom>
          <a:noFill/>
          <a:ln w="25400">
            <a:solidFill>
              <a:srgbClr val="E4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D84AD"/>
                </a:solidFill>
                <a:latin typeface="KaiTi"/>
              </a:rPr>
              <a:t>VIBE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09/15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605125" y="7732758"/>
            <a:ext cx="7178000" cy="5355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10583" y="7719095"/>
            <a:ext cx="7150895" cy="27837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68543" y="7715971"/>
            <a:ext cx="4788076" cy="16709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73935" y="7712068"/>
            <a:ext cx="4810243" cy="34646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64720">
            <a:off x="621792" y="420624"/>
            <a:ext cx="1828800" cy="164592"/>
          </a:xfrm>
          <a:prstGeom prst="rect">
            <a:avLst/>
          </a:prstGeom>
          <a:solidFill>
            <a:srgbClr val="DA5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蚂蚁「灵光」产品逻辑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96623" y="1423513"/>
            <a:ext cx="8998522" cy="33137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9470" y="1431178"/>
            <a:ext cx="8985688" cy="18606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特点：无部署、无打包、无认知负担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发布早于吐司（2025 年 11 月），定位全模态通用 AI 助手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「灵光闪应用」：30 秒生成含 3D、音频、动图的完整小应用，支持实时对话修改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特点：无部署、无打包、无认知负担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72789" y="1086579"/>
            <a:ext cx="3237512" cy="2323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373606" y="1084004"/>
            <a:ext cx="3272359" cy="1872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33247" y="1117981"/>
            <a:ext cx="8629" cy="534663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604552" y="1104257"/>
            <a:ext cx="1226" cy="535003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374514" y="6444004"/>
            <a:ext cx="3244554" cy="1464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384508" y="6423833"/>
            <a:ext cx="3228794" cy="1307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56464" y="1106154"/>
            <a:ext cx="40758" cy="531822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365602" y="1100613"/>
            <a:ext cx="2238" cy="536142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42707" y="1921597"/>
            <a:ext cx="2364877" cy="3188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52430" y="1924377"/>
            <a:ext cx="2333597" cy="881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373845" y="1946871"/>
            <a:ext cx="1700" cy="1741090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3373194" y="1931004"/>
            <a:ext cx="20005" cy="1763537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064804" y="3689333"/>
            <a:ext cx="2332651" cy="26310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028890" y="3704475"/>
            <a:ext cx="2339030" cy="8398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025860" y="1944821"/>
            <a:ext cx="20567" cy="1783280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047421" y="1948237"/>
            <a:ext cx="747" cy="1751041"/>
          </a:xfrm>
          <a:prstGeom prst="line">
            <a:avLst/>
          </a:prstGeom>
          <a:ln w="29209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737881" y="2466393"/>
            <a:ext cx="922440" cy="1530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759588" y="2492575"/>
            <a:ext cx="895617" cy="1712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2642786" y="2491695"/>
            <a:ext cx="22493" cy="66966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632391" y="2492353"/>
            <a:ext cx="10121" cy="65446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1737523" y="3142092"/>
            <a:ext cx="931316" cy="322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1745247" y="3133654"/>
            <a:ext cx="895441" cy="161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737849" y="2467060"/>
            <a:ext cx="12173" cy="69729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738528" y="2478903"/>
            <a:ext cx="35953" cy="69186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770027" y="2256156"/>
            <a:ext cx="316294" cy="234397"/>
          </a:xfrm>
          <a:prstGeom prst="line">
            <a:avLst/>
          </a:prstGeom>
          <a:ln w="25400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750374" y="2273368"/>
            <a:ext cx="321992" cy="235538"/>
          </a:xfrm>
          <a:prstGeom prst="line">
            <a:avLst/>
          </a:prstGeom>
          <a:ln w="25400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2646676" y="2268159"/>
            <a:ext cx="304830" cy="236953"/>
          </a:xfrm>
          <a:prstGeom prst="line">
            <a:avLst/>
          </a:prstGeom>
          <a:ln w="25400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628448" y="2272697"/>
            <a:ext cx="340908" cy="219449"/>
          </a:xfrm>
          <a:prstGeom prst="line">
            <a:avLst/>
          </a:prstGeom>
          <a:ln w="25400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090856" y="2270951"/>
            <a:ext cx="893708" cy="3716"/>
          </a:xfrm>
          <a:prstGeom prst="line">
            <a:avLst/>
          </a:prstGeom>
          <a:ln w="25400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2079381" y="2240574"/>
            <a:ext cx="884159" cy="1582"/>
          </a:xfrm>
          <a:prstGeom prst="line">
            <a:avLst/>
          </a:prstGeom>
          <a:ln w="25400">
            <a:solidFill>
              <a:srgbClr val="E4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9770"/>
                </a:solidFill>
                <a:latin typeface="KaiTi"/>
              </a:rPr>
              <a:t>VIBE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10/15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578497" y="7725298"/>
            <a:ext cx="8003721" cy="21954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96270" y="7715092"/>
            <a:ext cx="7964150" cy="10623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95755" y="7706680"/>
            <a:ext cx="3986601" cy="1709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599944" y="7728662"/>
            <a:ext cx="3965269" cy="13262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148376">
            <a:off x="621792" y="420624"/>
            <a:ext cx="1828800" cy="164592"/>
          </a:xfrm>
          <a:prstGeom prst="rect">
            <a:avLst/>
          </a:prstGeom>
          <a:solidFill>
            <a:srgbClr val="2D8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Google I/O「Antigravity」与 Gemi...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96371" y="1450853"/>
            <a:ext cx="9015200" cy="8366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1760" y="1459398"/>
            <a:ext cx="9025265" cy="2967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规模化延伸：个人用 Claude Code 管理十几个 Worker，Google 云端管理上亿个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搜索即生成：搜索“榫卯结构”直接生成动态演示 App，搜索新车进入 3D 可交互空间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Gemini Spark：云端全天候 AI Agent，通过 MCP 协议与外部 App 互联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规模化延伸：个人用 Claude Code 管理十几个 Worker，Google 云端管理上亿个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364726" y="1092690"/>
            <a:ext cx="3240257" cy="2180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68657" y="1079278"/>
            <a:ext cx="3236490" cy="2543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04357" y="1076966"/>
            <a:ext cx="9536" cy="536143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627102" y="1094459"/>
            <a:ext cx="16226" cy="536918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375721" y="6426572"/>
            <a:ext cx="3247401" cy="2274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361513" y="6446745"/>
            <a:ext cx="3246952" cy="713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360387" y="1105295"/>
            <a:ext cx="23689" cy="534204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363671" y="1106833"/>
            <a:ext cx="25057" cy="534542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036134" y="1942565"/>
            <a:ext cx="2341743" cy="14146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59700" y="1915668"/>
            <a:ext cx="2315023" cy="335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371789" y="1951097"/>
            <a:ext cx="20712" cy="1759187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406760" y="1927338"/>
            <a:ext cx="1160" cy="1761206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039102" y="3706859"/>
            <a:ext cx="2367636" cy="8972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034976" y="3713624"/>
            <a:ext cx="2350470" cy="18438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53419" y="1921104"/>
            <a:ext cx="15083" cy="1766508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39382" y="1950905"/>
            <a:ext cx="896" cy="1759655"/>
          </a:xfrm>
          <a:prstGeom prst="line">
            <a:avLst/>
          </a:prstGeom>
          <a:ln w="29209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617452" y="2327148"/>
            <a:ext cx="800100" cy="800100"/>
          </a:xfrm>
          <a:prstGeom prst="ellipse">
            <a:avLst/>
          </a:prstGeom>
          <a:noFill/>
          <a:ln w="3175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2262733" y="2976534"/>
            <a:ext cx="496388" cy="333715"/>
          </a:xfrm>
          <a:prstGeom prst="line">
            <a:avLst/>
          </a:prstGeom>
          <a:ln w="381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299834" y="2990823"/>
            <a:ext cx="433874" cy="359469"/>
          </a:xfrm>
          <a:prstGeom prst="line">
            <a:avLst/>
          </a:prstGeom>
          <a:ln w="381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7E66A8"/>
                </a:solidFill>
                <a:latin typeface="KaiTi"/>
              </a:rPr>
              <a:t>VIBE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11/15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02755" y="7718016"/>
            <a:ext cx="8778104" cy="31018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91193" y="7705064"/>
            <a:ext cx="8770678" cy="31623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61669" y="7738657"/>
            <a:ext cx="3195633" cy="6455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378402" y="7709025"/>
            <a:ext cx="3197916" cy="36089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81181">
            <a:off x="621792" y="420624"/>
            <a:ext cx="1828800" cy="164592"/>
          </a:xfrm>
          <a:prstGeom prst="rect">
            <a:avLst/>
          </a:prstGeom>
          <a:solidFill>
            <a:srgbClr val="52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三、Vibe Coding 的本质不是 Coding，是 ...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06391" y="1424918"/>
            <a:ext cx="8973385" cy="22148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88180" y="1422217"/>
            <a:ext cx="9013802" cy="23107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“你不是在 Vibe Coding，你其实是在 Vibe Thinking”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低代码节省编码劳动，思维框架仍为程序员式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Vibe Coding 节省 thinking-to-code 的翻译成本，用户只需表达“想要什么”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AI 接管 DO 过程，What/Why/How 仍需人类主导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66672" y="1097133"/>
            <a:ext cx="3245694" cy="1026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358476" y="1075276"/>
            <a:ext cx="3273298" cy="958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622548" y="1100522"/>
            <a:ext cx="2328" cy="535273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606913" y="1115799"/>
            <a:ext cx="25176" cy="534503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380980" y="6430733"/>
            <a:ext cx="3254323" cy="3355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393479" y="6436215"/>
            <a:ext cx="3215993" cy="747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367513" y="1078130"/>
            <a:ext cx="14577" cy="537075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384747" y="1094021"/>
            <a:ext cx="5058" cy="537165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37961" y="1915860"/>
            <a:ext cx="2334028" cy="26684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55411" y="1949086"/>
            <a:ext cx="2336789" cy="3989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366993" y="1932629"/>
            <a:ext cx="8567" cy="1756438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370319" y="1935815"/>
            <a:ext cx="5906" cy="1779091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039421" y="3691263"/>
            <a:ext cx="2362471" cy="33374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1043034" y="3707869"/>
            <a:ext cx="2342158" cy="2761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46310" y="1934653"/>
            <a:ext cx="17745" cy="1762517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25457" y="1949975"/>
            <a:ext cx="759" cy="1748634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loud 29"/>
          <p:cNvSpPr/>
          <p:nvPr/>
        </p:nvSpPr>
        <p:spPr>
          <a:xfrm>
            <a:off x="11560302" y="2372868"/>
            <a:ext cx="1314450" cy="845820"/>
          </a:xfrm>
          <a:prstGeom prst="cloud">
            <a:avLst/>
          </a:prstGeom>
          <a:noFill/>
          <a:ln w="25400">
            <a:solidFill>
              <a:srgbClr val="7E6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2193878" y="3177108"/>
            <a:ext cx="9869" cy="24003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2217855" y="3201722"/>
            <a:ext cx="5116" cy="21238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A5549"/>
                </a:solidFill>
                <a:latin typeface="KaiTi"/>
              </a:rPr>
              <a:t>THINK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12/15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17171" y="7718163"/>
            <a:ext cx="9557575" cy="4017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10129" y="7721423"/>
            <a:ext cx="9558953" cy="20171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198168" y="7728503"/>
            <a:ext cx="2367309" cy="8678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188556" y="7717592"/>
            <a:ext cx="2398762" cy="17976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111442">
            <a:off x="621792" y="420624"/>
            <a:ext cx="1828800" cy="164592"/>
          </a:xfrm>
          <a:prstGeom prst="rect">
            <a:avLst/>
          </a:prstGeom>
          <a:solidFill>
            <a:srgbClr val="E4B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对抗性使用习惯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79686" y="1437031"/>
            <a:ext cx="9014329" cy="21563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02518" y="1426479"/>
            <a:ext cx="8990051" cy="19466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终极评判标准：用了 AI 后，你的思考是变多了还是变少了？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故意制造对立：让 AI 批判性审视想法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多厂商互审：Claude 与 Codex 互相挑刺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递归思维：让 AI 教如何更好使用 AI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62311" y="1103250"/>
            <a:ext cx="3254271" cy="1559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72589" y="1085429"/>
            <a:ext cx="3266342" cy="1035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40869" y="1108518"/>
            <a:ext cx="3354" cy="532406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613007" y="1101609"/>
            <a:ext cx="12615" cy="536205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356531" y="6438136"/>
            <a:ext cx="3271544" cy="3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397856" y="6427621"/>
            <a:ext cx="3206776" cy="3739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76765" y="1099436"/>
            <a:ext cx="17375" cy="533069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396434" y="1112599"/>
            <a:ext cx="3780" cy="532895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25433" y="1924087"/>
            <a:ext cx="2377309" cy="15216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63868" y="1918118"/>
            <a:ext cx="2326258" cy="15200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373456" y="1948299"/>
            <a:ext cx="2324" cy="1761623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367392" y="1934107"/>
            <a:ext cx="9649" cy="1790844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058186" y="3694612"/>
            <a:ext cx="2309953" cy="8006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057722" y="3708238"/>
            <a:ext cx="2345553" cy="3350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023723" y="1932806"/>
            <a:ext cx="20555" cy="1798332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023827" y="1941262"/>
            <a:ext cx="6696" cy="1769598"/>
          </a:xfrm>
          <a:prstGeom prst="line">
            <a:avLst/>
          </a:prstGeom>
          <a:ln w="29209">
            <a:solidFill>
              <a:srgbClr val="7E6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457432" y="2418588"/>
            <a:ext cx="685800" cy="480060"/>
          </a:xfrm>
          <a:prstGeom prst="roundRect">
            <a:avLst/>
          </a:prstGeom>
          <a:noFill/>
          <a:ln w="25400">
            <a:solidFill>
              <a:srgbClr val="7E6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246102" y="2418588"/>
            <a:ext cx="685800" cy="480060"/>
          </a:xfrm>
          <a:prstGeom prst="roundRect">
            <a:avLst/>
          </a:prstGeom>
          <a:noFill/>
          <a:ln w="25400">
            <a:solidFill>
              <a:srgbClr val="7E6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11896169" y="3110744"/>
            <a:ext cx="540872" cy="752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21913" y="3122747"/>
            <a:ext cx="531400" cy="1489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D84AD"/>
                </a:solidFill>
                <a:latin typeface="KaiTi"/>
              </a:rPr>
              <a:t>VIBE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13/15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07738" y="7736521"/>
            <a:ext cx="10360925" cy="3351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9161" y="7733398"/>
            <a:ext cx="10396155" cy="7536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981007" y="7721744"/>
            <a:ext cx="1600084" cy="9104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969947" y="7706179"/>
            <a:ext cx="1610333" cy="30553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55381">
            <a:off x="621792" y="420624"/>
            <a:ext cx="1828800" cy="164592"/>
          </a:xfrm>
          <a:prstGeom prst="rect">
            <a:avLst/>
          </a:prstGeom>
          <a:solidFill>
            <a:srgbClr val="7E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四、那些蔑视 Vibe Coding 的人，到底在怕什么？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5109" y="1459360"/>
            <a:ext cx="8982606" cy="600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4463" y="1424080"/>
            <a:ext cx="8975324" cy="8728"/>
          </a:xfrm>
          <a:prstGeom prst="line">
            <a:avLst/>
          </a:prstGeom>
          <a:ln w="25400">
            <a:solidFill>
              <a:srgbClr val="2D8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心理本质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“山代码”“无法维护”“生产环境原形毕露”“文科生只是会用工具”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护城河焦虑：十年经验工程师的职业安全感被稀释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Vibe Coding 取代的是“不会写代码就不能做产品”的旧前提，而非软件工程本身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376719" y="1101143"/>
            <a:ext cx="3264657" cy="724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365334" y="1089104"/>
            <a:ext cx="3273679" cy="2589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32463" y="1094454"/>
            <a:ext cx="7303" cy="536735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626965" y="1083404"/>
            <a:ext cx="5860" cy="537401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383095" y="6438262"/>
            <a:ext cx="3251170" cy="2441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393657" y="6450248"/>
            <a:ext cx="3230292" cy="11620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69599" y="1103077"/>
            <a:ext cx="15760" cy="532295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361767" y="1078402"/>
            <a:ext cx="11069" cy="5354463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041900" y="1931238"/>
            <a:ext cx="2367629" cy="20222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23861" y="1919437"/>
            <a:ext cx="2372492" cy="33394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399286" y="1950560"/>
            <a:ext cx="1556" cy="1779475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3373665" y="1923438"/>
            <a:ext cx="8373" cy="1804088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045975" y="3701235"/>
            <a:ext cx="2335315" cy="24657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049980" y="3699409"/>
            <a:ext cx="2330814" cy="10042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051940" y="1922931"/>
            <a:ext cx="13712" cy="1772866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23215" y="1952879"/>
            <a:ext cx="42873" cy="1740726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782267" y="2292673"/>
            <a:ext cx="863315" cy="2429"/>
          </a:xfrm>
          <a:prstGeom prst="line">
            <a:avLst/>
          </a:prstGeom>
          <a:ln w="3048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801181" y="2281497"/>
            <a:ext cx="864161" cy="19176"/>
          </a:xfrm>
          <a:prstGeom prst="line">
            <a:avLst/>
          </a:prstGeom>
          <a:ln w="3048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1661780" y="2277984"/>
            <a:ext cx="116799" cy="612732"/>
          </a:xfrm>
          <a:prstGeom prst="line">
            <a:avLst/>
          </a:prstGeom>
          <a:ln w="3048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1683168" y="2274799"/>
            <a:ext cx="113066" cy="634929"/>
          </a:xfrm>
          <a:prstGeom prst="line">
            <a:avLst/>
          </a:prstGeom>
          <a:ln w="3048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668720" y="2303131"/>
            <a:ext cx="81970" cy="563613"/>
          </a:xfrm>
          <a:prstGeom prst="line">
            <a:avLst/>
          </a:prstGeom>
          <a:ln w="3048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2626042" y="2291535"/>
            <a:ext cx="139583" cy="579622"/>
          </a:xfrm>
          <a:prstGeom prst="line">
            <a:avLst/>
          </a:prstGeom>
          <a:ln w="3048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696492" y="2893404"/>
            <a:ext cx="514924" cy="510225"/>
          </a:xfrm>
          <a:prstGeom prst="line">
            <a:avLst/>
          </a:prstGeom>
          <a:ln w="3048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653488" y="2892460"/>
            <a:ext cx="556901" cy="513299"/>
          </a:xfrm>
          <a:prstGeom prst="line">
            <a:avLst/>
          </a:prstGeom>
          <a:ln w="3048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2229172" y="2871288"/>
            <a:ext cx="542584" cy="543667"/>
          </a:xfrm>
          <a:prstGeom prst="line">
            <a:avLst/>
          </a:prstGeom>
          <a:ln w="3048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2190889" y="2870370"/>
            <a:ext cx="554191" cy="523192"/>
          </a:xfrm>
          <a:prstGeom prst="line">
            <a:avLst/>
          </a:prstGeom>
          <a:ln w="3048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028932" y="2487168"/>
            <a:ext cx="40005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DA5549"/>
                </a:solidFill>
                <a:latin typeface="Microsoft YaHei"/>
              </a:rP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9770"/>
                </a:solidFill>
                <a:latin typeface="KaiTi"/>
              </a:rPr>
              <a:t>VIBE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14/15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612618" y="7705508"/>
            <a:ext cx="11153988" cy="17453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4775" y="7715546"/>
            <a:ext cx="11162939" cy="20770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1769935" y="7708086"/>
            <a:ext cx="793457" cy="33353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1792221" y="7742031"/>
            <a:ext cx="778769" cy="3804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94636912-e21d-4149-a521-6d3a460508c2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149813">
            <a:off x="621792" y="420624"/>
            <a:ext cx="1828800" cy="164592"/>
          </a:xfrm>
          <a:prstGeom prst="rect">
            <a:avLst/>
          </a:prstGeom>
          <a:solidFill>
            <a:srgbClr val="DA5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1"/>
                </a:solidFill>
                <a:latin typeface="KaiTi"/>
              </a:rPr>
              <a:t>五、尾声：每个人都正在成为「制作人」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93217" y="1422273"/>
            <a:ext cx="9015498" cy="24906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6409" y="1451783"/>
            <a:ext cx="9020101" cy="9928"/>
          </a:xfrm>
          <a:prstGeom prst="line">
            <a:avLst/>
          </a:prstGeom>
          <a:ln w="2540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664208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770"/>
                </a:solidFill>
                <a:latin typeface="Microsoft YaHei"/>
              </a:rPr>
              <a:t>整体趋势与启示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62072"/>
            <a:ext cx="164592" cy="164592"/>
          </a:xfrm>
          <a:prstGeom prst="ellipse">
            <a:avLst/>
          </a:prstGeom>
          <a:noFill/>
          <a:ln w="25400">
            <a:solidFill>
              <a:srgbClr val="DA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761488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从“开发者/程序员”改为“Producer（制作人）”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666744"/>
            <a:ext cx="164592" cy="164592"/>
          </a:xfrm>
          <a:prstGeom prst="ellipse">
            <a:avLst/>
          </a:prstGeom>
          <a:noFill/>
          <a:ln w="25400">
            <a:solidFill>
              <a:srgbClr val="2D8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566160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Vibe Coding 下的软件制作人：最懂需求、品味与故事的人提供蓝图，代码仅为水泥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71416"/>
            <a:ext cx="164592" cy="164592"/>
          </a:xfrm>
          <a:prstGeom prst="ellipse">
            <a:avLst/>
          </a:prstGeom>
          <a:noFill/>
          <a:ln w="25400">
            <a:solidFill>
              <a:srgbClr val="52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370832"/>
            <a:ext cx="85130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1"/>
                </a:solidFill>
                <a:latin typeface="Microsoft YaHei"/>
              </a:rPr>
              <a:t>链路清晰：个人实践验证可行性 → 方法论沉淀 → 平台化降低门槛 → 生态形成新范式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392355" y="1112195"/>
            <a:ext cx="3236281" cy="7304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383532" y="1074670"/>
            <a:ext cx="3242733" cy="1073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29461" y="1112764"/>
            <a:ext cx="1330" cy="5327929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617139" y="1110416"/>
            <a:ext cx="27884" cy="5330171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362358" y="6432653"/>
            <a:ext cx="3264874" cy="24177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374186" y="6424232"/>
            <a:ext cx="3266199" cy="36356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362187" y="1091118"/>
            <a:ext cx="6204" cy="5359402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367689" y="1098567"/>
            <a:ext cx="31812" cy="5368248"/>
          </a:xfrm>
          <a:prstGeom prst="line">
            <a:avLst/>
          </a:prstGeom>
          <a:ln w="2540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25012" y="1915931"/>
            <a:ext cx="2350373" cy="23015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51433" y="1948390"/>
            <a:ext cx="2359317" cy="12981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371519" y="1932190"/>
            <a:ext cx="15038" cy="1788411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392513" y="1939595"/>
            <a:ext cx="99" cy="1775522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028816" y="3725092"/>
            <a:ext cx="2355090" cy="7360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037313" y="3691739"/>
            <a:ext cx="2357781" cy="9255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34991" y="1943876"/>
            <a:ext cx="28800" cy="1759820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042565" y="1961116"/>
            <a:ext cx="19083" cy="1770401"/>
          </a:xfrm>
          <a:prstGeom prst="line">
            <a:avLst/>
          </a:prstGeom>
          <a:ln w="29209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691858" y="2406417"/>
            <a:ext cx="1075372" cy="845558"/>
          </a:xfrm>
          <a:prstGeom prst="line">
            <a:avLst/>
          </a:prstGeom>
          <a:ln w="3175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669182" y="2433984"/>
            <a:ext cx="1100231" cy="828729"/>
          </a:xfrm>
          <a:prstGeom prst="line">
            <a:avLst/>
          </a:prstGeom>
          <a:ln w="31750">
            <a:solidFill>
              <a:srgbClr val="2D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723926" y="2392302"/>
            <a:ext cx="1026592" cy="852366"/>
          </a:xfrm>
          <a:prstGeom prst="line">
            <a:avLst/>
          </a:prstGeom>
          <a:ln w="2794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717509" y="2416573"/>
            <a:ext cx="998626" cy="820809"/>
          </a:xfrm>
          <a:prstGeom prst="line">
            <a:avLst/>
          </a:prstGeom>
          <a:ln w="27940">
            <a:solidFill>
              <a:srgbClr val="52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983212" y="2487168"/>
            <a:ext cx="51435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500" b="1">
                <a:solidFill>
                  <a:srgbClr val="529770"/>
                </a:solidFill>
                <a:latin typeface="Microsoft YaHei"/>
              </a:rP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2488" y="4736592"/>
            <a:ext cx="25146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7E66A8"/>
                </a:solidFill>
                <a:latin typeface="KaiTi"/>
              </a:rPr>
              <a:t>PRODUCER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2798064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360273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" y="4407408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770"/>
                </a:solidFill>
                <a:latin typeface="Microsoft YaHe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50240" y="75438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C6770"/>
                </a:solidFill>
                <a:latin typeface="Microsoft YaHei"/>
              </a:rPr>
              <a:t>15/15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9140" y="7709549"/>
            <a:ext cx="11953941" cy="4519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99487" y="7722393"/>
            <a:ext cx="11970584" cy="13439"/>
          </a:xfrm>
          <a:prstGeom prst="line">
            <a:avLst/>
          </a:prstGeom>
          <a:ln w="31750">
            <a:solidFill>
              <a:srgbClr val="DA55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2550461" y="7710867"/>
            <a:ext cx="15387" cy="21063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2579184" y="7727701"/>
            <a:ext cx="6506" cy="7822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胡彦斌、李笑来都在Vibe Coding，腾讯蚂蚁也杀进来了——为什么你还觉得它不靠谱？</dc:title>
  <dc:subject>15-page hand-drawn style deck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