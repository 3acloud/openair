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1206882" y="5227423"/>
            <a:ext cx="2193112" cy="552348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8540787" y="2791609"/>
            <a:ext cx="1595944" cy="519346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-33972" y="5151667"/>
            <a:ext cx="1678567" cy="923383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7778490" y="1454761"/>
            <a:ext cx="2252263" cy="798200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10184835" y="-75722"/>
            <a:ext cx="1045395" cy="761814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7669066" y="6016924"/>
            <a:ext cx="2134163" cy="751731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10626551" y="3314977"/>
            <a:ext cx="1543224" cy="860888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10779613" y="5740783"/>
            <a:ext cx="1652783" cy="1036029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1810146" y="6169510"/>
            <a:ext cx="2342609" cy="454193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0809666" y="6585569"/>
            <a:ext cx="320333" cy="25633"/>
          </a:xfrm>
          <a:prstGeom prst="line">
            <a:avLst/>
          </a:prstGeom>
          <a:ln w="575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86006" y="1284629"/>
            <a:ext cx="241094" cy="25976"/>
          </a:xfrm>
          <a:prstGeom prst="line">
            <a:avLst/>
          </a:prstGeom>
          <a:ln w="571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356900" y="2660566"/>
            <a:ext cx="449259" cy="1084"/>
          </a:xfrm>
          <a:prstGeom prst="line">
            <a:avLst/>
          </a:prstGeom>
          <a:ln w="695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79789" y="4498026"/>
            <a:ext cx="271439" cy="20999"/>
          </a:xfrm>
          <a:prstGeom prst="line">
            <a:avLst/>
          </a:prstGeom>
          <a:ln w="711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910319" y="563577"/>
            <a:ext cx="379936" cy="21511"/>
          </a:xfrm>
          <a:prstGeom prst="line">
            <a:avLst/>
          </a:prstGeom>
          <a:ln w="400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138282" y="2505480"/>
            <a:ext cx="405176" cy="1683"/>
          </a:xfrm>
          <a:prstGeom prst="line">
            <a:avLst/>
          </a:prstGeom>
          <a:ln w="474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239067" y="4160153"/>
            <a:ext cx="348634" cy="8074"/>
          </a:xfrm>
          <a:prstGeom prst="line">
            <a:avLst/>
          </a:prstGeom>
          <a:ln w="403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39151" y="83239"/>
            <a:ext cx="210136" cy="23048"/>
          </a:xfrm>
          <a:prstGeom prst="line">
            <a:avLst/>
          </a:prstGeom>
          <a:ln w="596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881802" y="2318468"/>
            <a:ext cx="447127" cy="8050"/>
          </a:xfrm>
          <a:prstGeom prst="line">
            <a:avLst/>
          </a:prstGeom>
          <a:ln w="779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956775" y="4114080"/>
            <a:ext cx="403945" cy="6381"/>
          </a:xfrm>
          <a:prstGeom prst="line">
            <a:avLst/>
          </a:prstGeom>
          <a:ln w="752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522657" y="6329799"/>
            <a:ext cx="324612" cy="20341"/>
          </a:xfrm>
          <a:prstGeom prst="line">
            <a:avLst/>
          </a:prstGeom>
          <a:ln w="712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480223" y="6418911"/>
            <a:ext cx="313128" cy="7421"/>
          </a:xfrm>
          <a:prstGeom prst="line">
            <a:avLst/>
          </a:prstGeom>
          <a:ln w="599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358108" y="2792601"/>
            <a:ext cx="434651" cy="4695"/>
          </a:xfrm>
          <a:prstGeom prst="line">
            <a:avLst/>
          </a:prstGeom>
          <a:ln w="318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19165" y="5321523"/>
            <a:ext cx="258277" cy="5478"/>
          </a:xfrm>
          <a:prstGeom prst="line">
            <a:avLst/>
          </a:prstGeom>
          <a:ln w="726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668979" y="3704318"/>
            <a:ext cx="203284" cy="22407"/>
          </a:xfrm>
          <a:prstGeom prst="line">
            <a:avLst/>
          </a:prstGeom>
          <a:ln w="59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74945" y="6299329"/>
            <a:ext cx="149032" cy="24336"/>
          </a:xfrm>
          <a:prstGeom prst="line">
            <a:avLst/>
          </a:prstGeom>
          <a:ln w="353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477771" y="3053239"/>
            <a:ext cx="412997" cy="12004"/>
          </a:xfrm>
          <a:prstGeom prst="line">
            <a:avLst/>
          </a:prstGeom>
          <a:ln w="453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623326" y="1230931"/>
            <a:ext cx="243334" cy="18244"/>
          </a:xfrm>
          <a:prstGeom prst="line">
            <a:avLst/>
          </a:prstGeom>
          <a:ln w="447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490205" y="4432030"/>
            <a:ext cx="374246" cy="11275"/>
          </a:xfrm>
          <a:prstGeom prst="line">
            <a:avLst/>
          </a:prstGeom>
          <a:ln w="674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992718" y="764082"/>
            <a:ext cx="251279" cy="8595"/>
          </a:xfrm>
          <a:prstGeom prst="line">
            <a:avLst/>
          </a:prstGeom>
          <a:ln w="721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9160" y="1715039"/>
            <a:ext cx="404220" cy="26156"/>
          </a:xfrm>
          <a:prstGeom prst="line">
            <a:avLst/>
          </a:prstGeom>
          <a:ln w="808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210116" y="6595507"/>
            <a:ext cx="219593" cy="5633"/>
          </a:xfrm>
          <a:prstGeom prst="line">
            <a:avLst/>
          </a:prstGeom>
          <a:ln w="335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585989" y="3011619"/>
            <a:ext cx="322347" cy="4023"/>
          </a:xfrm>
          <a:prstGeom prst="line">
            <a:avLst/>
          </a:prstGeom>
          <a:ln w="740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1792180" y="4265458"/>
            <a:ext cx="391382" cy="2697"/>
          </a:xfrm>
          <a:prstGeom prst="line">
            <a:avLst/>
          </a:prstGeom>
          <a:ln w="583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70554" y="4566768"/>
            <a:ext cx="431007" cy="8769"/>
          </a:xfrm>
          <a:prstGeom prst="line">
            <a:avLst/>
          </a:prstGeom>
          <a:ln w="534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901095" y="825614"/>
            <a:ext cx="214749" cy="24829"/>
          </a:xfrm>
          <a:prstGeom prst="line">
            <a:avLst/>
          </a:prstGeom>
          <a:ln w="353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22711" y="6187376"/>
            <a:ext cx="246112" cy="18752"/>
          </a:xfrm>
          <a:prstGeom prst="line">
            <a:avLst/>
          </a:prstGeom>
          <a:ln w="604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573831" y="3794127"/>
            <a:ext cx="448248" cy="4970"/>
          </a:xfrm>
          <a:prstGeom prst="line">
            <a:avLst/>
          </a:prstGeom>
          <a:ln w="428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872884" y="3118386"/>
            <a:ext cx="439978" cy="20293"/>
          </a:xfrm>
          <a:prstGeom prst="line">
            <a:avLst/>
          </a:prstGeom>
          <a:ln w="713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519211" y="231228"/>
            <a:ext cx="210461" cy="21999"/>
          </a:xfrm>
          <a:prstGeom prst="line">
            <a:avLst/>
          </a:prstGeom>
          <a:ln w="608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821620" y="4001806"/>
            <a:ext cx="317242" cy="24028"/>
          </a:xfrm>
          <a:prstGeom prst="line">
            <a:avLst/>
          </a:prstGeom>
          <a:ln w="515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084616" y="111027"/>
            <a:ext cx="361052" cy="5359"/>
          </a:xfrm>
          <a:prstGeom prst="line">
            <a:avLst/>
          </a:prstGeom>
          <a:ln w="460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894583" y="5802573"/>
            <a:ext cx="433842" cy="3475"/>
          </a:xfrm>
          <a:prstGeom prst="line">
            <a:avLst/>
          </a:prstGeom>
          <a:ln w="386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180966" y="1796902"/>
            <a:ext cx="172421" cy="6626"/>
          </a:xfrm>
          <a:prstGeom prst="line">
            <a:avLst/>
          </a:prstGeom>
          <a:ln w="595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037419" y="5668298"/>
            <a:ext cx="332597" cy="14701"/>
          </a:xfrm>
          <a:prstGeom prst="line">
            <a:avLst/>
          </a:prstGeom>
          <a:ln w="588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88451" y="255077"/>
            <a:ext cx="185812" cy="18295"/>
          </a:xfrm>
          <a:prstGeom prst="line">
            <a:avLst/>
          </a:prstGeom>
          <a:ln w="590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234901" y="2234652"/>
            <a:ext cx="322194" cy="13425"/>
          </a:xfrm>
          <a:prstGeom prst="line">
            <a:avLst/>
          </a:prstGeom>
          <a:ln w="489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374937" y="1591423"/>
            <a:ext cx="482436" cy="15337"/>
          </a:xfrm>
          <a:prstGeom prst="line">
            <a:avLst/>
          </a:prstGeom>
          <a:ln w="680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01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445252"/>
                </a:solidFill>
                <a:latin typeface="Microsoft YaHei"/>
              </a:rPr>
              <a:t>白垩纪灭绝与鸟类幸存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一场灾难如何重写生命的旅行路线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4025370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4046210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约6600万年前的撞击不是故事终点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鸟类祖先凭借生态弹性穿过危机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从幸存到辐射演化，现代鸟类由此展开</a:t>
            </a:r>
          </a:p>
        </p:txBody>
      </p:sp>
      <p:sp>
        <p:nvSpPr>
          <p:cNvPr id="72" name="Oval 71"/>
          <p:cNvSpPr/>
          <p:nvPr/>
        </p:nvSpPr>
        <p:spPr>
          <a:xfrm>
            <a:off x="9418320" y="2468880"/>
            <a:ext cx="1325880" cy="1325880"/>
          </a:xfrm>
          <a:prstGeom prst="ellipse">
            <a:avLst/>
          </a:prstGeom>
          <a:solidFill>
            <a:srgbClr val="E0907C"/>
          </a:solidFill>
          <a:ln w="25400"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628632" y="2679191"/>
            <a:ext cx="201168" cy="201168"/>
          </a:xfrm>
          <a:prstGeom prst="ellipse">
            <a:avLst/>
          </a:prstGeom>
          <a:solidFill>
            <a:srgbClr val="FBF7EB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122408" y="2880360"/>
            <a:ext cx="155448" cy="155448"/>
          </a:xfrm>
          <a:prstGeom prst="ellipse">
            <a:avLst/>
          </a:prstGeom>
          <a:solidFill>
            <a:srgbClr val="FBF7EB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875520" y="3291839"/>
            <a:ext cx="128016" cy="128016"/>
          </a:xfrm>
          <a:prstGeom prst="ellipse">
            <a:avLst/>
          </a:prstGeom>
          <a:solidFill>
            <a:srgbClr val="FBF7EB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8549640" y="1920240"/>
            <a:ext cx="1033272" cy="804672"/>
          </a:xfrm>
          <a:prstGeom prst="line">
            <a:avLst/>
          </a:prstGeom>
          <a:ln w="63500">
            <a:solidFill>
              <a:srgbClr val="DAB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olded Corner 78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路线提示：先看环境压力，再看生存特征。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10823971" y="5879203"/>
            <a:ext cx="1093747" cy="427845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8248268" y="4073730"/>
            <a:ext cx="1484831" cy="809020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52487" y="4148493"/>
            <a:ext cx="2559882" cy="832814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10746268" y="3258607"/>
            <a:ext cx="1697356" cy="561983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9829088" y="2088949"/>
            <a:ext cx="2454376" cy="1029797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10072029" y="3138993"/>
            <a:ext cx="1877142" cy="538488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1702627" y="852659"/>
            <a:ext cx="1798883" cy="628881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7528566" y="906251"/>
            <a:ext cx="2394879" cy="948605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10245302" y="4678515"/>
            <a:ext cx="2233486" cy="624562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945511" y="5099896"/>
            <a:ext cx="398734" cy="2117"/>
          </a:xfrm>
          <a:prstGeom prst="line">
            <a:avLst/>
          </a:prstGeom>
          <a:ln w="586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14507" y="6257931"/>
            <a:ext cx="320347" cy="18189"/>
          </a:xfrm>
          <a:prstGeom prst="line">
            <a:avLst/>
          </a:prstGeom>
          <a:ln w="497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656081" y="6087878"/>
            <a:ext cx="305780" cy="3714"/>
          </a:xfrm>
          <a:prstGeom prst="line">
            <a:avLst/>
          </a:prstGeom>
          <a:ln w="785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735997" y="3283046"/>
            <a:ext cx="218290" cy="9619"/>
          </a:xfrm>
          <a:prstGeom prst="line">
            <a:avLst/>
          </a:prstGeom>
          <a:ln w="672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04474" y="6143633"/>
            <a:ext cx="235234" cy="22570"/>
          </a:xfrm>
          <a:prstGeom prst="line">
            <a:avLst/>
          </a:prstGeom>
          <a:ln w="474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555432" y="4778583"/>
            <a:ext cx="321594" cy="974"/>
          </a:xfrm>
          <a:prstGeom prst="line">
            <a:avLst/>
          </a:prstGeom>
          <a:ln w="648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96539" y="2110113"/>
            <a:ext cx="213172" cy="652"/>
          </a:xfrm>
          <a:prstGeom prst="line">
            <a:avLst/>
          </a:prstGeom>
          <a:ln w="792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22859" y="510031"/>
            <a:ext cx="437229" cy="12397"/>
          </a:xfrm>
          <a:prstGeom prst="line">
            <a:avLst/>
          </a:prstGeom>
          <a:ln w="778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310246" y="5039616"/>
            <a:ext cx="158651" cy="8390"/>
          </a:xfrm>
          <a:prstGeom prst="line">
            <a:avLst/>
          </a:prstGeom>
          <a:ln w="456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35279" y="5924063"/>
            <a:ext cx="176028" cy="1227"/>
          </a:xfrm>
          <a:prstGeom prst="line">
            <a:avLst/>
          </a:prstGeom>
          <a:ln w="751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955141" y="1419989"/>
            <a:ext cx="459242" cy="4229"/>
          </a:xfrm>
          <a:prstGeom prst="line">
            <a:avLst/>
          </a:prstGeom>
          <a:ln w="681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4710" y="2451909"/>
            <a:ext cx="200027" cy="9479"/>
          </a:xfrm>
          <a:prstGeom prst="line">
            <a:avLst/>
          </a:prstGeom>
          <a:ln w="359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521641" y="145224"/>
            <a:ext cx="403954" cy="26272"/>
          </a:xfrm>
          <a:prstGeom prst="line">
            <a:avLst/>
          </a:prstGeom>
          <a:ln w="447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817252" y="1063150"/>
            <a:ext cx="204364" cy="10506"/>
          </a:xfrm>
          <a:prstGeom prst="line">
            <a:avLst/>
          </a:prstGeom>
          <a:ln w="513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20956" y="6673462"/>
            <a:ext cx="192544" cy="25442"/>
          </a:xfrm>
          <a:prstGeom prst="line">
            <a:avLst/>
          </a:prstGeom>
          <a:ln w="492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425989" y="5014966"/>
            <a:ext cx="178533" cy="8931"/>
          </a:xfrm>
          <a:prstGeom prst="line">
            <a:avLst/>
          </a:prstGeom>
          <a:ln w="333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15280" y="5182981"/>
            <a:ext cx="407803" cy="22056"/>
          </a:xfrm>
          <a:prstGeom prst="line">
            <a:avLst/>
          </a:prstGeom>
          <a:ln w="701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409789" y="4757701"/>
            <a:ext cx="310084" cy="15059"/>
          </a:xfrm>
          <a:prstGeom prst="line">
            <a:avLst/>
          </a:prstGeom>
          <a:ln w="653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17837" y="690521"/>
            <a:ext cx="300956" cy="20561"/>
          </a:xfrm>
          <a:prstGeom prst="line">
            <a:avLst/>
          </a:prstGeom>
          <a:ln w="382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060462" y="2639396"/>
            <a:ext cx="325454" cy="19541"/>
          </a:xfrm>
          <a:prstGeom prst="line">
            <a:avLst/>
          </a:prstGeom>
          <a:ln w="805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127314" y="4074620"/>
            <a:ext cx="290690" cy="26442"/>
          </a:xfrm>
          <a:prstGeom prst="line">
            <a:avLst/>
          </a:prstGeom>
          <a:ln w="600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696683" y="365622"/>
            <a:ext cx="149434" cy="18590"/>
          </a:xfrm>
          <a:prstGeom prst="line">
            <a:avLst/>
          </a:prstGeom>
          <a:ln w="366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65414" y="3439166"/>
            <a:ext cx="496873" cy="23818"/>
          </a:xfrm>
          <a:prstGeom prst="line">
            <a:avLst/>
          </a:prstGeom>
          <a:ln w="822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805977" y="3009072"/>
            <a:ext cx="228886" cy="5005"/>
          </a:xfrm>
          <a:prstGeom prst="line">
            <a:avLst/>
          </a:prstGeom>
          <a:ln w="634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658568" y="4796639"/>
            <a:ext cx="231017" cy="4223"/>
          </a:xfrm>
          <a:prstGeom prst="line">
            <a:avLst/>
          </a:prstGeom>
          <a:ln w="584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8235" y="218876"/>
            <a:ext cx="286656" cy="21332"/>
          </a:xfrm>
          <a:prstGeom prst="line">
            <a:avLst/>
          </a:prstGeom>
          <a:ln w="685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907266" y="660390"/>
            <a:ext cx="203640" cy="14730"/>
          </a:xfrm>
          <a:prstGeom prst="line">
            <a:avLst/>
          </a:prstGeom>
          <a:ln w="427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285329" y="3142411"/>
            <a:ext cx="250445" cy="7777"/>
          </a:xfrm>
          <a:prstGeom prst="line">
            <a:avLst/>
          </a:prstGeom>
          <a:ln w="425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942284" y="6513351"/>
            <a:ext cx="403773" cy="3635"/>
          </a:xfrm>
          <a:prstGeom prst="line">
            <a:avLst/>
          </a:prstGeom>
          <a:ln w="577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013637" y="346682"/>
            <a:ext cx="290054" cy="1376"/>
          </a:xfrm>
          <a:prstGeom prst="line">
            <a:avLst/>
          </a:prstGeom>
          <a:ln w="409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32014" y="5431214"/>
            <a:ext cx="271095" cy="1054"/>
          </a:xfrm>
          <a:prstGeom prst="line">
            <a:avLst/>
          </a:prstGeom>
          <a:ln w="785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368908" y="1952455"/>
            <a:ext cx="496893" cy="7010"/>
          </a:xfrm>
          <a:prstGeom prst="line">
            <a:avLst/>
          </a:prstGeom>
          <a:ln w="327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271754" y="684517"/>
            <a:ext cx="249054" cy="18688"/>
          </a:xfrm>
          <a:prstGeom prst="line">
            <a:avLst/>
          </a:prstGeom>
          <a:ln w="659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89766" y="3053808"/>
            <a:ext cx="287368" cy="775"/>
          </a:xfrm>
          <a:prstGeom prst="line">
            <a:avLst/>
          </a:prstGeom>
          <a:ln w="423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106199" y="492326"/>
            <a:ext cx="241168" cy="6973"/>
          </a:xfrm>
          <a:prstGeom prst="line">
            <a:avLst/>
          </a:prstGeom>
          <a:ln w="792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23943" y="5108645"/>
            <a:ext cx="207517" cy="3925"/>
          </a:xfrm>
          <a:prstGeom prst="line">
            <a:avLst/>
          </a:prstGeom>
          <a:ln w="516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591155" y="5078394"/>
            <a:ext cx="281651" cy="20753"/>
          </a:xfrm>
          <a:prstGeom prst="line">
            <a:avLst/>
          </a:prstGeom>
          <a:ln w="379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71770" y="5752055"/>
            <a:ext cx="371609" cy="25219"/>
          </a:xfrm>
          <a:prstGeom prst="line">
            <a:avLst/>
          </a:prstGeom>
          <a:ln w="669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02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演示路线图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沿着手绘地图走过灭绝、幸存与新生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3919271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4064315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背景：小行星撞击与全球环境剧变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筛选：哪些特征帮助鸟类祖先幸存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延续：灾后生态位开放与现代鸟类多样化</a:t>
            </a:r>
          </a:p>
        </p:txBody>
      </p:sp>
      <p:sp>
        <p:nvSpPr>
          <p:cNvPr id="72" name="Diamond 71"/>
          <p:cNvSpPr/>
          <p:nvPr/>
        </p:nvSpPr>
        <p:spPr>
          <a:xfrm>
            <a:off x="9372600" y="2441448"/>
            <a:ext cx="1371600" cy="1371600"/>
          </a:xfrm>
          <a:prstGeom prst="diamond">
            <a:avLst/>
          </a:prstGeom>
          <a:solidFill>
            <a:srgbClr val="FFFCF0"/>
          </a:solidFill>
          <a:ln w="25400"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Isosceles Triangle 72"/>
          <p:cNvSpPr/>
          <p:nvPr/>
        </p:nvSpPr>
        <p:spPr>
          <a:xfrm>
            <a:off x="9875520" y="2560320"/>
            <a:ext cx="411480" cy="960120"/>
          </a:xfrm>
          <a:prstGeom prst="triangl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olded Corner 75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把每页当作地图上的一个地标。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2419454" y="3258946"/>
            <a:ext cx="1580927" cy="807539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401210" y="-188830"/>
            <a:ext cx="2307668" cy="555482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1878474" y="4381577"/>
            <a:ext cx="1846773" cy="767826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7114098" y="703517"/>
            <a:ext cx="1992718" cy="1000752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4198184" y="-175983"/>
            <a:ext cx="2214035" cy="482364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135056" y="4790123"/>
            <a:ext cx="2286063" cy="562854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8047585" y="5431143"/>
            <a:ext cx="2115939" cy="1039562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8156459" y="3471116"/>
            <a:ext cx="2504504" cy="463892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774876" y="608422"/>
            <a:ext cx="1343141" cy="1072028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402261" y="5786935"/>
            <a:ext cx="291199" cy="18296"/>
          </a:xfrm>
          <a:prstGeom prst="line">
            <a:avLst/>
          </a:prstGeom>
          <a:ln w="609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446666" y="2748930"/>
            <a:ext cx="222158" cy="8956"/>
          </a:xfrm>
          <a:prstGeom prst="line">
            <a:avLst/>
          </a:prstGeom>
          <a:ln w="782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5932" y="1892510"/>
            <a:ext cx="358745" cy="10729"/>
          </a:xfrm>
          <a:prstGeom prst="line">
            <a:avLst/>
          </a:prstGeom>
          <a:ln w="672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939556" y="3644169"/>
            <a:ext cx="346359" cy="21722"/>
          </a:xfrm>
          <a:prstGeom prst="line">
            <a:avLst/>
          </a:prstGeom>
          <a:ln w="650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640069" y="6665243"/>
            <a:ext cx="234849" cy="20605"/>
          </a:xfrm>
          <a:prstGeom prst="line">
            <a:avLst/>
          </a:prstGeom>
          <a:ln w="562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709865" y="3247913"/>
            <a:ext cx="263011" cy="23777"/>
          </a:xfrm>
          <a:prstGeom prst="line">
            <a:avLst/>
          </a:prstGeom>
          <a:ln w="773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42914" y="2869372"/>
            <a:ext cx="289023" cy="20908"/>
          </a:xfrm>
          <a:prstGeom prst="line">
            <a:avLst/>
          </a:prstGeom>
          <a:ln w="624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92989" y="2556438"/>
            <a:ext cx="351633" cy="2790"/>
          </a:xfrm>
          <a:prstGeom prst="line">
            <a:avLst/>
          </a:prstGeom>
          <a:ln w="785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368439" y="1569545"/>
            <a:ext cx="150332" cy="27035"/>
          </a:xfrm>
          <a:prstGeom prst="line">
            <a:avLst/>
          </a:prstGeom>
          <a:ln w="372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464471" y="6409325"/>
            <a:ext cx="492470" cy="11433"/>
          </a:xfrm>
          <a:prstGeom prst="line">
            <a:avLst/>
          </a:prstGeom>
          <a:ln w="451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325133" y="6622789"/>
            <a:ext cx="261450" cy="7670"/>
          </a:xfrm>
          <a:prstGeom prst="line">
            <a:avLst/>
          </a:prstGeom>
          <a:ln w="387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400876" y="2543065"/>
            <a:ext cx="455332" cy="6244"/>
          </a:xfrm>
          <a:prstGeom prst="line">
            <a:avLst/>
          </a:prstGeom>
          <a:ln w="757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19372" y="694065"/>
            <a:ext cx="493002" cy="17090"/>
          </a:xfrm>
          <a:prstGeom prst="line">
            <a:avLst/>
          </a:prstGeom>
          <a:ln w="455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655935" y="4838863"/>
            <a:ext cx="479671" cy="3432"/>
          </a:xfrm>
          <a:prstGeom prst="line">
            <a:avLst/>
          </a:prstGeom>
          <a:ln w="448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57151" y="2293241"/>
            <a:ext cx="425524" cy="26744"/>
          </a:xfrm>
          <a:prstGeom prst="line">
            <a:avLst/>
          </a:prstGeom>
          <a:ln w="47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44585" y="3986878"/>
            <a:ext cx="185904" cy="7326"/>
          </a:xfrm>
          <a:prstGeom prst="line">
            <a:avLst/>
          </a:prstGeom>
          <a:ln w="486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259722" y="6195097"/>
            <a:ext cx="359858" cy="12129"/>
          </a:xfrm>
          <a:prstGeom prst="line">
            <a:avLst/>
          </a:prstGeom>
          <a:ln w="566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113827" y="6453811"/>
            <a:ext cx="144933" cy="7178"/>
          </a:xfrm>
          <a:prstGeom prst="line">
            <a:avLst/>
          </a:prstGeom>
          <a:ln w="636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604564" y="4052510"/>
            <a:ext cx="202053" cy="17269"/>
          </a:xfrm>
          <a:prstGeom prst="line">
            <a:avLst/>
          </a:prstGeom>
          <a:ln w="702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185227" y="1765622"/>
            <a:ext cx="425124" cy="21678"/>
          </a:xfrm>
          <a:prstGeom prst="line">
            <a:avLst/>
          </a:prstGeom>
          <a:ln w="730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724567" y="4626519"/>
            <a:ext cx="185229" cy="0"/>
          </a:xfrm>
          <a:prstGeom prst="line">
            <a:avLst/>
          </a:prstGeom>
          <a:ln w="649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51415" y="2217986"/>
            <a:ext cx="385169" cy="8204"/>
          </a:xfrm>
          <a:prstGeom prst="line">
            <a:avLst/>
          </a:prstGeom>
          <a:ln w="366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250788" y="6407356"/>
            <a:ext cx="384021" cy="15118"/>
          </a:xfrm>
          <a:prstGeom prst="line">
            <a:avLst/>
          </a:prstGeom>
          <a:ln w="728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1595614" y="525504"/>
            <a:ext cx="408579" cy="15471"/>
          </a:xfrm>
          <a:prstGeom prst="line">
            <a:avLst/>
          </a:prstGeom>
          <a:ln w="606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266162" y="5325329"/>
            <a:ext cx="149562" cy="25105"/>
          </a:xfrm>
          <a:prstGeom prst="line">
            <a:avLst/>
          </a:prstGeom>
          <a:ln w="477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093061" y="3880885"/>
            <a:ext cx="453077" cy="8772"/>
          </a:xfrm>
          <a:prstGeom prst="line">
            <a:avLst/>
          </a:prstGeom>
          <a:ln w="738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32402" y="4186428"/>
            <a:ext cx="352769" cy="4319"/>
          </a:xfrm>
          <a:prstGeom prst="line">
            <a:avLst/>
          </a:prstGeom>
          <a:ln w="580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259232" y="3133061"/>
            <a:ext cx="369117" cy="11500"/>
          </a:xfrm>
          <a:prstGeom prst="line">
            <a:avLst/>
          </a:prstGeom>
          <a:ln w="606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29022" y="2795144"/>
            <a:ext cx="210155" cy="1242"/>
          </a:xfrm>
          <a:prstGeom prst="line">
            <a:avLst/>
          </a:prstGeom>
          <a:ln w="740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15561" y="3451897"/>
            <a:ext cx="341573" cy="26651"/>
          </a:xfrm>
          <a:prstGeom prst="line">
            <a:avLst/>
          </a:prstGeom>
          <a:ln w="681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0082" y="3090093"/>
            <a:ext cx="412717" cy="13607"/>
          </a:xfrm>
          <a:prstGeom prst="line">
            <a:avLst/>
          </a:prstGeom>
          <a:ln w="806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564446" y="6020236"/>
            <a:ext cx="452273" cy="19640"/>
          </a:xfrm>
          <a:prstGeom prst="line">
            <a:avLst/>
          </a:prstGeom>
          <a:ln w="810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448365" y="1654653"/>
            <a:ext cx="150014" cy="16621"/>
          </a:xfrm>
          <a:prstGeom prst="line">
            <a:avLst/>
          </a:prstGeom>
          <a:ln w="577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395530" y="5953938"/>
            <a:ext cx="294395" cy="24724"/>
          </a:xfrm>
          <a:prstGeom prst="line">
            <a:avLst/>
          </a:prstGeom>
          <a:ln w="561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458233" y="3378502"/>
            <a:ext cx="224594" cy="26344"/>
          </a:xfrm>
          <a:prstGeom prst="line">
            <a:avLst/>
          </a:prstGeom>
          <a:ln w="590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42691" y="6157891"/>
            <a:ext cx="178705" cy="20551"/>
          </a:xfrm>
          <a:prstGeom prst="line">
            <a:avLst/>
          </a:prstGeom>
          <a:ln w="811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529680" y="5476093"/>
            <a:ext cx="159606" cy="15318"/>
          </a:xfrm>
          <a:prstGeom prst="line">
            <a:avLst/>
          </a:prstGeom>
          <a:ln w="379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713857" y="794232"/>
            <a:ext cx="224743" cy="12413"/>
          </a:xfrm>
          <a:prstGeom prst="line">
            <a:avLst/>
          </a:prstGeom>
          <a:ln w="769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03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起点：白垩纪末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一个稳定生态系统被突然打断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3943003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4124116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非鸟恐龙占据大量陆地生态位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森林、海岸、湿地和开阔地共同构成复杂网络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大型动物高度依赖连续而充足的能量供应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8961120" y="2606040"/>
            <a:ext cx="0" cy="1280160"/>
          </a:xfrm>
          <a:prstGeom prst="line">
            <a:avLst/>
          </a:prstGeom>
          <a:ln w="254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/>
          <p:cNvSpPr/>
          <p:nvPr/>
        </p:nvSpPr>
        <p:spPr>
          <a:xfrm>
            <a:off x="8668512" y="2377440"/>
            <a:ext cx="594360" cy="777240"/>
          </a:xfrm>
          <a:prstGeom prst="triangl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9491472" y="2606040"/>
            <a:ext cx="0" cy="1280160"/>
          </a:xfrm>
          <a:prstGeom prst="line">
            <a:avLst/>
          </a:prstGeom>
          <a:ln w="254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/>
          <p:cNvSpPr/>
          <p:nvPr/>
        </p:nvSpPr>
        <p:spPr>
          <a:xfrm>
            <a:off x="9198864" y="2377440"/>
            <a:ext cx="594360" cy="777240"/>
          </a:xfrm>
          <a:prstGeom prst="triangl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0021824" y="2606040"/>
            <a:ext cx="0" cy="1280160"/>
          </a:xfrm>
          <a:prstGeom prst="line">
            <a:avLst/>
          </a:prstGeom>
          <a:ln w="254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/>
          <p:cNvSpPr/>
          <p:nvPr/>
        </p:nvSpPr>
        <p:spPr>
          <a:xfrm>
            <a:off x="9729216" y="2377440"/>
            <a:ext cx="594360" cy="777240"/>
          </a:xfrm>
          <a:prstGeom prst="triangl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10552176" y="2606040"/>
            <a:ext cx="0" cy="1280160"/>
          </a:xfrm>
          <a:prstGeom prst="line">
            <a:avLst/>
          </a:prstGeom>
          <a:ln w="254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Isosceles Triangle 78"/>
          <p:cNvSpPr/>
          <p:nvPr/>
        </p:nvSpPr>
        <p:spPr>
          <a:xfrm>
            <a:off x="10259568" y="2377440"/>
            <a:ext cx="594360" cy="777240"/>
          </a:xfrm>
          <a:prstGeom prst="triangl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olded Corner 81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关键词：稳定生态系统。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2397022" y="395458"/>
            <a:ext cx="1621504" cy="479125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-133813" y="3292528"/>
            <a:ext cx="1455668" cy="1089982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2231758" y="3209935"/>
            <a:ext cx="1435937" cy="492067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2697489" y="5847598"/>
            <a:ext cx="1045696" cy="834436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9002937" y="981510"/>
            <a:ext cx="1487495" cy="824405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649218" y="3659015"/>
            <a:ext cx="2049986" cy="735875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2528978" y="1543491"/>
            <a:ext cx="2474167" cy="964057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9471284" y="-227502"/>
            <a:ext cx="1459657" cy="881413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9560019" y="3026155"/>
            <a:ext cx="1649310" cy="803876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448100" y="1578132"/>
            <a:ext cx="232132" cy="16316"/>
          </a:xfrm>
          <a:prstGeom prst="line">
            <a:avLst/>
          </a:prstGeom>
          <a:ln w="358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84460" y="6749454"/>
            <a:ext cx="326943" cy="8119"/>
          </a:xfrm>
          <a:prstGeom prst="line">
            <a:avLst/>
          </a:prstGeom>
          <a:ln w="673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50919" y="4559164"/>
            <a:ext cx="161460" cy="22688"/>
          </a:xfrm>
          <a:prstGeom prst="line">
            <a:avLst/>
          </a:prstGeom>
          <a:ln w="640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24739" y="1243041"/>
            <a:ext cx="296604" cy="4870"/>
          </a:xfrm>
          <a:prstGeom prst="line">
            <a:avLst/>
          </a:prstGeom>
          <a:ln w="639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98472" y="2189213"/>
            <a:ext cx="444188" cy="11421"/>
          </a:xfrm>
          <a:prstGeom prst="line">
            <a:avLst/>
          </a:prstGeom>
          <a:ln w="458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27206" y="5833444"/>
            <a:ext cx="181836" cy="23843"/>
          </a:xfrm>
          <a:prstGeom prst="line">
            <a:avLst/>
          </a:prstGeom>
          <a:ln w="465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9912" y="2416230"/>
            <a:ext cx="167375" cy="25483"/>
          </a:xfrm>
          <a:prstGeom prst="line">
            <a:avLst/>
          </a:prstGeom>
          <a:ln w="462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49877" y="2203708"/>
            <a:ext cx="255231" cy="9783"/>
          </a:xfrm>
          <a:prstGeom prst="line">
            <a:avLst/>
          </a:prstGeom>
          <a:ln w="395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8757" y="5828532"/>
            <a:ext cx="455191" cy="9878"/>
          </a:xfrm>
          <a:prstGeom prst="line">
            <a:avLst/>
          </a:prstGeom>
          <a:ln w="357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456046" y="6036157"/>
            <a:ext cx="243960" cy="13713"/>
          </a:xfrm>
          <a:prstGeom prst="line">
            <a:avLst/>
          </a:prstGeom>
          <a:ln w="621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917991" y="3875367"/>
            <a:ext cx="270050" cy="2481"/>
          </a:xfrm>
          <a:prstGeom prst="line">
            <a:avLst/>
          </a:prstGeom>
          <a:ln w="503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708557" y="6744185"/>
            <a:ext cx="346176" cy="3328"/>
          </a:xfrm>
          <a:prstGeom prst="line">
            <a:avLst/>
          </a:prstGeom>
          <a:ln w="422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62588" y="768804"/>
            <a:ext cx="159913" cy="13010"/>
          </a:xfrm>
          <a:prstGeom prst="line">
            <a:avLst/>
          </a:prstGeom>
          <a:ln w="620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715446" y="4104036"/>
            <a:ext cx="336949" cy="4536"/>
          </a:xfrm>
          <a:prstGeom prst="line">
            <a:avLst/>
          </a:prstGeom>
          <a:ln w="480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9380" y="5649065"/>
            <a:ext cx="244294" cy="27262"/>
          </a:xfrm>
          <a:prstGeom prst="line">
            <a:avLst/>
          </a:prstGeom>
          <a:ln w="648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417171" y="1364865"/>
            <a:ext cx="297661" cy="442"/>
          </a:xfrm>
          <a:prstGeom prst="line">
            <a:avLst/>
          </a:prstGeom>
          <a:ln w="428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353105" y="4365315"/>
            <a:ext cx="293646" cy="15597"/>
          </a:xfrm>
          <a:prstGeom prst="line">
            <a:avLst/>
          </a:prstGeom>
          <a:ln w="412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4250" y="1714560"/>
            <a:ext cx="329432" cy="14941"/>
          </a:xfrm>
          <a:prstGeom prst="line">
            <a:avLst/>
          </a:prstGeom>
          <a:ln w="529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158585" y="2189050"/>
            <a:ext cx="463062" cy="10177"/>
          </a:xfrm>
          <a:prstGeom prst="line">
            <a:avLst/>
          </a:prstGeom>
          <a:ln w="376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76433" y="6514540"/>
            <a:ext cx="375989" cy="20349"/>
          </a:xfrm>
          <a:prstGeom prst="line">
            <a:avLst/>
          </a:prstGeom>
          <a:ln w="681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88877" y="2621857"/>
            <a:ext cx="294476" cy="23587"/>
          </a:xfrm>
          <a:prstGeom prst="line">
            <a:avLst/>
          </a:prstGeom>
          <a:ln w="608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1395832" y="1117986"/>
            <a:ext cx="245500" cy="1579"/>
          </a:xfrm>
          <a:prstGeom prst="line">
            <a:avLst/>
          </a:prstGeom>
          <a:ln w="775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02523" y="2841881"/>
            <a:ext cx="215886" cy="16536"/>
          </a:xfrm>
          <a:prstGeom prst="line">
            <a:avLst/>
          </a:prstGeom>
          <a:ln w="724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086091" y="2653722"/>
            <a:ext cx="318720" cy="19674"/>
          </a:xfrm>
          <a:prstGeom prst="line">
            <a:avLst/>
          </a:prstGeom>
          <a:ln w="459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578332" y="1294155"/>
            <a:ext cx="281562" cy="6559"/>
          </a:xfrm>
          <a:prstGeom prst="line">
            <a:avLst/>
          </a:prstGeom>
          <a:ln w="707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252181" y="5794292"/>
            <a:ext cx="455400" cy="10307"/>
          </a:xfrm>
          <a:prstGeom prst="line">
            <a:avLst/>
          </a:prstGeom>
          <a:ln w="553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699289" y="2731837"/>
            <a:ext cx="279969" cy="16350"/>
          </a:xfrm>
          <a:prstGeom prst="line">
            <a:avLst/>
          </a:prstGeom>
          <a:ln w="424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91894" y="4121944"/>
            <a:ext cx="231284" cy="5718"/>
          </a:xfrm>
          <a:prstGeom prst="line">
            <a:avLst/>
          </a:prstGeom>
          <a:ln w="708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99721" y="1504445"/>
            <a:ext cx="156692" cy="24742"/>
          </a:xfrm>
          <a:prstGeom prst="line">
            <a:avLst/>
          </a:prstGeom>
          <a:ln w="399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41963" y="5537950"/>
            <a:ext cx="342853" cy="15600"/>
          </a:xfrm>
          <a:prstGeom prst="line">
            <a:avLst/>
          </a:prstGeom>
          <a:ln w="782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306518" y="513247"/>
            <a:ext cx="391519" cy="21237"/>
          </a:xfrm>
          <a:prstGeom prst="line">
            <a:avLst/>
          </a:prstGeom>
          <a:ln w="602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101424" y="5215021"/>
            <a:ext cx="152294" cy="23059"/>
          </a:xfrm>
          <a:prstGeom prst="line">
            <a:avLst/>
          </a:prstGeom>
          <a:ln w="764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923853" y="1985920"/>
            <a:ext cx="264046" cy="23331"/>
          </a:xfrm>
          <a:prstGeom prst="line">
            <a:avLst/>
          </a:prstGeom>
          <a:ln w="805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477037" y="1383421"/>
            <a:ext cx="494349" cy="6110"/>
          </a:xfrm>
          <a:prstGeom prst="line">
            <a:avLst/>
          </a:prstGeom>
          <a:ln w="702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325647" y="2707016"/>
            <a:ext cx="165395" cy="22810"/>
          </a:xfrm>
          <a:prstGeom prst="line">
            <a:avLst/>
          </a:prstGeom>
          <a:ln w="723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16230" y="6763756"/>
            <a:ext cx="289277" cy="11589"/>
          </a:xfrm>
          <a:prstGeom prst="line">
            <a:avLst/>
          </a:prstGeom>
          <a:ln w="543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587161" y="6365410"/>
            <a:ext cx="370126" cy="23577"/>
          </a:xfrm>
          <a:prstGeom prst="line">
            <a:avLst/>
          </a:prstGeom>
          <a:ln w="560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426351" y="3759211"/>
            <a:ext cx="273077" cy="18499"/>
          </a:xfrm>
          <a:prstGeom prst="line">
            <a:avLst/>
          </a:prstGeom>
          <a:ln w="676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04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撞击：尤卡坦半岛附近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小行星把局部冲击放大成全球事件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3988282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4110187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撞击释放巨大能量，引发海啸与火灾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尘埃和气溶胶进入大气，遮蔽阳光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短时间内的冷却和黑暗改变全球生态节奏</a:t>
            </a:r>
          </a:p>
        </p:txBody>
      </p:sp>
      <p:sp>
        <p:nvSpPr>
          <p:cNvPr id="72" name="Oval 71"/>
          <p:cNvSpPr/>
          <p:nvPr/>
        </p:nvSpPr>
        <p:spPr>
          <a:xfrm>
            <a:off x="9418320" y="2468880"/>
            <a:ext cx="1325880" cy="1325880"/>
          </a:xfrm>
          <a:prstGeom prst="ellipse">
            <a:avLst/>
          </a:prstGeom>
          <a:solidFill>
            <a:srgbClr val="E0907C"/>
          </a:solidFill>
          <a:ln w="25400"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628632" y="2679191"/>
            <a:ext cx="201168" cy="201168"/>
          </a:xfrm>
          <a:prstGeom prst="ellipse">
            <a:avLst/>
          </a:prstGeom>
          <a:solidFill>
            <a:srgbClr val="FBF7EB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122408" y="2880360"/>
            <a:ext cx="155448" cy="155448"/>
          </a:xfrm>
          <a:prstGeom prst="ellipse">
            <a:avLst/>
          </a:prstGeom>
          <a:solidFill>
            <a:srgbClr val="FBF7EB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875520" y="3291839"/>
            <a:ext cx="128016" cy="128016"/>
          </a:xfrm>
          <a:prstGeom prst="ellipse">
            <a:avLst/>
          </a:prstGeom>
          <a:solidFill>
            <a:srgbClr val="FBF7EB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8549640" y="1920240"/>
            <a:ext cx="1033272" cy="804672"/>
          </a:xfrm>
          <a:prstGeom prst="line">
            <a:avLst/>
          </a:prstGeom>
          <a:ln w="63500">
            <a:solidFill>
              <a:srgbClr val="DAB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olded Corner 78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关键词：撞击、尘埃、冷却。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6924880" y="4541539"/>
            <a:ext cx="2241952" cy="1055181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-26273" y="2748614"/>
            <a:ext cx="2472269" cy="840497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959238" y="2770988"/>
            <a:ext cx="1389132" cy="763531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2552486" y="4472700"/>
            <a:ext cx="1640302" cy="498951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1502298" y="4900949"/>
            <a:ext cx="1221551" cy="817438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1182029" y="6038327"/>
            <a:ext cx="1014099" cy="931659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9845179" y="1603918"/>
            <a:ext cx="2500438" cy="760212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1760548" y="6013783"/>
            <a:ext cx="1311884" cy="1071747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3131360" y="2070611"/>
            <a:ext cx="1263815" cy="472343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005510" y="5530988"/>
            <a:ext cx="351547" cy="5266"/>
          </a:xfrm>
          <a:prstGeom prst="line">
            <a:avLst/>
          </a:prstGeom>
          <a:ln w="676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6896" y="2404506"/>
            <a:ext cx="249106" cy="10776"/>
          </a:xfrm>
          <a:prstGeom prst="line">
            <a:avLst/>
          </a:prstGeom>
          <a:ln w="411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03575" y="1191727"/>
            <a:ext cx="230861" cy="24086"/>
          </a:xfrm>
          <a:prstGeom prst="line">
            <a:avLst/>
          </a:prstGeom>
          <a:ln w="799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16792" y="2731226"/>
            <a:ext cx="337986" cy="4454"/>
          </a:xfrm>
          <a:prstGeom prst="line">
            <a:avLst/>
          </a:prstGeom>
          <a:ln w="508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53762" y="3064048"/>
            <a:ext cx="396030" cy="6788"/>
          </a:xfrm>
          <a:prstGeom prst="line">
            <a:avLst/>
          </a:prstGeom>
          <a:ln w="802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36587" y="1663087"/>
            <a:ext cx="436898" cy="2074"/>
          </a:xfrm>
          <a:prstGeom prst="line">
            <a:avLst/>
          </a:prstGeom>
          <a:ln w="577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775094" y="1697689"/>
            <a:ext cx="306452" cy="4924"/>
          </a:xfrm>
          <a:prstGeom prst="line">
            <a:avLst/>
          </a:prstGeom>
          <a:ln w="714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33306" y="2001980"/>
            <a:ext cx="295526" cy="26243"/>
          </a:xfrm>
          <a:prstGeom prst="line">
            <a:avLst/>
          </a:prstGeom>
          <a:ln w="423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190503" y="2441419"/>
            <a:ext cx="191364" cy="12308"/>
          </a:xfrm>
          <a:prstGeom prst="line">
            <a:avLst/>
          </a:prstGeom>
          <a:ln w="674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1332" y="4641628"/>
            <a:ext cx="249145" cy="16392"/>
          </a:xfrm>
          <a:prstGeom prst="line">
            <a:avLst/>
          </a:prstGeom>
          <a:ln w="635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04157" y="2092921"/>
            <a:ext cx="314113" cy="12077"/>
          </a:xfrm>
          <a:prstGeom prst="line">
            <a:avLst/>
          </a:prstGeom>
          <a:ln w="358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49884" y="6249640"/>
            <a:ext cx="148800" cy="13198"/>
          </a:xfrm>
          <a:prstGeom prst="line">
            <a:avLst/>
          </a:prstGeom>
          <a:ln w="492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020040" y="4404803"/>
            <a:ext cx="190426" cy="26283"/>
          </a:xfrm>
          <a:prstGeom prst="line">
            <a:avLst/>
          </a:prstGeom>
          <a:ln w="641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76153" y="2261284"/>
            <a:ext cx="212895" cy="26406"/>
          </a:xfrm>
          <a:prstGeom prst="line">
            <a:avLst/>
          </a:prstGeom>
          <a:ln w="604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602628" y="6048024"/>
            <a:ext cx="288520" cy="18170"/>
          </a:xfrm>
          <a:prstGeom prst="line">
            <a:avLst/>
          </a:prstGeom>
          <a:ln w="506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09366" y="2846325"/>
            <a:ext cx="188806" cy="23152"/>
          </a:xfrm>
          <a:prstGeom prst="line">
            <a:avLst/>
          </a:prstGeom>
          <a:ln w="632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043342" y="3533459"/>
            <a:ext cx="488338" cy="10360"/>
          </a:xfrm>
          <a:prstGeom prst="line">
            <a:avLst/>
          </a:prstGeom>
          <a:ln w="478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307630" y="3159573"/>
            <a:ext cx="467025" cy="21257"/>
          </a:xfrm>
          <a:prstGeom prst="line">
            <a:avLst/>
          </a:prstGeom>
          <a:ln w="735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418287" y="1213895"/>
            <a:ext cx="479930" cy="20179"/>
          </a:xfrm>
          <a:prstGeom prst="line">
            <a:avLst/>
          </a:prstGeom>
          <a:ln w="409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36813" y="3485988"/>
            <a:ext cx="337634" cy="155"/>
          </a:xfrm>
          <a:prstGeom prst="line">
            <a:avLst/>
          </a:prstGeom>
          <a:ln w="349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597545" y="2381308"/>
            <a:ext cx="352038" cy="25549"/>
          </a:xfrm>
          <a:prstGeom prst="line">
            <a:avLst/>
          </a:prstGeom>
          <a:ln w="472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750968" y="4509242"/>
            <a:ext cx="442655" cy="12901"/>
          </a:xfrm>
          <a:prstGeom prst="line">
            <a:avLst/>
          </a:prstGeom>
          <a:ln w="815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641999" y="6457192"/>
            <a:ext cx="261546" cy="17630"/>
          </a:xfrm>
          <a:prstGeom prst="line">
            <a:avLst/>
          </a:prstGeom>
          <a:ln w="750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724885" y="5222986"/>
            <a:ext cx="256363" cy="12416"/>
          </a:xfrm>
          <a:prstGeom prst="line">
            <a:avLst/>
          </a:prstGeom>
          <a:ln w="464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039253" y="4545806"/>
            <a:ext cx="267580" cy="12406"/>
          </a:xfrm>
          <a:prstGeom prst="line">
            <a:avLst/>
          </a:prstGeom>
          <a:ln w="493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315883" y="2745960"/>
            <a:ext cx="474512" cy="17970"/>
          </a:xfrm>
          <a:prstGeom prst="line">
            <a:avLst/>
          </a:prstGeom>
          <a:ln w="757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428929" y="2445237"/>
            <a:ext cx="259448" cy="19649"/>
          </a:xfrm>
          <a:prstGeom prst="line">
            <a:avLst/>
          </a:prstGeom>
          <a:ln w="815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397759" y="2437777"/>
            <a:ext cx="449466" cy="11913"/>
          </a:xfrm>
          <a:prstGeom prst="line">
            <a:avLst/>
          </a:prstGeom>
          <a:ln w="357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097313" y="2819174"/>
            <a:ext cx="362753" cy="23933"/>
          </a:xfrm>
          <a:prstGeom prst="line">
            <a:avLst/>
          </a:prstGeom>
          <a:ln w="579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302798" y="2048008"/>
            <a:ext cx="339501" cy="20142"/>
          </a:xfrm>
          <a:prstGeom prst="line">
            <a:avLst/>
          </a:prstGeom>
          <a:ln w="455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022002" y="1323531"/>
            <a:ext cx="351659" cy="6807"/>
          </a:xfrm>
          <a:prstGeom prst="line">
            <a:avLst/>
          </a:prstGeom>
          <a:ln w="409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61156" y="1221588"/>
            <a:ext cx="399945" cy="26689"/>
          </a:xfrm>
          <a:prstGeom prst="line">
            <a:avLst/>
          </a:prstGeom>
          <a:ln w="815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000561" y="6034484"/>
            <a:ext cx="177696" cy="25676"/>
          </a:xfrm>
          <a:prstGeom prst="line">
            <a:avLst/>
          </a:prstGeom>
          <a:ln w="562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618275" y="2811436"/>
            <a:ext cx="265578" cy="8917"/>
          </a:xfrm>
          <a:prstGeom prst="line">
            <a:avLst/>
          </a:prstGeom>
          <a:ln w="354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466717" y="4850292"/>
            <a:ext cx="273958" cy="8201"/>
          </a:xfrm>
          <a:prstGeom prst="line">
            <a:avLst/>
          </a:prstGeom>
          <a:ln w="801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330234" y="5862555"/>
            <a:ext cx="389116" cy="2592"/>
          </a:xfrm>
          <a:prstGeom prst="line">
            <a:avLst/>
          </a:prstGeom>
          <a:ln w="80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637734" y="2039322"/>
            <a:ext cx="245162" cy="694"/>
          </a:xfrm>
          <a:prstGeom prst="line">
            <a:avLst/>
          </a:prstGeom>
          <a:ln w="800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538848" y="2374266"/>
            <a:ext cx="184402" cy="4979"/>
          </a:xfrm>
          <a:prstGeom prst="line">
            <a:avLst/>
          </a:prstGeom>
          <a:ln w="603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05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黑暗之后的连锁反应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食物链从底层开始失稳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4036706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4020496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光照减少使植物光合作用显著受损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植食动物首先面对食物断供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肉食动物随后失去猎物，生态网络层层塌陷</a:t>
            </a:r>
          </a:p>
        </p:txBody>
      </p:sp>
      <p:sp>
        <p:nvSpPr>
          <p:cNvPr id="72" name="Sun 71"/>
          <p:cNvSpPr/>
          <p:nvPr/>
        </p:nvSpPr>
        <p:spPr>
          <a:xfrm>
            <a:off x="9372600" y="2514600"/>
            <a:ext cx="1325880" cy="1325880"/>
          </a:xfrm>
          <a:prstGeom prst="sun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loud 72"/>
          <p:cNvSpPr/>
          <p:nvPr/>
        </p:nvSpPr>
        <p:spPr>
          <a:xfrm>
            <a:off x="9006840" y="3108960"/>
            <a:ext cx="2011680" cy="822960"/>
          </a:xfrm>
          <a:prstGeom prst="cloud">
            <a:avLst/>
          </a:prstGeom>
          <a:solidFill>
            <a:srgbClr val="AEB7B5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olded Corner 75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关键词：光合作用与食物链。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8919746" y="5062002"/>
            <a:ext cx="1759816" cy="557141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1338131" y="3533277"/>
            <a:ext cx="2506718" cy="903307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8648203" y="1496101"/>
            <a:ext cx="2252401" cy="899641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10291874" y="3226623"/>
            <a:ext cx="1152287" cy="777911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7393034" y="3686251"/>
            <a:ext cx="1142803" cy="676436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3872849" y="2387140"/>
            <a:ext cx="1395216" cy="877546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7836009" y="4896170"/>
            <a:ext cx="1157480" cy="399178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9324295" y="5650990"/>
            <a:ext cx="1762408" cy="974913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5657881" y="3910394"/>
            <a:ext cx="2090727" cy="955002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7646135" y="1649276"/>
            <a:ext cx="294323" cy="7825"/>
          </a:xfrm>
          <a:prstGeom prst="line">
            <a:avLst/>
          </a:prstGeom>
          <a:ln w="378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36936" y="4591898"/>
            <a:ext cx="209992" cy="5937"/>
          </a:xfrm>
          <a:prstGeom prst="line">
            <a:avLst/>
          </a:prstGeom>
          <a:ln w="453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78427" y="2569984"/>
            <a:ext cx="218629" cy="5341"/>
          </a:xfrm>
          <a:prstGeom prst="line">
            <a:avLst/>
          </a:prstGeom>
          <a:ln w="741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73205" y="3514943"/>
            <a:ext cx="206196" cy="18152"/>
          </a:xfrm>
          <a:prstGeom prst="line">
            <a:avLst/>
          </a:prstGeom>
          <a:ln w="646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732036" y="4535892"/>
            <a:ext cx="363426" cy="6878"/>
          </a:xfrm>
          <a:prstGeom prst="line">
            <a:avLst/>
          </a:prstGeom>
          <a:ln w="585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90053" y="4575401"/>
            <a:ext cx="315928" cy="17263"/>
          </a:xfrm>
          <a:prstGeom prst="line">
            <a:avLst/>
          </a:prstGeom>
          <a:ln w="619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049893" y="649465"/>
            <a:ext cx="298553" cy="16770"/>
          </a:xfrm>
          <a:prstGeom prst="line">
            <a:avLst/>
          </a:prstGeom>
          <a:ln w="362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80448" y="5890121"/>
            <a:ext cx="300330" cy="15576"/>
          </a:xfrm>
          <a:prstGeom prst="line">
            <a:avLst/>
          </a:prstGeom>
          <a:ln w="510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008" y="2885401"/>
            <a:ext cx="248154" cy="17367"/>
          </a:xfrm>
          <a:prstGeom prst="line">
            <a:avLst/>
          </a:prstGeom>
          <a:ln w="795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319210" y="4602476"/>
            <a:ext cx="302248" cy="12215"/>
          </a:xfrm>
          <a:prstGeom prst="line">
            <a:avLst/>
          </a:prstGeom>
          <a:ln w="807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3790" y="3640018"/>
            <a:ext cx="229016" cy="16557"/>
          </a:xfrm>
          <a:prstGeom prst="line">
            <a:avLst/>
          </a:prstGeom>
          <a:ln w="412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68070" y="2229176"/>
            <a:ext cx="326211" cy="26420"/>
          </a:xfrm>
          <a:prstGeom prst="line">
            <a:avLst/>
          </a:prstGeom>
          <a:ln w="788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90470" y="3284519"/>
            <a:ext cx="357525" cy="8574"/>
          </a:xfrm>
          <a:prstGeom prst="line">
            <a:avLst/>
          </a:prstGeom>
          <a:ln w="56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705845" y="3358818"/>
            <a:ext cx="369223" cy="1796"/>
          </a:xfrm>
          <a:prstGeom prst="line">
            <a:avLst/>
          </a:prstGeom>
          <a:ln w="503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967798" y="6178534"/>
            <a:ext cx="363727" cy="10668"/>
          </a:xfrm>
          <a:prstGeom prst="line">
            <a:avLst/>
          </a:prstGeom>
          <a:ln w="452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798466" y="6578741"/>
            <a:ext cx="403911" cy="18753"/>
          </a:xfrm>
          <a:prstGeom prst="line">
            <a:avLst/>
          </a:prstGeom>
          <a:ln w="737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757548" y="4203456"/>
            <a:ext cx="489993" cy="17415"/>
          </a:xfrm>
          <a:prstGeom prst="line">
            <a:avLst/>
          </a:prstGeom>
          <a:ln w="627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77169" y="4615444"/>
            <a:ext cx="272821" cy="26477"/>
          </a:xfrm>
          <a:prstGeom prst="line">
            <a:avLst/>
          </a:prstGeom>
          <a:ln w="570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118321" y="6207660"/>
            <a:ext cx="193630" cy="12660"/>
          </a:xfrm>
          <a:prstGeom prst="line">
            <a:avLst/>
          </a:prstGeom>
          <a:ln w="325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731075" y="5391035"/>
            <a:ext cx="329132" cy="23272"/>
          </a:xfrm>
          <a:prstGeom prst="line">
            <a:avLst/>
          </a:prstGeom>
          <a:ln w="435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76955" y="6495096"/>
            <a:ext cx="386210" cy="14080"/>
          </a:xfrm>
          <a:prstGeom prst="line">
            <a:avLst/>
          </a:prstGeom>
          <a:ln w="479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54804" y="4496182"/>
            <a:ext cx="398289" cy="24949"/>
          </a:xfrm>
          <a:prstGeom prst="line">
            <a:avLst/>
          </a:prstGeom>
          <a:ln w="560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39883" y="466879"/>
            <a:ext cx="148442" cy="2822"/>
          </a:xfrm>
          <a:prstGeom prst="line">
            <a:avLst/>
          </a:prstGeom>
          <a:ln w="630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1154967" y="1076929"/>
            <a:ext cx="368019" cy="12883"/>
          </a:xfrm>
          <a:prstGeom prst="line">
            <a:avLst/>
          </a:prstGeom>
          <a:ln w="743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897201" y="3381198"/>
            <a:ext cx="144578" cy="7541"/>
          </a:xfrm>
          <a:prstGeom prst="line">
            <a:avLst/>
          </a:prstGeom>
          <a:ln w="733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278759" y="6317454"/>
            <a:ext cx="312419" cy="3320"/>
          </a:xfrm>
          <a:prstGeom prst="line">
            <a:avLst/>
          </a:prstGeom>
          <a:ln w="601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762640" y="3908573"/>
            <a:ext cx="441263" cy="11425"/>
          </a:xfrm>
          <a:prstGeom prst="line">
            <a:avLst/>
          </a:prstGeom>
          <a:ln w="502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346940" y="216869"/>
            <a:ext cx="320920" cy="12302"/>
          </a:xfrm>
          <a:prstGeom prst="line">
            <a:avLst/>
          </a:prstGeom>
          <a:ln w="456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710355" y="3005928"/>
            <a:ext cx="273023" cy="11729"/>
          </a:xfrm>
          <a:prstGeom prst="line">
            <a:avLst/>
          </a:prstGeom>
          <a:ln w="444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298424" y="1613496"/>
            <a:ext cx="409823" cy="13115"/>
          </a:xfrm>
          <a:prstGeom prst="line">
            <a:avLst/>
          </a:prstGeom>
          <a:ln w="488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5802" y="6441054"/>
            <a:ext cx="407766" cy="13783"/>
          </a:xfrm>
          <a:prstGeom prst="line">
            <a:avLst/>
          </a:prstGeom>
          <a:ln w="423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26748" y="5989318"/>
            <a:ext cx="194817" cy="9646"/>
          </a:xfrm>
          <a:prstGeom prst="line">
            <a:avLst/>
          </a:prstGeom>
          <a:ln w="520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637821" y="5007287"/>
            <a:ext cx="371028" cy="20407"/>
          </a:xfrm>
          <a:prstGeom prst="line">
            <a:avLst/>
          </a:prstGeom>
          <a:ln w="495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1810534" y="1239056"/>
            <a:ext cx="396150" cy="17353"/>
          </a:xfrm>
          <a:prstGeom prst="line">
            <a:avLst/>
          </a:prstGeom>
          <a:ln w="692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123402" y="5752044"/>
            <a:ext cx="428553" cy="24419"/>
          </a:xfrm>
          <a:prstGeom prst="line">
            <a:avLst/>
          </a:prstGeom>
          <a:ln w="670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632716" y="851584"/>
            <a:ext cx="389848" cy="14116"/>
          </a:xfrm>
          <a:prstGeom prst="line">
            <a:avLst/>
          </a:prstGeom>
          <a:ln w="822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771483" y="26022"/>
            <a:ext cx="431628" cy="6216"/>
          </a:xfrm>
          <a:prstGeom prst="line">
            <a:avLst/>
          </a:prstGeom>
          <a:ln w="703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319201" y="3561227"/>
            <a:ext cx="140699" cy="18921"/>
          </a:xfrm>
          <a:prstGeom prst="line">
            <a:avLst/>
          </a:prstGeom>
          <a:ln w="587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06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为什么非鸟恐龙消失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体型优势在灾难中转化为负担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4107949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3944781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大型身体意味着更高的能量需求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繁殖周期和成长过程难以快速应对环境突变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稳定栖息地消失后，迁移和取食都变得困难</a:t>
            </a:r>
          </a:p>
        </p:txBody>
      </p:sp>
      <p:sp>
        <p:nvSpPr>
          <p:cNvPr id="72" name="Oval 71"/>
          <p:cNvSpPr/>
          <p:nvPr/>
        </p:nvSpPr>
        <p:spPr>
          <a:xfrm>
            <a:off x="9144000" y="2834639"/>
            <a:ext cx="1600200" cy="777240"/>
          </a:xfrm>
          <a:prstGeom prst="ellipse">
            <a:avLst/>
          </a:prstGeom>
          <a:solidFill>
            <a:srgbClr val="B1CCB2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 flipV="1">
            <a:off x="10469880" y="2441448"/>
            <a:ext cx="502920" cy="484632"/>
          </a:xfrm>
          <a:prstGeom prst="line">
            <a:avLst/>
          </a:prstGeom>
          <a:ln w="38100">
            <a:solidFill>
              <a:srgbClr val="44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0817352" y="2240280"/>
            <a:ext cx="411480" cy="292608"/>
          </a:xfrm>
          <a:prstGeom prst="ellipse">
            <a:avLst/>
          </a:prstGeom>
          <a:solidFill>
            <a:srgbClr val="B1CCB2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H="1" flipV="1">
            <a:off x="8549640" y="2743200"/>
            <a:ext cx="658368" cy="365760"/>
          </a:xfrm>
          <a:prstGeom prst="line">
            <a:avLst/>
          </a:prstGeom>
          <a:ln w="38100">
            <a:solidFill>
              <a:srgbClr val="44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9464040" y="3474720"/>
            <a:ext cx="45720" cy="548640"/>
          </a:xfrm>
          <a:prstGeom prst="line">
            <a:avLst/>
          </a:prstGeom>
          <a:ln w="27940">
            <a:solidFill>
              <a:srgbClr val="44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10195559" y="3474720"/>
            <a:ext cx="45721" cy="548640"/>
          </a:xfrm>
          <a:prstGeom prst="line">
            <a:avLst/>
          </a:prstGeom>
          <a:ln w="27940">
            <a:solidFill>
              <a:srgbClr val="44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olded Corner 79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关键词：能量预算。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3424482" y="705029"/>
            <a:ext cx="2017704" cy="418748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735968" y="3509279"/>
            <a:ext cx="2419956" cy="522816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4709767" y="179198"/>
            <a:ext cx="1146851" cy="676304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1083257" y="1175000"/>
            <a:ext cx="1981172" cy="1059028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6487604" y="47625"/>
            <a:ext cx="1349507" cy="772971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3023919" y="662218"/>
            <a:ext cx="1188945" cy="591420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840437" y="3434075"/>
            <a:ext cx="1297881" cy="437032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6239787" y="3744438"/>
            <a:ext cx="1777506" cy="754723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5083793" y="5720883"/>
            <a:ext cx="1567912" cy="547489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436918" y="1651693"/>
            <a:ext cx="347261" cy="1383"/>
          </a:xfrm>
          <a:prstGeom prst="line">
            <a:avLst/>
          </a:prstGeom>
          <a:ln w="762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804462" y="1927393"/>
            <a:ext cx="495669" cy="20955"/>
          </a:xfrm>
          <a:prstGeom prst="line">
            <a:avLst/>
          </a:prstGeom>
          <a:ln w="529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138751" y="1003131"/>
            <a:ext cx="316003" cy="25281"/>
          </a:xfrm>
          <a:prstGeom prst="line">
            <a:avLst/>
          </a:prstGeom>
          <a:ln w="656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228431" y="3867195"/>
            <a:ext cx="457375" cy="10219"/>
          </a:xfrm>
          <a:prstGeom prst="line">
            <a:avLst/>
          </a:prstGeom>
          <a:ln w="670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74091" y="3923895"/>
            <a:ext cx="304022" cy="18652"/>
          </a:xfrm>
          <a:prstGeom prst="line">
            <a:avLst/>
          </a:prstGeom>
          <a:ln w="797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22404" y="4494025"/>
            <a:ext cx="159351" cy="11055"/>
          </a:xfrm>
          <a:prstGeom prst="line">
            <a:avLst/>
          </a:prstGeom>
          <a:ln w="646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986747" y="5555337"/>
            <a:ext cx="241254" cy="6266"/>
          </a:xfrm>
          <a:prstGeom prst="line">
            <a:avLst/>
          </a:prstGeom>
          <a:ln w="657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72336" y="3103081"/>
            <a:ext cx="198625" cy="21007"/>
          </a:xfrm>
          <a:prstGeom prst="line">
            <a:avLst/>
          </a:prstGeom>
          <a:ln w="34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272633" y="869205"/>
            <a:ext cx="227728" cy="5983"/>
          </a:xfrm>
          <a:prstGeom prst="line">
            <a:avLst/>
          </a:prstGeom>
          <a:ln w="760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2622" y="3039453"/>
            <a:ext cx="338123" cy="21034"/>
          </a:xfrm>
          <a:prstGeom prst="line">
            <a:avLst/>
          </a:prstGeom>
          <a:ln w="733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428361" y="1876204"/>
            <a:ext cx="289059" cy="7748"/>
          </a:xfrm>
          <a:prstGeom prst="line">
            <a:avLst/>
          </a:prstGeom>
          <a:ln w="766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559892" y="1006509"/>
            <a:ext cx="201613" cy="14706"/>
          </a:xfrm>
          <a:prstGeom prst="line">
            <a:avLst/>
          </a:prstGeom>
          <a:ln w="436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853538" y="3959132"/>
            <a:ext cx="233263" cy="27207"/>
          </a:xfrm>
          <a:prstGeom prst="line">
            <a:avLst/>
          </a:prstGeom>
          <a:ln w="530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56920" y="3832181"/>
            <a:ext cx="485765" cy="10452"/>
          </a:xfrm>
          <a:prstGeom prst="line">
            <a:avLst/>
          </a:prstGeom>
          <a:ln w="579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54393" y="4575548"/>
            <a:ext cx="156909" cy="21920"/>
          </a:xfrm>
          <a:prstGeom prst="line">
            <a:avLst/>
          </a:prstGeom>
          <a:ln w="713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555444" y="5393313"/>
            <a:ext cx="280676" cy="5543"/>
          </a:xfrm>
          <a:prstGeom prst="line">
            <a:avLst/>
          </a:prstGeom>
          <a:ln w="370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655925" y="405225"/>
            <a:ext cx="161793" cy="15978"/>
          </a:xfrm>
          <a:prstGeom prst="line">
            <a:avLst/>
          </a:prstGeom>
          <a:ln w="399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104474" y="336622"/>
            <a:ext cx="137246" cy="19133"/>
          </a:xfrm>
          <a:prstGeom prst="line">
            <a:avLst/>
          </a:prstGeom>
          <a:ln w="369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388800" y="172553"/>
            <a:ext cx="456956" cy="6258"/>
          </a:xfrm>
          <a:prstGeom prst="line">
            <a:avLst/>
          </a:prstGeom>
          <a:ln w="392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044771" y="2329939"/>
            <a:ext cx="270356" cy="20693"/>
          </a:xfrm>
          <a:prstGeom prst="line">
            <a:avLst/>
          </a:prstGeom>
          <a:ln w="748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986829" y="3130425"/>
            <a:ext cx="314127" cy="22720"/>
          </a:xfrm>
          <a:prstGeom prst="line">
            <a:avLst/>
          </a:prstGeom>
          <a:ln w="369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135641" y="1772918"/>
            <a:ext cx="440323" cy="18575"/>
          </a:xfrm>
          <a:prstGeom prst="line">
            <a:avLst/>
          </a:prstGeom>
          <a:ln w="329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478471" y="3574485"/>
            <a:ext cx="190782" cy="2368"/>
          </a:xfrm>
          <a:prstGeom prst="line">
            <a:avLst/>
          </a:prstGeom>
          <a:ln w="331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374323" y="6621087"/>
            <a:ext cx="452929" cy="10764"/>
          </a:xfrm>
          <a:prstGeom prst="line">
            <a:avLst/>
          </a:prstGeom>
          <a:ln w="450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426095" y="1130299"/>
            <a:ext cx="419504" cy="1789"/>
          </a:xfrm>
          <a:prstGeom prst="line">
            <a:avLst/>
          </a:prstGeom>
          <a:ln w="713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979082" y="1509224"/>
            <a:ext cx="433979" cy="26605"/>
          </a:xfrm>
          <a:prstGeom prst="line">
            <a:avLst/>
          </a:prstGeom>
          <a:ln w="750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729433" y="5522306"/>
            <a:ext cx="407775" cy="14992"/>
          </a:xfrm>
          <a:prstGeom prst="line">
            <a:avLst/>
          </a:prstGeom>
          <a:ln w="580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291668" y="183993"/>
            <a:ext cx="147378" cy="12102"/>
          </a:xfrm>
          <a:prstGeom prst="line">
            <a:avLst/>
          </a:prstGeom>
          <a:ln w="449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358795" y="6472316"/>
            <a:ext cx="300738" cy="23977"/>
          </a:xfrm>
          <a:prstGeom prst="line">
            <a:avLst/>
          </a:prstGeom>
          <a:ln w="819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1526934" y="2452344"/>
            <a:ext cx="217796" cy="14986"/>
          </a:xfrm>
          <a:prstGeom prst="line">
            <a:avLst/>
          </a:prstGeom>
          <a:ln w="41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466802" y="4222782"/>
            <a:ext cx="466457" cy="18678"/>
          </a:xfrm>
          <a:prstGeom prst="line">
            <a:avLst/>
          </a:prstGeom>
          <a:ln w="561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881497" y="5410837"/>
            <a:ext cx="168168" cy="8810"/>
          </a:xfrm>
          <a:prstGeom prst="line">
            <a:avLst/>
          </a:prstGeom>
          <a:ln w="779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442458" y="5058232"/>
            <a:ext cx="312005" cy="17638"/>
          </a:xfrm>
          <a:prstGeom prst="line">
            <a:avLst/>
          </a:prstGeom>
          <a:ln w="718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013509" y="5413106"/>
            <a:ext cx="492553" cy="5714"/>
          </a:xfrm>
          <a:prstGeom prst="line">
            <a:avLst/>
          </a:prstGeom>
          <a:ln w="521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1427915" y="4883931"/>
            <a:ext cx="199341" cy="20462"/>
          </a:xfrm>
          <a:prstGeom prst="line">
            <a:avLst/>
          </a:prstGeom>
          <a:ln w="394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921637" y="5457244"/>
            <a:ext cx="190624" cy="17913"/>
          </a:xfrm>
          <a:prstGeom prst="line">
            <a:avLst/>
          </a:prstGeom>
          <a:ln w="815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933280" y="2350807"/>
            <a:ext cx="337838" cy="20246"/>
          </a:xfrm>
          <a:prstGeom prst="line">
            <a:avLst/>
          </a:prstGeom>
          <a:ln w="324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718722" y="4396062"/>
            <a:ext cx="329762" cy="23791"/>
          </a:xfrm>
          <a:prstGeom prst="line">
            <a:avLst/>
          </a:prstGeom>
          <a:ln w="537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07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幸存不是随机抽签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危机是一场多条件筛选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4112912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4102491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小体型降低每日能量门槛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广谱食性提高寻找替代资源的机会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栖息环境越灵活，越可能避开单点崩溃</a:t>
            </a:r>
          </a:p>
        </p:txBody>
      </p:sp>
      <p:sp>
        <p:nvSpPr>
          <p:cNvPr id="72" name="Diamond 71"/>
          <p:cNvSpPr/>
          <p:nvPr/>
        </p:nvSpPr>
        <p:spPr>
          <a:xfrm>
            <a:off x="9372600" y="2441448"/>
            <a:ext cx="1371600" cy="1371600"/>
          </a:xfrm>
          <a:prstGeom prst="diamond">
            <a:avLst/>
          </a:prstGeom>
          <a:solidFill>
            <a:srgbClr val="FFFCF0"/>
          </a:solidFill>
          <a:ln w="25400"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Isosceles Triangle 72"/>
          <p:cNvSpPr/>
          <p:nvPr/>
        </p:nvSpPr>
        <p:spPr>
          <a:xfrm>
            <a:off x="9875520" y="2560320"/>
            <a:ext cx="411480" cy="960120"/>
          </a:xfrm>
          <a:prstGeom prst="triangl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olded Corner 75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关键词：多条件筛选。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2287677" y="5973130"/>
            <a:ext cx="1202218" cy="881347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1235894" y="4992600"/>
            <a:ext cx="1792967" cy="658887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5008088" y="2667524"/>
            <a:ext cx="1775280" cy="506380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682544" y="1246051"/>
            <a:ext cx="1036916" cy="560905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5185868" y="5641137"/>
            <a:ext cx="2134395" cy="850730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11240271" y="135266"/>
            <a:ext cx="1969878" cy="641693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3595433" y="4213769"/>
            <a:ext cx="1779318" cy="841044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6440729" y="648473"/>
            <a:ext cx="1105907" cy="1057815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7848563" y="687880"/>
            <a:ext cx="2343178" cy="699525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0633253" y="1932889"/>
            <a:ext cx="267626" cy="20743"/>
          </a:xfrm>
          <a:prstGeom prst="line">
            <a:avLst/>
          </a:prstGeom>
          <a:ln w="386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25105" y="660527"/>
            <a:ext cx="389601" cy="11091"/>
          </a:xfrm>
          <a:prstGeom prst="line">
            <a:avLst/>
          </a:prstGeom>
          <a:ln w="800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181027" y="3388590"/>
            <a:ext cx="209452" cy="19194"/>
          </a:xfrm>
          <a:prstGeom prst="line">
            <a:avLst/>
          </a:prstGeom>
          <a:ln w="586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53215" y="483273"/>
            <a:ext cx="467522" cy="407"/>
          </a:xfrm>
          <a:prstGeom prst="line">
            <a:avLst/>
          </a:prstGeom>
          <a:ln w="673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654874" y="1641670"/>
            <a:ext cx="141519" cy="8601"/>
          </a:xfrm>
          <a:prstGeom prst="line">
            <a:avLst/>
          </a:prstGeom>
          <a:ln w="453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10494" y="2550492"/>
            <a:ext cx="442319" cy="21478"/>
          </a:xfrm>
          <a:prstGeom prst="line">
            <a:avLst/>
          </a:prstGeom>
          <a:ln w="406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82937" y="1124478"/>
            <a:ext cx="379722" cy="26052"/>
          </a:xfrm>
          <a:prstGeom prst="line">
            <a:avLst/>
          </a:prstGeom>
          <a:ln w="420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251411" y="2030270"/>
            <a:ext cx="141994" cy="14501"/>
          </a:xfrm>
          <a:prstGeom prst="line">
            <a:avLst/>
          </a:prstGeom>
          <a:ln w="491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53808" y="2942630"/>
            <a:ext cx="221914" cy="4932"/>
          </a:xfrm>
          <a:prstGeom prst="line">
            <a:avLst/>
          </a:prstGeom>
          <a:ln w="544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044829" y="3959965"/>
            <a:ext cx="242771" cy="22214"/>
          </a:xfrm>
          <a:prstGeom prst="line">
            <a:avLst/>
          </a:prstGeom>
          <a:ln w="360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85746" y="3525002"/>
            <a:ext cx="268893" cy="16882"/>
          </a:xfrm>
          <a:prstGeom prst="line">
            <a:avLst/>
          </a:prstGeom>
          <a:ln w="574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547757" y="6605210"/>
            <a:ext cx="160193" cy="26503"/>
          </a:xfrm>
          <a:prstGeom prst="line">
            <a:avLst/>
          </a:prstGeom>
          <a:ln w="388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663069" y="3873629"/>
            <a:ext cx="409195" cy="8150"/>
          </a:xfrm>
          <a:prstGeom prst="line">
            <a:avLst/>
          </a:prstGeom>
          <a:ln w="807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488" y="5654668"/>
            <a:ext cx="213999" cy="20584"/>
          </a:xfrm>
          <a:prstGeom prst="line">
            <a:avLst/>
          </a:prstGeom>
          <a:ln w="334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649592" y="5138376"/>
            <a:ext cx="499431" cy="4389"/>
          </a:xfrm>
          <a:prstGeom prst="line">
            <a:avLst/>
          </a:prstGeom>
          <a:ln w="407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706393" y="2987597"/>
            <a:ext cx="167648" cy="5783"/>
          </a:xfrm>
          <a:prstGeom prst="line">
            <a:avLst/>
          </a:prstGeom>
          <a:ln w="570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711413" y="1045565"/>
            <a:ext cx="181791" cy="4429"/>
          </a:xfrm>
          <a:prstGeom prst="line">
            <a:avLst/>
          </a:prstGeom>
          <a:ln w="54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526284" y="2973792"/>
            <a:ext cx="402527" cy="11823"/>
          </a:xfrm>
          <a:prstGeom prst="line">
            <a:avLst/>
          </a:prstGeom>
          <a:ln w="556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52629" y="2424832"/>
            <a:ext cx="219646" cy="16596"/>
          </a:xfrm>
          <a:prstGeom prst="line">
            <a:avLst/>
          </a:prstGeom>
          <a:ln w="544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05777" y="4906710"/>
            <a:ext cx="396236" cy="6118"/>
          </a:xfrm>
          <a:prstGeom prst="line">
            <a:avLst/>
          </a:prstGeom>
          <a:ln w="328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394693" y="2925996"/>
            <a:ext cx="171298" cy="25665"/>
          </a:xfrm>
          <a:prstGeom prst="line">
            <a:avLst/>
          </a:prstGeom>
          <a:ln w="701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066212" y="4756736"/>
            <a:ext cx="210559" cy="14844"/>
          </a:xfrm>
          <a:prstGeom prst="line">
            <a:avLst/>
          </a:prstGeom>
          <a:ln w="584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79548" y="4379802"/>
            <a:ext cx="139605" cy="6209"/>
          </a:xfrm>
          <a:prstGeom prst="line">
            <a:avLst/>
          </a:prstGeom>
          <a:ln w="779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971569" y="6261364"/>
            <a:ext cx="496238" cy="15161"/>
          </a:xfrm>
          <a:prstGeom prst="line">
            <a:avLst/>
          </a:prstGeom>
          <a:ln w="468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606420" y="6609599"/>
            <a:ext cx="272218" cy="24218"/>
          </a:xfrm>
          <a:prstGeom prst="line">
            <a:avLst/>
          </a:prstGeom>
          <a:ln w="749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231470" y="4229858"/>
            <a:ext cx="487211" cy="15542"/>
          </a:xfrm>
          <a:prstGeom prst="line">
            <a:avLst/>
          </a:prstGeom>
          <a:ln w="467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207867" y="1324493"/>
            <a:ext cx="272481" cy="25160"/>
          </a:xfrm>
          <a:prstGeom prst="line">
            <a:avLst/>
          </a:prstGeom>
          <a:ln w="747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65757" y="1965653"/>
            <a:ext cx="361383" cy="18799"/>
          </a:xfrm>
          <a:prstGeom prst="line">
            <a:avLst/>
          </a:prstGeom>
          <a:ln w="665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298186" y="4926278"/>
            <a:ext cx="437420" cy="5757"/>
          </a:xfrm>
          <a:prstGeom prst="line">
            <a:avLst/>
          </a:prstGeom>
          <a:ln w="501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159977" y="3315223"/>
            <a:ext cx="330623" cy="18555"/>
          </a:xfrm>
          <a:prstGeom prst="line">
            <a:avLst/>
          </a:prstGeom>
          <a:ln w="454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28338" y="4956357"/>
            <a:ext cx="236238" cy="4404"/>
          </a:xfrm>
          <a:prstGeom prst="line">
            <a:avLst/>
          </a:prstGeom>
          <a:ln w="376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010119" y="1853656"/>
            <a:ext cx="243833" cy="16691"/>
          </a:xfrm>
          <a:prstGeom prst="line">
            <a:avLst/>
          </a:prstGeom>
          <a:ln w="573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347384" y="6003788"/>
            <a:ext cx="287781" cy="7607"/>
          </a:xfrm>
          <a:prstGeom prst="line">
            <a:avLst/>
          </a:prstGeom>
          <a:ln w="807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537326" y="5057235"/>
            <a:ext cx="228563" cy="17188"/>
          </a:xfrm>
          <a:prstGeom prst="line">
            <a:avLst/>
          </a:prstGeom>
          <a:ln w="620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014845" y="2489691"/>
            <a:ext cx="422733" cy="16099"/>
          </a:xfrm>
          <a:prstGeom prst="line">
            <a:avLst/>
          </a:prstGeom>
          <a:ln w="514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902180" y="5279541"/>
            <a:ext cx="500390" cy="23068"/>
          </a:xfrm>
          <a:prstGeom prst="line">
            <a:avLst/>
          </a:prstGeom>
          <a:ln w="716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651249" y="4106879"/>
            <a:ext cx="387720" cy="22656"/>
          </a:xfrm>
          <a:prstGeom prst="line">
            <a:avLst/>
          </a:prstGeom>
          <a:ln w="552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485423" y="6104292"/>
            <a:ext cx="475603" cy="22346"/>
          </a:xfrm>
          <a:prstGeom prst="line">
            <a:avLst/>
          </a:prstGeom>
          <a:ln w="625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08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关键因素一：体型较小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少一点消耗，多一点余地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4111373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4062841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幸存鸟类祖先普遍不需要巨量食物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在资源稀缺时期，小型动物更容易维持代谢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小体型也利于躲避灾后开放环境中的风险</a:t>
            </a:r>
          </a:p>
        </p:txBody>
      </p:sp>
      <p:sp>
        <p:nvSpPr>
          <p:cNvPr id="72" name="Oval 71"/>
          <p:cNvSpPr/>
          <p:nvPr/>
        </p:nvSpPr>
        <p:spPr>
          <a:xfrm>
            <a:off x="9281160" y="2697480"/>
            <a:ext cx="1371600" cy="868680"/>
          </a:xfrm>
          <a:prstGeom prst="ellipse">
            <a:avLst/>
          </a:prstGeom>
          <a:solidFill>
            <a:srgbClr val="96C2CF"/>
          </a:solidFill>
          <a:ln w="25400"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rc 72"/>
          <p:cNvSpPr/>
          <p:nvPr/>
        </p:nvSpPr>
        <p:spPr>
          <a:xfrm>
            <a:off x="9537192" y="2843784"/>
            <a:ext cx="685800" cy="457200"/>
          </a:xfrm>
          <a:prstGeom prst="arc">
            <a:avLst/>
          </a:prstGeom>
          <a:ln w="25400"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Isosceles Triangle 73"/>
          <p:cNvSpPr/>
          <p:nvPr/>
        </p:nvSpPr>
        <p:spPr>
          <a:xfrm>
            <a:off x="10515600" y="2944368"/>
            <a:ext cx="411480" cy="292608"/>
          </a:xfrm>
          <a:prstGeom prst="triangl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314432" y="2898648"/>
            <a:ext cx="73152" cy="73152"/>
          </a:xfrm>
          <a:prstGeom prst="ellipse">
            <a:avLst/>
          </a:prstGeom>
          <a:solidFill>
            <a:srgbClr val="445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H="1">
            <a:off x="9509760" y="3520439"/>
            <a:ext cx="91440" cy="320041"/>
          </a:xfrm>
          <a:prstGeom prst="line">
            <a:avLst/>
          </a:prstGeom>
          <a:ln w="19050">
            <a:solidFill>
              <a:srgbClr val="44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9875520" y="3520439"/>
            <a:ext cx="91440" cy="320041"/>
          </a:xfrm>
          <a:prstGeom prst="line">
            <a:avLst/>
          </a:prstGeom>
          <a:ln w="19050">
            <a:solidFill>
              <a:srgbClr val="44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olded Corner 79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关键词：小体型。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5053426" y="2149310"/>
            <a:ext cx="1221196" cy="999667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3594110" y="2736271"/>
            <a:ext cx="1945832" cy="610105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7828414" y="4453278"/>
            <a:ext cx="1269190" cy="1057935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1473657" y="1270912"/>
            <a:ext cx="1178305" cy="736105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375446" y="4195202"/>
            <a:ext cx="2233249" cy="1014811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2033158" y="1181896"/>
            <a:ext cx="2238535" cy="1016502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10301314" y="2300131"/>
            <a:ext cx="1536943" cy="397357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9926705" y="81385"/>
            <a:ext cx="1594702" cy="725456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2405042" y="4505485"/>
            <a:ext cx="2328285" cy="1070954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463285" y="3899518"/>
            <a:ext cx="464626" cy="16292"/>
          </a:xfrm>
          <a:prstGeom prst="line">
            <a:avLst/>
          </a:prstGeom>
          <a:ln w="321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07895" y="3629604"/>
            <a:ext cx="143548" cy="22778"/>
          </a:xfrm>
          <a:prstGeom prst="line">
            <a:avLst/>
          </a:prstGeom>
          <a:ln w="569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15654" y="2842682"/>
            <a:ext cx="282782" cy="7610"/>
          </a:xfrm>
          <a:prstGeom prst="line">
            <a:avLst/>
          </a:prstGeom>
          <a:ln w="364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98234" y="1167605"/>
            <a:ext cx="359867" cy="25145"/>
          </a:xfrm>
          <a:prstGeom prst="line">
            <a:avLst/>
          </a:prstGeom>
          <a:ln w="345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699627" y="4090400"/>
            <a:ext cx="191769" cy="12712"/>
          </a:xfrm>
          <a:prstGeom prst="line">
            <a:avLst/>
          </a:prstGeom>
          <a:ln w="822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045508" y="821024"/>
            <a:ext cx="395192" cy="24740"/>
          </a:xfrm>
          <a:prstGeom prst="line">
            <a:avLst/>
          </a:prstGeom>
          <a:ln w="437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76357" y="291170"/>
            <a:ext cx="271008" cy="9553"/>
          </a:xfrm>
          <a:prstGeom prst="line">
            <a:avLst/>
          </a:prstGeom>
          <a:ln w="617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349785" y="586925"/>
            <a:ext cx="264151" cy="19972"/>
          </a:xfrm>
          <a:prstGeom prst="line">
            <a:avLst/>
          </a:prstGeom>
          <a:ln w="614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47227" y="2721309"/>
            <a:ext cx="497825" cy="4084"/>
          </a:xfrm>
          <a:prstGeom prst="line">
            <a:avLst/>
          </a:prstGeom>
          <a:ln w="326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648458" y="2208527"/>
            <a:ext cx="295743" cy="15723"/>
          </a:xfrm>
          <a:prstGeom prst="line">
            <a:avLst/>
          </a:prstGeom>
          <a:ln w="543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919270" y="579205"/>
            <a:ext cx="367410" cy="21777"/>
          </a:xfrm>
          <a:prstGeom prst="line">
            <a:avLst/>
          </a:prstGeom>
          <a:ln w="715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06472" y="5282651"/>
            <a:ext cx="432529" cy="146"/>
          </a:xfrm>
          <a:prstGeom prst="line">
            <a:avLst/>
          </a:prstGeom>
          <a:ln w="677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996528" y="4976367"/>
            <a:ext cx="292610" cy="14761"/>
          </a:xfrm>
          <a:prstGeom prst="line">
            <a:avLst/>
          </a:prstGeom>
          <a:ln w="807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838943" y="2516552"/>
            <a:ext cx="451678" cy="7168"/>
          </a:xfrm>
          <a:prstGeom prst="line">
            <a:avLst/>
          </a:prstGeom>
          <a:ln w="656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064704" y="5681401"/>
            <a:ext cx="231860" cy="24661"/>
          </a:xfrm>
          <a:prstGeom prst="line">
            <a:avLst/>
          </a:prstGeom>
          <a:ln w="812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085180" y="6404678"/>
            <a:ext cx="497860" cy="5847"/>
          </a:xfrm>
          <a:prstGeom prst="line">
            <a:avLst/>
          </a:prstGeom>
          <a:ln w="323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5197" y="1411516"/>
            <a:ext cx="279396" cy="6120"/>
          </a:xfrm>
          <a:prstGeom prst="line">
            <a:avLst/>
          </a:prstGeom>
          <a:ln w="808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279218" y="931780"/>
            <a:ext cx="342693" cy="19899"/>
          </a:xfrm>
          <a:prstGeom prst="line">
            <a:avLst/>
          </a:prstGeom>
          <a:ln w="361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710478" y="4706779"/>
            <a:ext cx="161153" cy="2666"/>
          </a:xfrm>
          <a:prstGeom prst="line">
            <a:avLst/>
          </a:prstGeom>
          <a:ln w="675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223596" y="2573442"/>
            <a:ext cx="461653" cy="18156"/>
          </a:xfrm>
          <a:prstGeom prst="line">
            <a:avLst/>
          </a:prstGeom>
          <a:ln w="680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314537" y="5934315"/>
            <a:ext cx="318005" cy="21988"/>
          </a:xfrm>
          <a:prstGeom prst="line">
            <a:avLst/>
          </a:prstGeom>
          <a:ln w="342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383113" y="1150030"/>
            <a:ext cx="367473" cy="22808"/>
          </a:xfrm>
          <a:prstGeom prst="line">
            <a:avLst/>
          </a:prstGeom>
          <a:ln w="713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684480" y="85685"/>
            <a:ext cx="201479" cy="2376"/>
          </a:xfrm>
          <a:prstGeom prst="line">
            <a:avLst/>
          </a:prstGeom>
          <a:ln w="601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86619" y="1170951"/>
            <a:ext cx="313478" cy="24493"/>
          </a:xfrm>
          <a:prstGeom prst="line">
            <a:avLst/>
          </a:prstGeom>
          <a:ln w="589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361413" y="194696"/>
            <a:ext cx="500416" cy="21342"/>
          </a:xfrm>
          <a:prstGeom prst="line">
            <a:avLst/>
          </a:prstGeom>
          <a:ln w="594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318631" y="3610647"/>
            <a:ext cx="469831" cy="23834"/>
          </a:xfrm>
          <a:prstGeom prst="line">
            <a:avLst/>
          </a:prstGeom>
          <a:ln w="644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43809" y="2032120"/>
            <a:ext cx="402310" cy="12108"/>
          </a:xfrm>
          <a:prstGeom prst="line">
            <a:avLst/>
          </a:prstGeom>
          <a:ln w="369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443269" y="3068849"/>
            <a:ext cx="316461" cy="7503"/>
          </a:xfrm>
          <a:prstGeom prst="line">
            <a:avLst/>
          </a:prstGeom>
          <a:ln w="344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277267" y="2510140"/>
            <a:ext cx="458565" cy="14752"/>
          </a:xfrm>
          <a:prstGeom prst="line">
            <a:avLst/>
          </a:prstGeom>
          <a:ln w="735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806204" y="4203548"/>
            <a:ext cx="457511" cy="25457"/>
          </a:xfrm>
          <a:prstGeom prst="line">
            <a:avLst/>
          </a:prstGeom>
          <a:ln w="620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402265" y="4564457"/>
            <a:ext cx="285906" cy="23649"/>
          </a:xfrm>
          <a:prstGeom prst="line">
            <a:avLst/>
          </a:prstGeom>
          <a:ln w="413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340008" y="1218898"/>
            <a:ext cx="160889" cy="7967"/>
          </a:xfrm>
          <a:prstGeom prst="line">
            <a:avLst/>
          </a:prstGeom>
          <a:ln w="556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464362" y="166621"/>
            <a:ext cx="420834" cy="9117"/>
          </a:xfrm>
          <a:prstGeom prst="line">
            <a:avLst/>
          </a:prstGeom>
          <a:ln w="715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3446" y="6455565"/>
            <a:ext cx="353048" cy="26135"/>
          </a:xfrm>
          <a:prstGeom prst="line">
            <a:avLst/>
          </a:prstGeom>
          <a:ln w="818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051774" y="704106"/>
            <a:ext cx="264723" cy="14741"/>
          </a:xfrm>
          <a:prstGeom prst="line">
            <a:avLst/>
          </a:prstGeom>
          <a:ln w="713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319419" y="1475611"/>
            <a:ext cx="177616" cy="20844"/>
          </a:xfrm>
          <a:prstGeom prst="line">
            <a:avLst/>
          </a:prstGeom>
          <a:ln w="794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1782731" y="2518273"/>
            <a:ext cx="408209" cy="1782"/>
          </a:xfrm>
          <a:prstGeom prst="line">
            <a:avLst/>
          </a:prstGeom>
          <a:ln w="582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459754" y="4281461"/>
            <a:ext cx="223535" cy="13367"/>
          </a:xfrm>
          <a:prstGeom prst="line">
            <a:avLst/>
          </a:prstGeom>
          <a:ln w="580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09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关键因素二：食性灵活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能吃什么，决定能走多远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3958747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4014045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种子可在灾后环境中保存较久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昆虫、腐殖质小动物和残存资源提供补充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不依赖单一食物来源，是穿越危机的重要能力</a:t>
            </a:r>
          </a:p>
        </p:txBody>
      </p:sp>
      <p:sp>
        <p:nvSpPr>
          <p:cNvPr id="72" name="Oval 71"/>
          <p:cNvSpPr/>
          <p:nvPr/>
        </p:nvSpPr>
        <p:spPr>
          <a:xfrm rot="20409761">
            <a:off x="9071784" y="2379473"/>
            <a:ext cx="320040" cy="457200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9181512" y="2470913"/>
            <a:ext cx="100584" cy="237744"/>
          </a:xfrm>
          <a:prstGeom prst="line">
            <a:avLst/>
          </a:prstGeom>
          <a:ln w="127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 rot="20853709">
            <a:off x="9645086" y="2382725"/>
            <a:ext cx="320040" cy="457200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9754814" y="2474165"/>
            <a:ext cx="100584" cy="237744"/>
          </a:xfrm>
          <a:prstGeom prst="line">
            <a:avLst/>
          </a:prstGeom>
          <a:ln w="127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 rot="20762103">
            <a:off x="10247006" y="2432784"/>
            <a:ext cx="320040" cy="457200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10356734" y="2524224"/>
            <a:ext cx="100584" cy="237744"/>
          </a:xfrm>
          <a:prstGeom prst="line">
            <a:avLst/>
          </a:prstGeom>
          <a:ln w="127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 rot="21000446">
            <a:off x="8942262" y="2905522"/>
            <a:ext cx="320040" cy="457200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9051990" y="2996962"/>
            <a:ext cx="100584" cy="237744"/>
          </a:xfrm>
          <a:prstGeom prst="line">
            <a:avLst/>
          </a:prstGeom>
          <a:ln w="127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 rot="858866">
            <a:off x="9645132" y="2969564"/>
            <a:ext cx="320040" cy="457200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9754860" y="3061004"/>
            <a:ext cx="100584" cy="237744"/>
          </a:xfrm>
          <a:prstGeom prst="line">
            <a:avLst/>
          </a:prstGeom>
          <a:ln w="127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 rot="1129726">
            <a:off x="10254337" y="2965461"/>
            <a:ext cx="320040" cy="457200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0364065" y="3056901"/>
            <a:ext cx="100584" cy="237744"/>
          </a:xfrm>
          <a:prstGeom prst="line">
            <a:avLst/>
          </a:prstGeom>
          <a:ln w="127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 rot="20383245">
            <a:off x="9068284" y="3471751"/>
            <a:ext cx="320040" cy="457200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9178012" y="3563191"/>
            <a:ext cx="100584" cy="237744"/>
          </a:xfrm>
          <a:prstGeom prst="line">
            <a:avLst/>
          </a:prstGeom>
          <a:ln w="127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052560" y="3977639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788A84"/>
                </a:solidFill>
                <a:latin typeface="Comic Sans MS"/>
              </a:rPr>
              <a:t>seed bank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olded Corner 88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关键词：广谱食性。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6322118" y="2510130"/>
            <a:ext cx="1904471" cy="516524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9273787" y="3968180"/>
            <a:ext cx="1254913" cy="746640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524814" y="5908884"/>
            <a:ext cx="2164777" cy="629954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9701840" y="3641738"/>
            <a:ext cx="1599038" cy="573232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4981137" y="4178457"/>
            <a:ext cx="2034666" cy="463036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10980269" y="3707544"/>
            <a:ext cx="1074642" cy="368726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1916035" y="5630945"/>
            <a:ext cx="1839577" cy="930534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3313654" y="3289804"/>
            <a:ext cx="1683641" cy="413304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3434495" y="2984245"/>
            <a:ext cx="2314984" cy="1075176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45686" y="3360297"/>
            <a:ext cx="436345" cy="8662"/>
          </a:xfrm>
          <a:prstGeom prst="line">
            <a:avLst/>
          </a:prstGeom>
          <a:ln w="588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321436" y="1005970"/>
            <a:ext cx="344632" cy="6903"/>
          </a:xfrm>
          <a:prstGeom prst="line">
            <a:avLst/>
          </a:prstGeom>
          <a:ln w="622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62901" y="5229248"/>
            <a:ext cx="172495" cy="18305"/>
          </a:xfrm>
          <a:prstGeom prst="line">
            <a:avLst/>
          </a:prstGeom>
          <a:ln w="727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438741" y="2917523"/>
            <a:ext cx="288614" cy="13963"/>
          </a:xfrm>
          <a:prstGeom prst="line">
            <a:avLst/>
          </a:prstGeom>
          <a:ln w="457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450290" y="1205134"/>
            <a:ext cx="180862" cy="2429"/>
          </a:xfrm>
          <a:prstGeom prst="line">
            <a:avLst/>
          </a:prstGeom>
          <a:ln w="401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830160" y="5554632"/>
            <a:ext cx="421543" cy="1090"/>
          </a:xfrm>
          <a:prstGeom prst="line">
            <a:avLst/>
          </a:prstGeom>
          <a:ln w="494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246991" y="24654"/>
            <a:ext cx="397790" cy="9236"/>
          </a:xfrm>
          <a:prstGeom prst="line">
            <a:avLst/>
          </a:prstGeom>
          <a:ln w="479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64701" y="3025794"/>
            <a:ext cx="350343" cy="6003"/>
          </a:xfrm>
          <a:prstGeom prst="line">
            <a:avLst/>
          </a:prstGeom>
          <a:ln w="759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27427" y="1633503"/>
            <a:ext cx="329313" cy="22523"/>
          </a:xfrm>
          <a:prstGeom prst="line">
            <a:avLst/>
          </a:prstGeom>
          <a:ln w="581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267453" y="422646"/>
            <a:ext cx="316158" cy="2115"/>
          </a:xfrm>
          <a:prstGeom prst="line">
            <a:avLst/>
          </a:prstGeom>
          <a:ln w="521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074688" y="3957443"/>
            <a:ext cx="334183" cy="555"/>
          </a:xfrm>
          <a:prstGeom prst="line">
            <a:avLst/>
          </a:prstGeom>
          <a:ln w="401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327091" y="6529124"/>
            <a:ext cx="289014" cy="25495"/>
          </a:xfrm>
          <a:prstGeom prst="line">
            <a:avLst/>
          </a:prstGeom>
          <a:ln w="318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462543" y="320739"/>
            <a:ext cx="171082" cy="21465"/>
          </a:xfrm>
          <a:prstGeom prst="line">
            <a:avLst/>
          </a:prstGeom>
          <a:ln w="548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981824" y="3278672"/>
            <a:ext cx="304912" cy="3484"/>
          </a:xfrm>
          <a:prstGeom prst="line">
            <a:avLst/>
          </a:prstGeom>
          <a:ln w="572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96381" y="4913978"/>
            <a:ext cx="465591" cy="10856"/>
          </a:xfrm>
          <a:prstGeom prst="line">
            <a:avLst/>
          </a:prstGeom>
          <a:ln w="532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839868" y="6140050"/>
            <a:ext cx="193351" cy="14411"/>
          </a:xfrm>
          <a:prstGeom prst="line">
            <a:avLst/>
          </a:prstGeom>
          <a:ln w="632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92385" y="4348192"/>
            <a:ext cx="352420" cy="18074"/>
          </a:xfrm>
          <a:prstGeom prst="line">
            <a:avLst/>
          </a:prstGeom>
          <a:ln w="560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47662" y="6511838"/>
            <a:ext cx="296396" cy="19688"/>
          </a:xfrm>
          <a:prstGeom prst="line">
            <a:avLst/>
          </a:prstGeom>
          <a:ln w="682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726456" y="312857"/>
            <a:ext cx="471135" cy="14640"/>
          </a:xfrm>
          <a:prstGeom prst="line">
            <a:avLst/>
          </a:prstGeom>
          <a:ln w="806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844603" y="1912075"/>
            <a:ext cx="382219" cy="19681"/>
          </a:xfrm>
          <a:prstGeom prst="line">
            <a:avLst/>
          </a:prstGeom>
          <a:ln w="619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099400" y="1275942"/>
            <a:ext cx="265128" cy="23056"/>
          </a:xfrm>
          <a:prstGeom prst="line">
            <a:avLst/>
          </a:prstGeom>
          <a:ln w="416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506987" y="649596"/>
            <a:ext cx="502810" cy="21261"/>
          </a:xfrm>
          <a:prstGeom prst="line">
            <a:avLst/>
          </a:prstGeom>
          <a:ln w="553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976548" y="4700163"/>
            <a:ext cx="328253" cy="4198"/>
          </a:xfrm>
          <a:prstGeom prst="line">
            <a:avLst/>
          </a:prstGeom>
          <a:ln w="654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705169" y="1799159"/>
            <a:ext cx="270416" cy="6982"/>
          </a:xfrm>
          <a:prstGeom prst="line">
            <a:avLst/>
          </a:prstGeom>
          <a:ln w="636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529813" y="4126065"/>
            <a:ext cx="457174" cy="20373"/>
          </a:xfrm>
          <a:prstGeom prst="line">
            <a:avLst/>
          </a:prstGeom>
          <a:ln w="648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6989" y="2841359"/>
            <a:ext cx="169721" cy="24401"/>
          </a:xfrm>
          <a:prstGeom prst="line">
            <a:avLst/>
          </a:prstGeom>
          <a:ln w="446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514502" y="5126588"/>
            <a:ext cx="367165" cy="11934"/>
          </a:xfrm>
          <a:prstGeom prst="line">
            <a:avLst/>
          </a:prstGeom>
          <a:ln w="670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113579" y="3431028"/>
            <a:ext cx="233582" cy="3201"/>
          </a:xfrm>
          <a:prstGeom prst="line">
            <a:avLst/>
          </a:prstGeom>
          <a:ln w="490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69473" y="3264256"/>
            <a:ext cx="300569" cy="1262"/>
          </a:xfrm>
          <a:prstGeom prst="line">
            <a:avLst/>
          </a:prstGeom>
          <a:ln w="561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323994" y="4865694"/>
            <a:ext cx="430169" cy="5198"/>
          </a:xfrm>
          <a:prstGeom prst="line">
            <a:avLst/>
          </a:prstGeom>
          <a:ln w="720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1644319" y="6690952"/>
            <a:ext cx="400747" cy="23839"/>
          </a:xfrm>
          <a:prstGeom prst="line">
            <a:avLst/>
          </a:prstGeom>
          <a:ln w="747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096102" y="100655"/>
            <a:ext cx="257007" cy="9760"/>
          </a:xfrm>
          <a:prstGeom prst="line">
            <a:avLst/>
          </a:prstGeom>
          <a:ln w="693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366445" y="1892163"/>
            <a:ext cx="205325" cy="18186"/>
          </a:xfrm>
          <a:prstGeom prst="line">
            <a:avLst/>
          </a:prstGeom>
          <a:ln w="365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542276" y="6331712"/>
            <a:ext cx="217582" cy="13436"/>
          </a:xfrm>
          <a:prstGeom prst="line">
            <a:avLst/>
          </a:prstGeom>
          <a:ln w="800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314162" y="3869758"/>
            <a:ext cx="297843" cy="26052"/>
          </a:xfrm>
          <a:prstGeom prst="line">
            <a:avLst/>
          </a:prstGeom>
          <a:ln w="759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93702" y="1362293"/>
            <a:ext cx="447318" cy="4073"/>
          </a:xfrm>
          <a:prstGeom prst="line">
            <a:avLst/>
          </a:prstGeom>
          <a:ln w="583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774514" y="5160426"/>
            <a:ext cx="486368" cy="9508"/>
          </a:xfrm>
          <a:prstGeom prst="line">
            <a:avLst/>
          </a:prstGeom>
          <a:ln w="341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55908" y="339262"/>
            <a:ext cx="343880" cy="19736"/>
          </a:xfrm>
          <a:prstGeom prst="line">
            <a:avLst/>
          </a:prstGeom>
          <a:ln w="519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10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关键因素三：种子资源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黑暗时期的能量储备点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4051056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3952820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种子不像鲜叶那样立即依赖持续光合作用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地面和灌丛环境中可能保留可取食资源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具备啄食和处理小颗粒食物能力的类群更占优势</a:t>
            </a:r>
          </a:p>
        </p:txBody>
      </p:sp>
      <p:sp>
        <p:nvSpPr>
          <p:cNvPr id="72" name="Oval 71"/>
          <p:cNvSpPr/>
          <p:nvPr/>
        </p:nvSpPr>
        <p:spPr>
          <a:xfrm rot="1093449">
            <a:off x="8956765" y="2432857"/>
            <a:ext cx="320040" cy="457200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9066493" y="2524297"/>
            <a:ext cx="100584" cy="237744"/>
          </a:xfrm>
          <a:prstGeom prst="line">
            <a:avLst/>
          </a:prstGeom>
          <a:ln w="127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 rot="1262947">
            <a:off x="9674328" y="2380287"/>
            <a:ext cx="320040" cy="457200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9784056" y="2471727"/>
            <a:ext cx="100584" cy="237744"/>
          </a:xfrm>
          <a:prstGeom prst="line">
            <a:avLst/>
          </a:prstGeom>
          <a:ln w="127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 rot="21292244">
            <a:off x="10197186" y="2409385"/>
            <a:ext cx="320040" cy="457200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10306914" y="2500825"/>
            <a:ext cx="100584" cy="237744"/>
          </a:xfrm>
          <a:prstGeom prst="line">
            <a:avLst/>
          </a:prstGeom>
          <a:ln w="127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 rot="20536527">
            <a:off x="9018235" y="2912153"/>
            <a:ext cx="320040" cy="457200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9127963" y="3003593"/>
            <a:ext cx="100584" cy="237744"/>
          </a:xfrm>
          <a:prstGeom prst="line">
            <a:avLst/>
          </a:prstGeom>
          <a:ln w="127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 rot="329565">
            <a:off x="9654683" y="2944961"/>
            <a:ext cx="320040" cy="457200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9764411" y="3036401"/>
            <a:ext cx="100584" cy="237744"/>
          </a:xfrm>
          <a:prstGeom prst="line">
            <a:avLst/>
          </a:prstGeom>
          <a:ln w="127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 rot="20625279">
            <a:off x="10228121" y="2970522"/>
            <a:ext cx="320040" cy="457200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0337849" y="3061962"/>
            <a:ext cx="100584" cy="237744"/>
          </a:xfrm>
          <a:prstGeom prst="line">
            <a:avLst/>
          </a:prstGeom>
          <a:ln w="127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 rot="21130043">
            <a:off x="9054267" y="3458471"/>
            <a:ext cx="320040" cy="457200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9163995" y="3549911"/>
            <a:ext cx="100584" cy="237744"/>
          </a:xfrm>
          <a:prstGeom prst="line">
            <a:avLst/>
          </a:prstGeom>
          <a:ln w="127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052560" y="3977639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788A84"/>
                </a:solidFill>
                <a:latin typeface="Comic Sans MS"/>
              </a:rPr>
              <a:t>seed bank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olded Corner 88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关键词：种子库。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4929035" y="3359856"/>
            <a:ext cx="2442506" cy="706392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9641967" y="958569"/>
            <a:ext cx="2255486" cy="713790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8915495" y="336752"/>
            <a:ext cx="1477471" cy="432087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6603419" y="2297645"/>
            <a:ext cx="1710011" cy="906291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6927534" y="5125286"/>
            <a:ext cx="1104028" cy="391840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6652361" y="4777346"/>
            <a:ext cx="1513056" cy="798058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5710234" y="3882607"/>
            <a:ext cx="1782727" cy="850355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7298247" y="2366585"/>
            <a:ext cx="1862774" cy="1047306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7918670" y="1772535"/>
            <a:ext cx="1362851" cy="577198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6797172" y="718822"/>
            <a:ext cx="176590" cy="11471"/>
          </a:xfrm>
          <a:prstGeom prst="line">
            <a:avLst/>
          </a:prstGeom>
          <a:ln w="351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3869" y="4634399"/>
            <a:ext cx="215250" cy="23430"/>
          </a:xfrm>
          <a:prstGeom prst="line">
            <a:avLst/>
          </a:prstGeom>
          <a:ln w="344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31870" y="4796808"/>
            <a:ext cx="290703" cy="3634"/>
          </a:xfrm>
          <a:prstGeom prst="line">
            <a:avLst/>
          </a:prstGeom>
          <a:ln w="418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146207" y="2253004"/>
            <a:ext cx="250988" cy="26601"/>
          </a:xfrm>
          <a:prstGeom prst="line">
            <a:avLst/>
          </a:prstGeom>
          <a:ln w="525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138845" y="883924"/>
            <a:ext cx="395758" cy="26831"/>
          </a:xfrm>
          <a:prstGeom prst="line">
            <a:avLst/>
          </a:prstGeom>
          <a:ln w="553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75996" y="4615317"/>
            <a:ext cx="206063" cy="487"/>
          </a:xfrm>
          <a:prstGeom prst="line">
            <a:avLst/>
          </a:prstGeom>
          <a:ln w="818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288192" y="2830979"/>
            <a:ext cx="277521" cy="5769"/>
          </a:xfrm>
          <a:prstGeom prst="line">
            <a:avLst/>
          </a:prstGeom>
          <a:ln w="820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83" y="5848567"/>
            <a:ext cx="493724" cy="5088"/>
          </a:xfrm>
          <a:prstGeom prst="line">
            <a:avLst/>
          </a:prstGeom>
          <a:ln w="824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36944" y="1267426"/>
            <a:ext cx="501397" cy="5597"/>
          </a:xfrm>
          <a:prstGeom prst="line">
            <a:avLst/>
          </a:prstGeom>
          <a:ln w="610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08244" y="963437"/>
            <a:ext cx="298659" cy="26907"/>
          </a:xfrm>
          <a:prstGeom prst="line">
            <a:avLst/>
          </a:prstGeom>
          <a:ln w="627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021660" y="2597062"/>
            <a:ext cx="164329" cy="15980"/>
          </a:xfrm>
          <a:prstGeom prst="line">
            <a:avLst/>
          </a:prstGeom>
          <a:ln w="640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87195" y="2474210"/>
            <a:ext cx="364718" cy="20452"/>
          </a:xfrm>
          <a:prstGeom prst="line">
            <a:avLst/>
          </a:prstGeom>
          <a:ln w="615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46642" y="918479"/>
            <a:ext cx="278379" cy="6981"/>
          </a:xfrm>
          <a:prstGeom prst="line">
            <a:avLst/>
          </a:prstGeom>
          <a:ln w="475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756605" y="4111874"/>
            <a:ext cx="402479" cy="18737"/>
          </a:xfrm>
          <a:prstGeom prst="line">
            <a:avLst/>
          </a:prstGeom>
          <a:ln w="637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685993" y="4647491"/>
            <a:ext cx="279152" cy="959"/>
          </a:xfrm>
          <a:prstGeom prst="line">
            <a:avLst/>
          </a:prstGeom>
          <a:ln w="357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72140" y="724442"/>
            <a:ext cx="324560" cy="13432"/>
          </a:xfrm>
          <a:prstGeom prst="line">
            <a:avLst/>
          </a:prstGeom>
          <a:ln w="693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726775" y="2846978"/>
            <a:ext cx="468109" cy="493"/>
          </a:xfrm>
          <a:prstGeom prst="line">
            <a:avLst/>
          </a:prstGeom>
          <a:ln w="581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215955" y="6610999"/>
            <a:ext cx="183392" cy="1136"/>
          </a:xfrm>
          <a:prstGeom prst="line">
            <a:avLst/>
          </a:prstGeom>
          <a:ln w="649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33606" y="501673"/>
            <a:ext cx="214848" cy="22765"/>
          </a:xfrm>
          <a:prstGeom prst="line">
            <a:avLst/>
          </a:prstGeom>
          <a:ln w="697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34698" y="2759067"/>
            <a:ext cx="228257" cy="24875"/>
          </a:xfrm>
          <a:prstGeom prst="line">
            <a:avLst/>
          </a:prstGeom>
          <a:ln w="460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409256" y="6564465"/>
            <a:ext cx="170880" cy="19838"/>
          </a:xfrm>
          <a:prstGeom prst="line">
            <a:avLst/>
          </a:prstGeom>
          <a:ln w="546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994773" y="4959246"/>
            <a:ext cx="328064" cy="24516"/>
          </a:xfrm>
          <a:prstGeom prst="line">
            <a:avLst/>
          </a:prstGeom>
          <a:ln w="617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147773" y="3202389"/>
            <a:ext cx="267909" cy="10325"/>
          </a:xfrm>
          <a:prstGeom prst="line">
            <a:avLst/>
          </a:prstGeom>
          <a:ln w="334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222406" y="496000"/>
            <a:ext cx="161765" cy="10366"/>
          </a:xfrm>
          <a:prstGeom prst="line">
            <a:avLst/>
          </a:prstGeom>
          <a:ln w="386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74260" y="3040873"/>
            <a:ext cx="271678" cy="24992"/>
          </a:xfrm>
          <a:prstGeom prst="line">
            <a:avLst/>
          </a:prstGeom>
          <a:ln w="793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897450" y="867880"/>
            <a:ext cx="489526" cy="8690"/>
          </a:xfrm>
          <a:prstGeom prst="line">
            <a:avLst/>
          </a:prstGeom>
          <a:ln w="360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12508" y="525554"/>
            <a:ext cx="450725" cy="24372"/>
          </a:xfrm>
          <a:prstGeom prst="line">
            <a:avLst/>
          </a:prstGeom>
          <a:ln w="332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034142" y="91706"/>
            <a:ext cx="379390" cy="6629"/>
          </a:xfrm>
          <a:prstGeom prst="line">
            <a:avLst/>
          </a:prstGeom>
          <a:ln w="323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2052" y="600057"/>
            <a:ext cx="179434" cy="13321"/>
          </a:xfrm>
          <a:prstGeom prst="line">
            <a:avLst/>
          </a:prstGeom>
          <a:ln w="528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84935" y="6319351"/>
            <a:ext cx="391055" cy="2317"/>
          </a:xfrm>
          <a:prstGeom prst="line">
            <a:avLst/>
          </a:prstGeom>
          <a:ln w="552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532952" y="3499384"/>
            <a:ext cx="325355" cy="10411"/>
          </a:xfrm>
          <a:prstGeom prst="line">
            <a:avLst/>
          </a:prstGeom>
          <a:ln w="362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9050" y="6478275"/>
            <a:ext cx="178448" cy="15359"/>
          </a:xfrm>
          <a:prstGeom prst="line">
            <a:avLst/>
          </a:prstGeom>
          <a:ln w="652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869647" y="6046094"/>
            <a:ext cx="271742" cy="19575"/>
          </a:xfrm>
          <a:prstGeom prst="line">
            <a:avLst/>
          </a:prstGeom>
          <a:ln w="628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57064" y="5100438"/>
            <a:ext cx="262442" cy="23608"/>
          </a:xfrm>
          <a:prstGeom prst="line">
            <a:avLst/>
          </a:prstGeom>
          <a:ln w="570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914727" y="2738813"/>
            <a:ext cx="228819" cy="7361"/>
          </a:xfrm>
          <a:prstGeom prst="line">
            <a:avLst/>
          </a:prstGeom>
          <a:ln w="725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108440" y="1339901"/>
            <a:ext cx="215502" cy="15386"/>
          </a:xfrm>
          <a:prstGeom prst="line">
            <a:avLst/>
          </a:prstGeom>
          <a:ln w="785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33419" y="910459"/>
            <a:ext cx="265449" cy="21707"/>
          </a:xfrm>
          <a:prstGeom prst="line">
            <a:avLst/>
          </a:prstGeom>
          <a:ln w="338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74163" y="6612423"/>
            <a:ext cx="437762" cy="21241"/>
          </a:xfrm>
          <a:prstGeom prst="line">
            <a:avLst/>
          </a:prstGeom>
          <a:ln w="556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11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关键因素四：栖息地多样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不只住在高大森林里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4125254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4103574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撞击后森林大范围破坏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地面、水边、灌木和破碎生境提供替代空间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能在开放环境中活动的鸟类祖先更容易延续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8961120" y="2606040"/>
            <a:ext cx="0" cy="1280160"/>
          </a:xfrm>
          <a:prstGeom prst="line">
            <a:avLst/>
          </a:prstGeom>
          <a:ln w="254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/>
          <p:cNvSpPr/>
          <p:nvPr/>
        </p:nvSpPr>
        <p:spPr>
          <a:xfrm>
            <a:off x="8668512" y="2377440"/>
            <a:ext cx="594360" cy="777240"/>
          </a:xfrm>
          <a:prstGeom prst="triangl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9491472" y="2606040"/>
            <a:ext cx="0" cy="1280160"/>
          </a:xfrm>
          <a:prstGeom prst="line">
            <a:avLst/>
          </a:prstGeom>
          <a:ln w="254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/>
          <p:cNvSpPr/>
          <p:nvPr/>
        </p:nvSpPr>
        <p:spPr>
          <a:xfrm>
            <a:off x="9198864" y="2377440"/>
            <a:ext cx="594360" cy="777240"/>
          </a:xfrm>
          <a:prstGeom prst="triangl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0021824" y="2606040"/>
            <a:ext cx="0" cy="1280160"/>
          </a:xfrm>
          <a:prstGeom prst="line">
            <a:avLst/>
          </a:prstGeom>
          <a:ln w="254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/>
          <p:cNvSpPr/>
          <p:nvPr/>
        </p:nvSpPr>
        <p:spPr>
          <a:xfrm>
            <a:off x="9729216" y="2377440"/>
            <a:ext cx="594360" cy="777240"/>
          </a:xfrm>
          <a:prstGeom prst="triangl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10552176" y="2606040"/>
            <a:ext cx="0" cy="1280160"/>
          </a:xfrm>
          <a:prstGeom prst="line">
            <a:avLst/>
          </a:prstGeom>
          <a:ln w="254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Isosceles Triangle 78"/>
          <p:cNvSpPr/>
          <p:nvPr/>
        </p:nvSpPr>
        <p:spPr>
          <a:xfrm>
            <a:off x="10259568" y="2377440"/>
            <a:ext cx="594360" cy="777240"/>
          </a:xfrm>
          <a:prstGeom prst="triangl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olded Corner 81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关键词：破碎栖息地。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5188767" y="3994149"/>
            <a:ext cx="2041761" cy="470075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11299025" y="2858437"/>
            <a:ext cx="2006006" cy="702418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2298662" y="-263504"/>
            <a:ext cx="1976197" cy="1081216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1533468" y="5607474"/>
            <a:ext cx="1097281" cy="964743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5644640" y="5044446"/>
            <a:ext cx="2065119" cy="949422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-148009" y="120308"/>
            <a:ext cx="2428241" cy="738049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11215102" y="2477152"/>
            <a:ext cx="1695629" cy="849195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5948611" y="5452024"/>
            <a:ext cx="1873496" cy="1079836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6131897" y="3018853"/>
            <a:ext cx="1135798" cy="810113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667990" y="4122840"/>
            <a:ext cx="335090" cy="7721"/>
          </a:xfrm>
          <a:prstGeom prst="line">
            <a:avLst/>
          </a:prstGeom>
          <a:ln w="359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15842" y="5327349"/>
            <a:ext cx="232830" cy="24200"/>
          </a:xfrm>
          <a:prstGeom prst="line">
            <a:avLst/>
          </a:prstGeom>
          <a:ln w="75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654152" y="2087934"/>
            <a:ext cx="229470" cy="9040"/>
          </a:xfrm>
          <a:prstGeom prst="line">
            <a:avLst/>
          </a:prstGeom>
          <a:ln w="506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918929" y="5170439"/>
            <a:ext cx="202780" cy="6534"/>
          </a:xfrm>
          <a:prstGeom prst="line">
            <a:avLst/>
          </a:prstGeom>
          <a:ln w="753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94870" y="149131"/>
            <a:ext cx="384287" cy="25046"/>
          </a:xfrm>
          <a:prstGeom prst="line">
            <a:avLst/>
          </a:prstGeom>
          <a:ln w="421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30019" y="5074066"/>
            <a:ext cx="217861" cy="23154"/>
          </a:xfrm>
          <a:prstGeom prst="line">
            <a:avLst/>
          </a:prstGeom>
          <a:ln w="456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232167" y="3371775"/>
            <a:ext cx="357372" cy="12392"/>
          </a:xfrm>
          <a:prstGeom prst="line">
            <a:avLst/>
          </a:prstGeom>
          <a:ln w="578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45477" y="2298327"/>
            <a:ext cx="303812" cy="10805"/>
          </a:xfrm>
          <a:prstGeom prst="line">
            <a:avLst/>
          </a:prstGeom>
          <a:ln w="752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95761" y="6688936"/>
            <a:ext cx="307139" cy="2681"/>
          </a:xfrm>
          <a:prstGeom prst="line">
            <a:avLst/>
          </a:prstGeom>
          <a:ln w="409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250967" y="1487859"/>
            <a:ext cx="359145" cy="24563"/>
          </a:xfrm>
          <a:prstGeom prst="line">
            <a:avLst/>
          </a:prstGeom>
          <a:ln w="782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72640" y="1214868"/>
            <a:ext cx="427920" cy="77"/>
          </a:xfrm>
          <a:prstGeom prst="line">
            <a:avLst/>
          </a:prstGeom>
          <a:ln w="443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400835" y="2423465"/>
            <a:ext cx="337070" cy="18939"/>
          </a:xfrm>
          <a:prstGeom prst="line">
            <a:avLst/>
          </a:prstGeom>
          <a:ln w="788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45397" y="4503085"/>
            <a:ext cx="239368" cy="20952"/>
          </a:xfrm>
          <a:prstGeom prst="line">
            <a:avLst/>
          </a:prstGeom>
          <a:ln w="715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61615" y="3313906"/>
            <a:ext cx="266543" cy="10124"/>
          </a:xfrm>
          <a:prstGeom prst="line">
            <a:avLst/>
          </a:prstGeom>
          <a:ln w="543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917560" y="3011903"/>
            <a:ext cx="362791" cy="24909"/>
          </a:xfrm>
          <a:prstGeom prst="line">
            <a:avLst/>
          </a:prstGeom>
          <a:ln w="485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406381" y="4332165"/>
            <a:ext cx="299960" cy="16026"/>
          </a:xfrm>
          <a:prstGeom prst="line">
            <a:avLst/>
          </a:prstGeom>
          <a:ln w="690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288276" y="167027"/>
            <a:ext cx="138510" cy="25936"/>
          </a:xfrm>
          <a:prstGeom prst="line">
            <a:avLst/>
          </a:prstGeom>
          <a:ln w="600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208603" y="934796"/>
            <a:ext cx="210411" cy="1549"/>
          </a:xfrm>
          <a:prstGeom prst="line">
            <a:avLst/>
          </a:prstGeom>
          <a:ln w="347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882410" y="4850525"/>
            <a:ext cx="479662" cy="13282"/>
          </a:xfrm>
          <a:prstGeom prst="line">
            <a:avLst/>
          </a:prstGeom>
          <a:ln w="33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204322" y="611910"/>
            <a:ext cx="285194" cy="16515"/>
          </a:xfrm>
          <a:prstGeom prst="line">
            <a:avLst/>
          </a:prstGeom>
          <a:ln w="600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828827" y="4298891"/>
            <a:ext cx="277992" cy="18603"/>
          </a:xfrm>
          <a:prstGeom prst="line">
            <a:avLst/>
          </a:prstGeom>
          <a:ln w="66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875981" y="185626"/>
            <a:ext cx="151034" cy="23428"/>
          </a:xfrm>
          <a:prstGeom prst="line">
            <a:avLst/>
          </a:prstGeom>
          <a:ln w="528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416056" y="6272913"/>
            <a:ext cx="426991" cy="11537"/>
          </a:xfrm>
          <a:prstGeom prst="line">
            <a:avLst/>
          </a:prstGeom>
          <a:ln w="413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267334" y="5365258"/>
            <a:ext cx="388282" cy="454"/>
          </a:xfrm>
          <a:prstGeom prst="line">
            <a:avLst/>
          </a:prstGeom>
          <a:ln w="627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557825" y="4053187"/>
            <a:ext cx="385555" cy="4426"/>
          </a:xfrm>
          <a:prstGeom prst="line">
            <a:avLst/>
          </a:prstGeom>
          <a:ln w="353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94038" y="557262"/>
            <a:ext cx="258764" cy="10234"/>
          </a:xfrm>
          <a:prstGeom prst="line">
            <a:avLst/>
          </a:prstGeom>
          <a:ln w="683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48911" y="1216038"/>
            <a:ext cx="385297" cy="7524"/>
          </a:xfrm>
          <a:prstGeom prst="line">
            <a:avLst/>
          </a:prstGeom>
          <a:ln w="538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121885" y="1414471"/>
            <a:ext cx="365026" cy="802"/>
          </a:xfrm>
          <a:prstGeom prst="line">
            <a:avLst/>
          </a:prstGeom>
          <a:ln w="346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172152" y="3069898"/>
            <a:ext cx="460597" cy="22117"/>
          </a:xfrm>
          <a:prstGeom prst="line">
            <a:avLst/>
          </a:prstGeom>
          <a:ln w="431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634093" y="2479839"/>
            <a:ext cx="447611" cy="10341"/>
          </a:xfrm>
          <a:prstGeom prst="line">
            <a:avLst/>
          </a:prstGeom>
          <a:ln w="467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232999" y="983426"/>
            <a:ext cx="467327" cy="9189"/>
          </a:xfrm>
          <a:prstGeom prst="line">
            <a:avLst/>
          </a:prstGeom>
          <a:ln w="571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693495" y="3387118"/>
            <a:ext cx="395394" cy="2186"/>
          </a:xfrm>
          <a:prstGeom prst="line">
            <a:avLst/>
          </a:prstGeom>
          <a:ln w="716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4320" y="5225680"/>
            <a:ext cx="286221" cy="10910"/>
          </a:xfrm>
          <a:prstGeom prst="line">
            <a:avLst/>
          </a:prstGeom>
          <a:ln w="719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293455" y="2955123"/>
            <a:ext cx="156270" cy="21599"/>
          </a:xfrm>
          <a:prstGeom prst="line">
            <a:avLst/>
          </a:prstGeom>
          <a:ln w="607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766557" y="5156015"/>
            <a:ext cx="143381" cy="15091"/>
          </a:xfrm>
          <a:prstGeom prst="line">
            <a:avLst/>
          </a:prstGeom>
          <a:ln w="772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34740" y="1152724"/>
            <a:ext cx="311653" cy="16509"/>
          </a:xfrm>
          <a:prstGeom prst="line">
            <a:avLst/>
          </a:prstGeom>
          <a:ln w="385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969945" y="2898441"/>
            <a:ext cx="270584" cy="5019"/>
          </a:xfrm>
          <a:prstGeom prst="line">
            <a:avLst/>
          </a:prstGeom>
          <a:ln w="636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413416" y="5500711"/>
            <a:ext cx="425900" cy="5881"/>
          </a:xfrm>
          <a:prstGeom prst="line">
            <a:avLst/>
          </a:prstGeom>
          <a:ln w="392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12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关键因素五：繁殖与生命周期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快节奏生命史提升恢复机会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3972908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3921078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较短世代有助于群体更快恢复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较小巢区和较低资源需求降低繁殖压力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灾后不确定环境中，灵活繁殖策略更有价值</a:t>
            </a:r>
          </a:p>
        </p:txBody>
      </p:sp>
      <p:sp>
        <p:nvSpPr>
          <p:cNvPr id="72" name="Oval 71"/>
          <p:cNvSpPr/>
          <p:nvPr/>
        </p:nvSpPr>
        <p:spPr>
          <a:xfrm>
            <a:off x="9555480" y="2377440"/>
            <a:ext cx="914400" cy="1325880"/>
          </a:xfrm>
          <a:prstGeom prst="ellipse">
            <a:avLst/>
          </a:prstGeom>
          <a:solidFill>
            <a:srgbClr val="F8F2DA"/>
          </a:solidFill>
          <a:ln w="25400"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rc 72"/>
          <p:cNvSpPr/>
          <p:nvPr/>
        </p:nvSpPr>
        <p:spPr>
          <a:xfrm>
            <a:off x="9144000" y="3383280"/>
            <a:ext cx="1737360" cy="685800"/>
          </a:xfrm>
          <a:prstGeom prst="arc">
            <a:avLst/>
          </a:prstGeom>
          <a:ln w="50800"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olded Corner 75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关键词：生命周期。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2665758" y="4174539"/>
            <a:ext cx="2069231" cy="987066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7265570" y="4050716"/>
            <a:ext cx="2357042" cy="834632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1158294" y="3175102"/>
            <a:ext cx="1338354" cy="581307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1112456" y="4167416"/>
            <a:ext cx="2557221" cy="1092141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628530" y="4881231"/>
            <a:ext cx="2386765" cy="557747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8351034" y="5888915"/>
            <a:ext cx="2239740" cy="553547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5331733" y="4627346"/>
            <a:ext cx="1882782" cy="680004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10035042" y="3871914"/>
            <a:ext cx="2024416" cy="618850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8977314" y="6124958"/>
            <a:ext cx="2079865" cy="771187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5315417" y="4921137"/>
            <a:ext cx="333199" cy="11340"/>
          </a:xfrm>
          <a:prstGeom prst="line">
            <a:avLst/>
          </a:prstGeom>
          <a:ln w="408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299947" y="2499093"/>
            <a:ext cx="232902" cy="12062"/>
          </a:xfrm>
          <a:prstGeom prst="line">
            <a:avLst/>
          </a:prstGeom>
          <a:ln w="769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66880" y="3721787"/>
            <a:ext cx="343945" cy="21211"/>
          </a:xfrm>
          <a:prstGeom prst="line">
            <a:avLst/>
          </a:prstGeom>
          <a:ln w="673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82404" y="2910203"/>
            <a:ext cx="367254" cy="1994"/>
          </a:xfrm>
          <a:prstGeom prst="line">
            <a:avLst/>
          </a:prstGeom>
          <a:ln w="318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121520" y="5869910"/>
            <a:ext cx="219421" cy="108"/>
          </a:xfrm>
          <a:prstGeom prst="line">
            <a:avLst/>
          </a:prstGeom>
          <a:ln w="672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72599" y="1716671"/>
            <a:ext cx="405318" cy="12962"/>
          </a:xfrm>
          <a:prstGeom prst="line">
            <a:avLst/>
          </a:prstGeom>
          <a:ln w="445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72772" y="2372297"/>
            <a:ext cx="395165" cy="7160"/>
          </a:xfrm>
          <a:prstGeom prst="line">
            <a:avLst/>
          </a:prstGeom>
          <a:ln w="581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928349" y="6085249"/>
            <a:ext cx="394619" cy="14393"/>
          </a:xfrm>
          <a:prstGeom prst="line">
            <a:avLst/>
          </a:prstGeom>
          <a:ln w="569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399230" y="262695"/>
            <a:ext cx="393848" cy="25311"/>
          </a:xfrm>
          <a:prstGeom prst="line">
            <a:avLst/>
          </a:prstGeom>
          <a:ln w="613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78591" y="1232535"/>
            <a:ext cx="207706" cy="15768"/>
          </a:xfrm>
          <a:prstGeom prst="line">
            <a:avLst/>
          </a:prstGeom>
          <a:ln w="599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870530" y="1132237"/>
            <a:ext cx="294124" cy="5218"/>
          </a:xfrm>
          <a:prstGeom prst="line">
            <a:avLst/>
          </a:prstGeom>
          <a:ln w="72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90607" y="6571051"/>
            <a:ext cx="439042" cy="7960"/>
          </a:xfrm>
          <a:prstGeom prst="line">
            <a:avLst/>
          </a:prstGeom>
          <a:ln w="585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526677" y="2101603"/>
            <a:ext cx="286407" cy="22315"/>
          </a:xfrm>
          <a:prstGeom prst="line">
            <a:avLst/>
          </a:prstGeom>
          <a:ln w="604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37081" y="6349761"/>
            <a:ext cx="328094" cy="19292"/>
          </a:xfrm>
          <a:prstGeom prst="line">
            <a:avLst/>
          </a:prstGeom>
          <a:ln w="335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858616" y="1049246"/>
            <a:ext cx="341898" cy="1798"/>
          </a:xfrm>
          <a:prstGeom prst="line">
            <a:avLst/>
          </a:prstGeom>
          <a:ln w="736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692266" y="1395413"/>
            <a:ext cx="429333" cy="6794"/>
          </a:xfrm>
          <a:prstGeom prst="line">
            <a:avLst/>
          </a:prstGeom>
          <a:ln w="680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95944" y="990401"/>
            <a:ext cx="292740" cy="17786"/>
          </a:xfrm>
          <a:prstGeom prst="line">
            <a:avLst/>
          </a:prstGeom>
          <a:ln w="426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27990" y="1595333"/>
            <a:ext cx="419860" cy="5053"/>
          </a:xfrm>
          <a:prstGeom prst="line">
            <a:avLst/>
          </a:prstGeom>
          <a:ln w="534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733351" y="2876474"/>
            <a:ext cx="253082" cy="2158"/>
          </a:xfrm>
          <a:prstGeom prst="line">
            <a:avLst/>
          </a:prstGeom>
          <a:ln w="352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50495" y="6223412"/>
            <a:ext cx="376126" cy="10623"/>
          </a:xfrm>
          <a:prstGeom prst="line">
            <a:avLst/>
          </a:prstGeom>
          <a:ln w="545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967456" y="2636818"/>
            <a:ext cx="159581" cy="1539"/>
          </a:xfrm>
          <a:prstGeom prst="line">
            <a:avLst/>
          </a:prstGeom>
          <a:ln w="800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790805" y="337048"/>
            <a:ext cx="271964" cy="18859"/>
          </a:xfrm>
          <a:prstGeom prst="line">
            <a:avLst/>
          </a:prstGeom>
          <a:ln w="473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281101" y="1946628"/>
            <a:ext cx="264297" cy="21964"/>
          </a:xfrm>
          <a:prstGeom prst="line">
            <a:avLst/>
          </a:prstGeom>
          <a:ln w="566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063856" y="3938665"/>
            <a:ext cx="295996" cy="8172"/>
          </a:xfrm>
          <a:prstGeom prst="line">
            <a:avLst/>
          </a:prstGeom>
          <a:ln w="467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678981" y="332735"/>
            <a:ext cx="198110" cy="21243"/>
          </a:xfrm>
          <a:prstGeom prst="line">
            <a:avLst/>
          </a:prstGeom>
          <a:ln w="693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91285" y="6052930"/>
            <a:ext cx="470862" cy="9963"/>
          </a:xfrm>
          <a:prstGeom prst="line">
            <a:avLst/>
          </a:prstGeom>
          <a:ln w="363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247846" y="476144"/>
            <a:ext cx="233745" cy="17639"/>
          </a:xfrm>
          <a:prstGeom prst="line">
            <a:avLst/>
          </a:prstGeom>
          <a:ln w="341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70272" y="5601977"/>
            <a:ext cx="224475" cy="15702"/>
          </a:xfrm>
          <a:prstGeom prst="line">
            <a:avLst/>
          </a:prstGeom>
          <a:ln w="705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354255" y="2659836"/>
            <a:ext cx="156993" cy="2585"/>
          </a:xfrm>
          <a:prstGeom prst="line">
            <a:avLst/>
          </a:prstGeom>
          <a:ln w="343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402832" y="6370917"/>
            <a:ext cx="415135" cy="7091"/>
          </a:xfrm>
          <a:prstGeom prst="line">
            <a:avLst/>
          </a:prstGeom>
          <a:ln w="518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798499" y="3684000"/>
            <a:ext cx="232539" cy="6985"/>
          </a:xfrm>
          <a:prstGeom prst="line">
            <a:avLst/>
          </a:prstGeom>
          <a:ln w="790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016089" y="92893"/>
            <a:ext cx="328861" cy="12548"/>
          </a:xfrm>
          <a:prstGeom prst="line">
            <a:avLst/>
          </a:prstGeom>
          <a:ln w="363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27139" y="4245254"/>
            <a:ext cx="195879" cy="26290"/>
          </a:xfrm>
          <a:prstGeom prst="line">
            <a:avLst/>
          </a:prstGeom>
          <a:ln w="660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459037" y="6191777"/>
            <a:ext cx="152078" cy="22238"/>
          </a:xfrm>
          <a:prstGeom prst="line">
            <a:avLst/>
          </a:prstGeom>
          <a:ln w="523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679443" y="2620361"/>
            <a:ext cx="192334" cy="19231"/>
          </a:xfrm>
          <a:prstGeom prst="line">
            <a:avLst/>
          </a:prstGeom>
          <a:ln w="470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352899" y="3586193"/>
            <a:ext cx="238202" cy="15013"/>
          </a:xfrm>
          <a:prstGeom prst="line">
            <a:avLst/>
          </a:prstGeom>
          <a:ln w="821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1514671" y="6425686"/>
            <a:ext cx="274314" cy="18841"/>
          </a:xfrm>
          <a:prstGeom prst="line">
            <a:avLst/>
          </a:prstGeom>
          <a:ln w="742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667318" y="2768763"/>
            <a:ext cx="193879" cy="4290"/>
          </a:xfrm>
          <a:prstGeom prst="line">
            <a:avLst/>
          </a:prstGeom>
          <a:ln w="804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13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与其他幸存者同行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鸟类不是唯一穿过危机的旅者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4019510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4088800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部分哺乳动物、爬行动物、两栖动物和鱼类也幸存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共同特征常包括隐蔽生活、小体型或资源弹性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幸存图景说明灭绝并非只按分类群划线</a:t>
            </a:r>
          </a:p>
        </p:txBody>
      </p:sp>
      <p:sp>
        <p:nvSpPr>
          <p:cNvPr id="72" name="Diamond 71"/>
          <p:cNvSpPr/>
          <p:nvPr/>
        </p:nvSpPr>
        <p:spPr>
          <a:xfrm>
            <a:off x="9372600" y="2441448"/>
            <a:ext cx="1371600" cy="1371600"/>
          </a:xfrm>
          <a:prstGeom prst="diamond">
            <a:avLst/>
          </a:prstGeom>
          <a:solidFill>
            <a:srgbClr val="FFFCF0"/>
          </a:solidFill>
          <a:ln w="25400"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Isosceles Triangle 72"/>
          <p:cNvSpPr/>
          <p:nvPr/>
        </p:nvSpPr>
        <p:spPr>
          <a:xfrm>
            <a:off x="9875520" y="2560320"/>
            <a:ext cx="411480" cy="960120"/>
          </a:xfrm>
          <a:prstGeom prst="triangl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olded Corner 75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关键词：共同幸存模式。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884595" y="4287033"/>
            <a:ext cx="2019426" cy="1053646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8238458" y="1615025"/>
            <a:ext cx="1118735" cy="694754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7642723" y="2300980"/>
            <a:ext cx="2214473" cy="452371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9826524" y="1775007"/>
            <a:ext cx="2261627" cy="629597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1386418" y="3305064"/>
            <a:ext cx="2038013" cy="486422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1074179" y="1913994"/>
            <a:ext cx="1135185" cy="515298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4358990" y="6155806"/>
            <a:ext cx="1687709" cy="810181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6408471" y="3863944"/>
            <a:ext cx="1572071" cy="998413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5647702" y="984127"/>
            <a:ext cx="1709399" cy="525368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6040835" y="670565"/>
            <a:ext cx="436398" cy="22520"/>
          </a:xfrm>
          <a:prstGeom prst="line">
            <a:avLst/>
          </a:prstGeom>
          <a:ln w="460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37930" y="5009563"/>
            <a:ext cx="178811" cy="1413"/>
          </a:xfrm>
          <a:prstGeom prst="line">
            <a:avLst/>
          </a:prstGeom>
          <a:ln w="364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798918" y="4635151"/>
            <a:ext cx="332787" cy="2460"/>
          </a:xfrm>
          <a:prstGeom prst="line">
            <a:avLst/>
          </a:prstGeom>
          <a:ln w="563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275138" y="4027727"/>
            <a:ext cx="171854" cy="1398"/>
          </a:xfrm>
          <a:prstGeom prst="line">
            <a:avLst/>
          </a:prstGeom>
          <a:ln w="437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446088" y="6334366"/>
            <a:ext cx="161464" cy="19570"/>
          </a:xfrm>
          <a:prstGeom prst="line">
            <a:avLst/>
          </a:prstGeom>
          <a:ln w="674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97413" y="129281"/>
            <a:ext cx="394982" cy="24356"/>
          </a:xfrm>
          <a:prstGeom prst="line">
            <a:avLst/>
          </a:prstGeom>
          <a:ln w="532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194238" y="3839916"/>
            <a:ext cx="480658" cy="12973"/>
          </a:xfrm>
          <a:prstGeom prst="line">
            <a:avLst/>
          </a:prstGeom>
          <a:ln w="471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277751" y="4238842"/>
            <a:ext cx="308796" cy="13382"/>
          </a:xfrm>
          <a:prstGeom prst="line">
            <a:avLst/>
          </a:prstGeom>
          <a:ln w="514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9783" y="2114203"/>
            <a:ext cx="496667" cy="4721"/>
          </a:xfrm>
          <a:prstGeom prst="line">
            <a:avLst/>
          </a:prstGeom>
          <a:ln w="461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1299165" y="2398790"/>
            <a:ext cx="229161" cy="25504"/>
          </a:xfrm>
          <a:prstGeom prst="line">
            <a:avLst/>
          </a:prstGeom>
          <a:ln w="391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402417" y="1543629"/>
            <a:ext cx="456462" cy="12918"/>
          </a:xfrm>
          <a:prstGeom prst="line">
            <a:avLst/>
          </a:prstGeom>
          <a:ln w="443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89441" y="6205876"/>
            <a:ext cx="243733" cy="14351"/>
          </a:xfrm>
          <a:prstGeom prst="line">
            <a:avLst/>
          </a:prstGeom>
          <a:ln w="504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772683" y="4031774"/>
            <a:ext cx="481820" cy="14114"/>
          </a:xfrm>
          <a:prstGeom prst="line">
            <a:avLst/>
          </a:prstGeom>
          <a:ln w="575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155731" y="2479740"/>
            <a:ext cx="277652" cy="25236"/>
          </a:xfrm>
          <a:prstGeom prst="line">
            <a:avLst/>
          </a:prstGeom>
          <a:ln w="594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335489" y="2127734"/>
            <a:ext cx="471937" cy="6185"/>
          </a:xfrm>
          <a:prstGeom prst="line">
            <a:avLst/>
          </a:prstGeom>
          <a:ln w="443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269076" y="3159983"/>
            <a:ext cx="261311" cy="13016"/>
          </a:xfrm>
          <a:prstGeom prst="line">
            <a:avLst/>
          </a:prstGeom>
          <a:ln w="369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421775" y="4670864"/>
            <a:ext cx="188601" cy="13237"/>
          </a:xfrm>
          <a:prstGeom prst="line">
            <a:avLst/>
          </a:prstGeom>
          <a:ln w="544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574456" y="2561372"/>
            <a:ext cx="424316" cy="13344"/>
          </a:xfrm>
          <a:prstGeom prst="line">
            <a:avLst/>
          </a:prstGeom>
          <a:ln w="504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129858" y="852609"/>
            <a:ext cx="218473" cy="19395"/>
          </a:xfrm>
          <a:prstGeom prst="line">
            <a:avLst/>
          </a:prstGeom>
          <a:ln w="686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8987" y="4520563"/>
            <a:ext cx="218372" cy="8062"/>
          </a:xfrm>
          <a:prstGeom prst="line">
            <a:avLst/>
          </a:prstGeom>
          <a:ln w="651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266485" y="6313843"/>
            <a:ext cx="377387" cy="3143"/>
          </a:xfrm>
          <a:prstGeom prst="line">
            <a:avLst/>
          </a:prstGeom>
          <a:ln w="341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906858" y="1800346"/>
            <a:ext cx="309016" cy="23775"/>
          </a:xfrm>
          <a:prstGeom prst="line">
            <a:avLst/>
          </a:prstGeom>
          <a:ln w="756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47200" y="4602111"/>
            <a:ext cx="478853" cy="2328"/>
          </a:xfrm>
          <a:prstGeom prst="line">
            <a:avLst/>
          </a:prstGeom>
          <a:ln w="366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462119" y="2884855"/>
            <a:ext cx="495806" cy="20544"/>
          </a:xfrm>
          <a:prstGeom prst="line">
            <a:avLst/>
          </a:prstGeom>
          <a:ln w="738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240031" y="450283"/>
            <a:ext cx="427491" cy="10689"/>
          </a:xfrm>
          <a:prstGeom prst="line">
            <a:avLst/>
          </a:prstGeom>
          <a:ln w="386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576273" y="3982107"/>
            <a:ext cx="138942" cy="2762"/>
          </a:xfrm>
          <a:prstGeom prst="line">
            <a:avLst/>
          </a:prstGeom>
          <a:ln w="715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978212" y="3573749"/>
            <a:ext cx="245533" cy="25865"/>
          </a:xfrm>
          <a:prstGeom prst="line">
            <a:avLst/>
          </a:prstGeom>
          <a:ln w="443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21562" y="4370100"/>
            <a:ext cx="137371" cy="27240"/>
          </a:xfrm>
          <a:prstGeom prst="line">
            <a:avLst/>
          </a:prstGeom>
          <a:ln w="437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935359" y="6281411"/>
            <a:ext cx="466699" cy="19491"/>
          </a:xfrm>
          <a:prstGeom prst="line">
            <a:avLst/>
          </a:prstGeom>
          <a:ln w="519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376184" y="2313696"/>
            <a:ext cx="479511" cy="25827"/>
          </a:xfrm>
          <a:prstGeom prst="line">
            <a:avLst/>
          </a:prstGeom>
          <a:ln w="387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543944" y="5456956"/>
            <a:ext cx="395401" cy="25671"/>
          </a:xfrm>
          <a:prstGeom prst="line">
            <a:avLst/>
          </a:prstGeom>
          <a:ln w="583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081723" y="2973062"/>
            <a:ext cx="466598" cy="23610"/>
          </a:xfrm>
          <a:prstGeom prst="line">
            <a:avLst/>
          </a:prstGeom>
          <a:ln w="540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964617" y="5374919"/>
            <a:ext cx="291696" cy="9909"/>
          </a:xfrm>
          <a:prstGeom prst="line">
            <a:avLst/>
          </a:prstGeom>
          <a:ln w="809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055492" y="1350242"/>
            <a:ext cx="148236" cy="19850"/>
          </a:xfrm>
          <a:prstGeom prst="line">
            <a:avLst/>
          </a:prstGeom>
          <a:ln w="559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683122" y="3501124"/>
            <a:ext cx="181229" cy="15250"/>
          </a:xfrm>
          <a:prstGeom prst="line">
            <a:avLst/>
          </a:prstGeom>
          <a:ln w="437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079142" y="5793989"/>
            <a:ext cx="227363" cy="22468"/>
          </a:xfrm>
          <a:prstGeom prst="line">
            <a:avLst/>
          </a:prstGeom>
          <a:ln w="757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738237" y="189465"/>
            <a:ext cx="384115" cy="10218"/>
          </a:xfrm>
          <a:prstGeom prst="line">
            <a:avLst/>
          </a:prstGeom>
          <a:ln w="64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349352" y="2868548"/>
            <a:ext cx="219414" cy="13401"/>
          </a:xfrm>
          <a:prstGeom prst="line">
            <a:avLst/>
          </a:prstGeom>
          <a:ln w="635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14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灾后的空白地图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非鸟恐龙离场后，生态位重新开放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4074511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3955614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陆地、空中和水边出现新的机会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幸存鸟类开始向不同取食方式扩散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竞争格局改变，为后续多样化创造空间</a:t>
            </a:r>
          </a:p>
        </p:txBody>
      </p:sp>
      <p:sp>
        <p:nvSpPr>
          <p:cNvPr id="72" name="Diamond 71"/>
          <p:cNvSpPr/>
          <p:nvPr/>
        </p:nvSpPr>
        <p:spPr>
          <a:xfrm>
            <a:off x="9372600" y="2441448"/>
            <a:ext cx="1371600" cy="1371600"/>
          </a:xfrm>
          <a:prstGeom prst="diamond">
            <a:avLst/>
          </a:prstGeom>
          <a:solidFill>
            <a:srgbClr val="FFFCF0"/>
          </a:solidFill>
          <a:ln w="25400"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Isosceles Triangle 72"/>
          <p:cNvSpPr/>
          <p:nvPr/>
        </p:nvSpPr>
        <p:spPr>
          <a:xfrm>
            <a:off x="9875520" y="2560320"/>
            <a:ext cx="411480" cy="960120"/>
          </a:xfrm>
          <a:prstGeom prst="triangl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olded Corner 75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关键词：生态位开放。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10931742" y="-198654"/>
            <a:ext cx="2149924" cy="481349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-168183" y="5435548"/>
            <a:ext cx="2064985" cy="992923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2439943" y="1920561"/>
            <a:ext cx="2106713" cy="571011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3664504" y="5796155"/>
            <a:ext cx="1326633" cy="625572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2248882" y="5729952"/>
            <a:ext cx="1800754" cy="535023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9473794" y="2904419"/>
            <a:ext cx="1722621" cy="950273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6301204" y="5764874"/>
            <a:ext cx="2009367" cy="662099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5372359" y="5861007"/>
            <a:ext cx="1034986" cy="468405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6821258" y="4821919"/>
            <a:ext cx="2317968" cy="378474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5974509" y="5981321"/>
            <a:ext cx="173690" cy="21055"/>
          </a:xfrm>
          <a:prstGeom prst="line">
            <a:avLst/>
          </a:prstGeom>
          <a:ln w="341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656782" y="5681766"/>
            <a:ext cx="340154" cy="5407"/>
          </a:xfrm>
          <a:prstGeom prst="line">
            <a:avLst/>
          </a:prstGeom>
          <a:ln w="572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163096" y="6401073"/>
            <a:ext cx="266567" cy="14525"/>
          </a:xfrm>
          <a:prstGeom prst="line">
            <a:avLst/>
          </a:prstGeom>
          <a:ln w="475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957003" y="2144588"/>
            <a:ext cx="468102" cy="8988"/>
          </a:xfrm>
          <a:prstGeom prst="line">
            <a:avLst/>
          </a:prstGeom>
          <a:ln w="541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95611" y="6139056"/>
            <a:ext cx="428360" cy="1402"/>
          </a:xfrm>
          <a:prstGeom prst="line">
            <a:avLst/>
          </a:prstGeom>
          <a:ln w="376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4309" y="2545230"/>
            <a:ext cx="444399" cy="23480"/>
          </a:xfrm>
          <a:prstGeom prst="line">
            <a:avLst/>
          </a:prstGeom>
          <a:ln w="693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66673" y="279992"/>
            <a:ext cx="464128" cy="24387"/>
          </a:xfrm>
          <a:prstGeom prst="line">
            <a:avLst/>
          </a:prstGeom>
          <a:ln w="397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034151" y="3229447"/>
            <a:ext cx="494299" cy="25070"/>
          </a:xfrm>
          <a:prstGeom prst="line">
            <a:avLst/>
          </a:prstGeom>
          <a:ln w="348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84111" y="3854103"/>
            <a:ext cx="306247" cy="15239"/>
          </a:xfrm>
          <a:prstGeom prst="line">
            <a:avLst/>
          </a:prstGeom>
          <a:ln w="618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357654" y="1702759"/>
            <a:ext cx="168224" cy="26943"/>
          </a:xfrm>
          <a:prstGeom prst="line">
            <a:avLst/>
          </a:prstGeom>
          <a:ln w="486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27447" y="2569864"/>
            <a:ext cx="264199" cy="6504"/>
          </a:xfrm>
          <a:prstGeom prst="line">
            <a:avLst/>
          </a:prstGeom>
          <a:ln w="675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187182" y="2109395"/>
            <a:ext cx="437720" cy="16498"/>
          </a:xfrm>
          <a:prstGeom prst="line">
            <a:avLst/>
          </a:prstGeom>
          <a:ln w="771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773503" y="93420"/>
            <a:ext cx="381913" cy="8335"/>
          </a:xfrm>
          <a:prstGeom prst="line">
            <a:avLst/>
          </a:prstGeom>
          <a:ln w="514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53373" y="973610"/>
            <a:ext cx="228392" cy="26678"/>
          </a:xfrm>
          <a:prstGeom prst="line">
            <a:avLst/>
          </a:prstGeom>
          <a:ln w="485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020028" y="4621155"/>
            <a:ext cx="252308" cy="9947"/>
          </a:xfrm>
          <a:prstGeom prst="line">
            <a:avLst/>
          </a:prstGeom>
          <a:ln w="624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474154" y="2282889"/>
            <a:ext cx="158761" cy="17983"/>
          </a:xfrm>
          <a:prstGeom prst="line">
            <a:avLst/>
          </a:prstGeom>
          <a:ln w="754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797404" y="732625"/>
            <a:ext cx="442611" cy="4162"/>
          </a:xfrm>
          <a:prstGeom prst="line">
            <a:avLst/>
          </a:prstGeom>
          <a:ln w="487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790090" y="862648"/>
            <a:ext cx="173078" cy="8581"/>
          </a:xfrm>
          <a:prstGeom prst="line">
            <a:avLst/>
          </a:prstGeom>
          <a:ln w="692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611536" y="3270625"/>
            <a:ext cx="468812" cy="5820"/>
          </a:xfrm>
          <a:prstGeom prst="line">
            <a:avLst/>
          </a:prstGeom>
          <a:ln w="717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5283" y="5297850"/>
            <a:ext cx="194028" cy="8541"/>
          </a:xfrm>
          <a:prstGeom prst="line">
            <a:avLst/>
          </a:prstGeom>
          <a:ln w="743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14983" y="3916637"/>
            <a:ext cx="338335" cy="13794"/>
          </a:xfrm>
          <a:prstGeom prst="line">
            <a:avLst/>
          </a:prstGeom>
          <a:ln w="504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818886" y="3748555"/>
            <a:ext cx="327483" cy="21054"/>
          </a:xfrm>
          <a:prstGeom prst="line">
            <a:avLst/>
          </a:prstGeom>
          <a:ln w="586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635254" y="1058663"/>
            <a:ext cx="395961" cy="15280"/>
          </a:xfrm>
          <a:prstGeom prst="line">
            <a:avLst/>
          </a:prstGeom>
          <a:ln w="489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445618" y="6675320"/>
            <a:ext cx="379363" cy="5057"/>
          </a:xfrm>
          <a:prstGeom prst="line">
            <a:avLst/>
          </a:prstGeom>
          <a:ln w="455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568124" y="1823202"/>
            <a:ext cx="502488" cy="24117"/>
          </a:xfrm>
          <a:prstGeom prst="line">
            <a:avLst/>
          </a:prstGeom>
          <a:ln w="782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15202" y="5304340"/>
            <a:ext cx="173467" cy="8016"/>
          </a:xfrm>
          <a:prstGeom prst="line">
            <a:avLst/>
          </a:prstGeom>
          <a:ln w="421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170839" y="5373989"/>
            <a:ext cx="401049" cy="1937"/>
          </a:xfrm>
          <a:prstGeom prst="line">
            <a:avLst/>
          </a:prstGeom>
          <a:ln w="766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767875" y="1038338"/>
            <a:ext cx="453723" cy="24376"/>
          </a:xfrm>
          <a:prstGeom prst="line">
            <a:avLst/>
          </a:prstGeom>
          <a:ln w="529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068183" y="5935752"/>
            <a:ext cx="273327" cy="3804"/>
          </a:xfrm>
          <a:prstGeom prst="line">
            <a:avLst/>
          </a:prstGeom>
          <a:ln w="572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779339" y="3202661"/>
            <a:ext cx="308430" cy="5285"/>
          </a:xfrm>
          <a:prstGeom prst="line">
            <a:avLst/>
          </a:prstGeom>
          <a:ln w="537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106509" y="6244045"/>
            <a:ext cx="494302" cy="13877"/>
          </a:xfrm>
          <a:prstGeom prst="line">
            <a:avLst/>
          </a:prstGeom>
          <a:ln w="798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87429" y="2231671"/>
            <a:ext cx="466006" cy="18156"/>
          </a:xfrm>
          <a:prstGeom prst="line">
            <a:avLst/>
          </a:prstGeom>
          <a:ln w="657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998791" y="4115360"/>
            <a:ext cx="305235" cy="25759"/>
          </a:xfrm>
          <a:prstGeom prst="line">
            <a:avLst/>
          </a:prstGeom>
          <a:ln w="546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599200" y="5337380"/>
            <a:ext cx="279937" cy="16774"/>
          </a:xfrm>
          <a:prstGeom prst="line">
            <a:avLst/>
          </a:prstGeom>
          <a:ln w="523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68557" y="5134117"/>
            <a:ext cx="197902" cy="24882"/>
          </a:xfrm>
          <a:prstGeom prst="line">
            <a:avLst/>
          </a:prstGeom>
          <a:ln w="546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787851" y="6581130"/>
            <a:ext cx="346059" cy="1090"/>
          </a:xfrm>
          <a:prstGeom prst="line">
            <a:avLst/>
          </a:prstGeom>
          <a:ln w="426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655830" y="5146271"/>
            <a:ext cx="322211" cy="8704"/>
          </a:xfrm>
          <a:prstGeom prst="line">
            <a:avLst/>
          </a:prstGeom>
          <a:ln w="670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236011" y="2185432"/>
            <a:ext cx="452785" cy="2755"/>
          </a:xfrm>
          <a:prstGeom prst="line">
            <a:avLst/>
          </a:prstGeom>
          <a:ln w="406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15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鸟类的辐射演化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从少数幸存谱系到多条路线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4111878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4119699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不同谱系逐渐适应飞行、涉水、潜水、捕食和鸣唱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喙形、翼形和足部结构随生活方式分化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演化不是直线，而是不断分岔的路线图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8915400" y="2377440"/>
            <a:ext cx="2103120" cy="1508760"/>
          </a:xfrm>
          <a:prstGeom prst="line">
            <a:avLst/>
          </a:prstGeom>
          <a:ln w="1778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915400" y="2724912"/>
            <a:ext cx="2103120" cy="1161288"/>
          </a:xfrm>
          <a:prstGeom prst="line">
            <a:avLst/>
          </a:prstGeom>
          <a:ln w="1778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915400" y="3072384"/>
            <a:ext cx="2103120" cy="813816"/>
          </a:xfrm>
          <a:prstGeom prst="line">
            <a:avLst/>
          </a:prstGeom>
          <a:ln w="1778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915400" y="3419856"/>
            <a:ext cx="2103120" cy="466344"/>
          </a:xfrm>
          <a:prstGeom prst="line">
            <a:avLst/>
          </a:prstGeom>
          <a:ln w="1778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915400" y="3767328"/>
            <a:ext cx="2103120" cy="118872"/>
          </a:xfrm>
          <a:prstGeom prst="line">
            <a:avLst/>
          </a:prstGeom>
          <a:ln w="1778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9318657" y="3880059"/>
            <a:ext cx="320040" cy="182880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357106" y="2867440"/>
            <a:ext cx="320040" cy="182880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150103" y="3940686"/>
            <a:ext cx="320040" cy="182880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376006" y="3509529"/>
            <a:ext cx="320040" cy="182880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537998" y="2668995"/>
            <a:ext cx="320040" cy="182880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836429" y="4061189"/>
            <a:ext cx="320040" cy="182880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296368" y="3727302"/>
            <a:ext cx="320040" cy="182880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820694" y="3128267"/>
            <a:ext cx="320040" cy="182880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olded Corner 86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关键词：分化路线。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3865618" y="2845075"/>
            <a:ext cx="1653984" cy="692573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9631328" y="4341672"/>
            <a:ext cx="1375586" cy="528472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3169456" y="1900991"/>
            <a:ext cx="1226499" cy="909582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-106137" y="1156249"/>
            <a:ext cx="1942867" cy="380663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9087079" y="4058724"/>
            <a:ext cx="1048385" cy="699909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11168027" y="4806840"/>
            <a:ext cx="1568223" cy="673204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3704774" y="2472697"/>
            <a:ext cx="2005405" cy="1059521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6408179" y="1561677"/>
            <a:ext cx="1135802" cy="1097237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5759961" y="1250060"/>
            <a:ext cx="1246021" cy="588316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474958" y="1111448"/>
            <a:ext cx="313549" cy="19191"/>
          </a:xfrm>
          <a:prstGeom prst="line">
            <a:avLst/>
          </a:prstGeom>
          <a:ln w="543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432075" y="94650"/>
            <a:ext cx="444357" cy="10918"/>
          </a:xfrm>
          <a:prstGeom prst="line">
            <a:avLst/>
          </a:prstGeom>
          <a:ln w="379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3902" y="528831"/>
            <a:ext cx="376491" cy="25681"/>
          </a:xfrm>
          <a:prstGeom prst="line">
            <a:avLst/>
          </a:prstGeom>
          <a:ln w="676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098759" y="6042950"/>
            <a:ext cx="149240" cy="25072"/>
          </a:xfrm>
          <a:prstGeom prst="line">
            <a:avLst/>
          </a:prstGeom>
          <a:ln w="647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88085" y="3230875"/>
            <a:ext cx="381673" cy="17218"/>
          </a:xfrm>
          <a:prstGeom prst="line">
            <a:avLst/>
          </a:prstGeom>
          <a:ln w="663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17932" y="479698"/>
            <a:ext cx="254195" cy="11388"/>
          </a:xfrm>
          <a:prstGeom prst="line">
            <a:avLst/>
          </a:prstGeom>
          <a:ln w="592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34635" y="2668151"/>
            <a:ext cx="154203" cy="18830"/>
          </a:xfrm>
          <a:prstGeom prst="line">
            <a:avLst/>
          </a:prstGeom>
          <a:ln w="692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82033" y="5729668"/>
            <a:ext cx="280788" cy="21932"/>
          </a:xfrm>
          <a:prstGeom prst="line">
            <a:avLst/>
          </a:prstGeom>
          <a:ln w="669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892535" y="3924870"/>
            <a:ext cx="224547" cy="14021"/>
          </a:xfrm>
          <a:prstGeom prst="line">
            <a:avLst/>
          </a:prstGeom>
          <a:ln w="376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735750" y="1805513"/>
            <a:ext cx="286021" cy="5213"/>
          </a:xfrm>
          <a:prstGeom prst="line">
            <a:avLst/>
          </a:prstGeom>
          <a:ln w="766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29526" y="1758469"/>
            <a:ext cx="158779" cy="11363"/>
          </a:xfrm>
          <a:prstGeom prst="line">
            <a:avLst/>
          </a:prstGeom>
          <a:ln w="534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82296" y="6544568"/>
            <a:ext cx="277692" cy="17126"/>
          </a:xfrm>
          <a:prstGeom prst="line">
            <a:avLst/>
          </a:prstGeom>
          <a:ln w="375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634947" y="1900421"/>
            <a:ext cx="303865" cy="19685"/>
          </a:xfrm>
          <a:prstGeom prst="line">
            <a:avLst/>
          </a:prstGeom>
          <a:ln w="520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519396" y="887991"/>
            <a:ext cx="284797" cy="74"/>
          </a:xfrm>
          <a:prstGeom prst="line">
            <a:avLst/>
          </a:prstGeom>
          <a:ln w="518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373164" y="3351674"/>
            <a:ext cx="200856" cy="5047"/>
          </a:xfrm>
          <a:prstGeom prst="line">
            <a:avLst/>
          </a:prstGeom>
          <a:ln w="651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20623" y="3303554"/>
            <a:ext cx="346545" cy="26018"/>
          </a:xfrm>
          <a:prstGeom prst="line">
            <a:avLst/>
          </a:prstGeom>
          <a:ln w="748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070334" y="5308820"/>
            <a:ext cx="406781" cy="14179"/>
          </a:xfrm>
          <a:prstGeom prst="line">
            <a:avLst/>
          </a:prstGeom>
          <a:ln w="644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24448" y="2990774"/>
            <a:ext cx="186001" cy="2929"/>
          </a:xfrm>
          <a:prstGeom prst="line">
            <a:avLst/>
          </a:prstGeom>
          <a:ln w="705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963875" y="702007"/>
            <a:ext cx="378642" cy="24243"/>
          </a:xfrm>
          <a:prstGeom prst="line">
            <a:avLst/>
          </a:prstGeom>
          <a:ln w="358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92652" y="5109643"/>
            <a:ext cx="324924" cy="1736"/>
          </a:xfrm>
          <a:prstGeom prst="line">
            <a:avLst/>
          </a:prstGeom>
          <a:ln w="368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397843" y="1898883"/>
            <a:ext cx="160854" cy="16962"/>
          </a:xfrm>
          <a:prstGeom prst="line">
            <a:avLst/>
          </a:prstGeom>
          <a:ln w="424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57823" y="1429"/>
            <a:ext cx="259016" cy="5860"/>
          </a:xfrm>
          <a:prstGeom prst="line">
            <a:avLst/>
          </a:prstGeom>
          <a:ln w="420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250308" y="4307776"/>
            <a:ext cx="278429" cy="24269"/>
          </a:xfrm>
          <a:prstGeom prst="line">
            <a:avLst/>
          </a:prstGeom>
          <a:ln w="655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63941" y="6441336"/>
            <a:ext cx="212818" cy="15848"/>
          </a:xfrm>
          <a:prstGeom prst="line">
            <a:avLst/>
          </a:prstGeom>
          <a:ln w="636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506900" y="5593897"/>
            <a:ext cx="402257" cy="24343"/>
          </a:xfrm>
          <a:prstGeom prst="line">
            <a:avLst/>
          </a:prstGeom>
          <a:ln w="453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0858" y="4145152"/>
            <a:ext cx="431283" cy="25809"/>
          </a:xfrm>
          <a:prstGeom prst="line">
            <a:avLst/>
          </a:prstGeom>
          <a:ln w="557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807712" y="925075"/>
            <a:ext cx="305676" cy="11996"/>
          </a:xfrm>
          <a:prstGeom prst="line">
            <a:avLst/>
          </a:prstGeom>
          <a:ln w="405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288761" y="610343"/>
            <a:ext cx="273887" cy="11699"/>
          </a:xfrm>
          <a:prstGeom prst="line">
            <a:avLst/>
          </a:prstGeom>
          <a:ln w="649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60850" y="657020"/>
            <a:ext cx="151085" cy="23575"/>
          </a:xfrm>
          <a:prstGeom prst="line">
            <a:avLst/>
          </a:prstGeom>
          <a:ln w="66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335939" y="4868413"/>
            <a:ext cx="415582" cy="8529"/>
          </a:xfrm>
          <a:prstGeom prst="line">
            <a:avLst/>
          </a:prstGeom>
          <a:ln w="605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95414" y="6323829"/>
            <a:ext cx="305986" cy="21036"/>
          </a:xfrm>
          <a:prstGeom prst="line">
            <a:avLst/>
          </a:prstGeom>
          <a:ln w="609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841322" y="4894495"/>
            <a:ext cx="194883" cy="16176"/>
          </a:xfrm>
          <a:prstGeom prst="line">
            <a:avLst/>
          </a:prstGeom>
          <a:ln w="339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276829" y="4602356"/>
            <a:ext cx="284580" cy="13220"/>
          </a:xfrm>
          <a:prstGeom prst="line">
            <a:avLst/>
          </a:prstGeom>
          <a:ln w="627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184197" y="2389275"/>
            <a:ext cx="298503" cy="3673"/>
          </a:xfrm>
          <a:prstGeom prst="line">
            <a:avLst/>
          </a:prstGeom>
          <a:ln w="492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975275" y="1438514"/>
            <a:ext cx="277481" cy="21162"/>
          </a:xfrm>
          <a:prstGeom prst="line">
            <a:avLst/>
          </a:prstGeom>
          <a:ln w="345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555018" y="5223277"/>
            <a:ext cx="381482" cy="8691"/>
          </a:xfrm>
          <a:prstGeom prst="line">
            <a:avLst/>
          </a:prstGeom>
          <a:ln w="579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898466" y="129352"/>
            <a:ext cx="190819" cy="14499"/>
          </a:xfrm>
          <a:prstGeom prst="line">
            <a:avLst/>
          </a:prstGeom>
          <a:ln w="481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881402" y="2545118"/>
            <a:ext cx="454677" cy="7566"/>
          </a:xfrm>
          <a:prstGeom prst="line">
            <a:avLst/>
          </a:prstGeom>
          <a:ln w="698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16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现代鸟类的远方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今天的多样性来自灾后的延续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4062598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3921913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猛禽、鸣禽、企鹅和蜂鸟代表截然不同的生态策略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它们共享白垩纪末幸存者留下的深层祖先背景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一次灭绝事件改变了后续6600万年的天空</a:t>
            </a:r>
          </a:p>
        </p:txBody>
      </p:sp>
      <p:sp>
        <p:nvSpPr>
          <p:cNvPr id="72" name="Oval 71"/>
          <p:cNvSpPr/>
          <p:nvPr/>
        </p:nvSpPr>
        <p:spPr>
          <a:xfrm>
            <a:off x="9281160" y="2697480"/>
            <a:ext cx="1371600" cy="868680"/>
          </a:xfrm>
          <a:prstGeom prst="ellipse">
            <a:avLst/>
          </a:prstGeom>
          <a:solidFill>
            <a:srgbClr val="96C2CF"/>
          </a:solidFill>
          <a:ln w="25400"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rc 72"/>
          <p:cNvSpPr/>
          <p:nvPr/>
        </p:nvSpPr>
        <p:spPr>
          <a:xfrm>
            <a:off x="9537192" y="2843784"/>
            <a:ext cx="685800" cy="457200"/>
          </a:xfrm>
          <a:prstGeom prst="arc">
            <a:avLst/>
          </a:prstGeom>
          <a:ln w="25400"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Isosceles Triangle 73"/>
          <p:cNvSpPr/>
          <p:nvPr/>
        </p:nvSpPr>
        <p:spPr>
          <a:xfrm>
            <a:off x="10515600" y="2944368"/>
            <a:ext cx="411480" cy="292608"/>
          </a:xfrm>
          <a:prstGeom prst="triangl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314432" y="2898648"/>
            <a:ext cx="73152" cy="73152"/>
          </a:xfrm>
          <a:prstGeom prst="ellipse">
            <a:avLst/>
          </a:prstGeom>
          <a:solidFill>
            <a:srgbClr val="445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H="1">
            <a:off x="9509760" y="3520439"/>
            <a:ext cx="91440" cy="320041"/>
          </a:xfrm>
          <a:prstGeom prst="line">
            <a:avLst/>
          </a:prstGeom>
          <a:ln w="19050">
            <a:solidFill>
              <a:srgbClr val="44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9875520" y="3520439"/>
            <a:ext cx="91440" cy="320041"/>
          </a:xfrm>
          <a:prstGeom prst="line">
            <a:avLst/>
          </a:prstGeom>
          <a:ln w="19050">
            <a:solidFill>
              <a:srgbClr val="44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olded Corner 79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关键词：现代多样性。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5743706" y="4962910"/>
            <a:ext cx="2498909" cy="577626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7375278" y="440878"/>
            <a:ext cx="1047712" cy="646788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2588220" y="2982204"/>
            <a:ext cx="1499286" cy="984865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1244068" y="3304101"/>
            <a:ext cx="1223283" cy="944849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1400603" y="4306400"/>
            <a:ext cx="1874626" cy="1064499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3508792" y="527474"/>
            <a:ext cx="2118208" cy="416365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592400" y="5826931"/>
            <a:ext cx="1742816" cy="1094592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7623738" y="2378890"/>
            <a:ext cx="1792515" cy="611830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3990504" y="61127"/>
            <a:ext cx="2174863" cy="625187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4524216" y="5225531"/>
            <a:ext cx="454562" cy="14323"/>
          </a:xfrm>
          <a:prstGeom prst="line">
            <a:avLst/>
          </a:prstGeom>
          <a:ln w="600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55800" y="3552648"/>
            <a:ext cx="268726" cy="12772"/>
          </a:xfrm>
          <a:prstGeom prst="line">
            <a:avLst/>
          </a:prstGeom>
          <a:ln w="717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26477" y="4086301"/>
            <a:ext cx="340357" cy="2934"/>
          </a:xfrm>
          <a:prstGeom prst="line">
            <a:avLst/>
          </a:prstGeom>
          <a:ln w="383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948933" y="6192536"/>
            <a:ext cx="253794" cy="9213"/>
          </a:xfrm>
          <a:prstGeom prst="line">
            <a:avLst/>
          </a:prstGeom>
          <a:ln w="779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80672" y="1844413"/>
            <a:ext cx="140731" cy="13895"/>
          </a:xfrm>
          <a:prstGeom prst="line">
            <a:avLst/>
          </a:prstGeom>
          <a:ln w="494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638645" y="1843907"/>
            <a:ext cx="368723" cy="12563"/>
          </a:xfrm>
          <a:prstGeom prst="line">
            <a:avLst/>
          </a:prstGeom>
          <a:ln w="474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05615" y="6650878"/>
            <a:ext cx="470017" cy="26299"/>
          </a:xfrm>
          <a:prstGeom prst="line">
            <a:avLst/>
          </a:prstGeom>
          <a:ln w="604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80054" y="2727009"/>
            <a:ext cx="404765" cy="25228"/>
          </a:xfrm>
          <a:prstGeom prst="line">
            <a:avLst/>
          </a:prstGeom>
          <a:ln w="617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726327" y="1304706"/>
            <a:ext cx="229119" cy="19158"/>
          </a:xfrm>
          <a:prstGeom prst="line">
            <a:avLst/>
          </a:prstGeom>
          <a:ln w="373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63560" y="5697607"/>
            <a:ext cx="333565" cy="16730"/>
          </a:xfrm>
          <a:prstGeom prst="line">
            <a:avLst/>
          </a:prstGeom>
          <a:ln w="784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786236" y="312217"/>
            <a:ext cx="475838" cy="22341"/>
          </a:xfrm>
          <a:prstGeom prst="line">
            <a:avLst/>
          </a:prstGeom>
          <a:ln w="709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126115" y="4425367"/>
            <a:ext cx="284811" cy="23317"/>
          </a:xfrm>
          <a:prstGeom prst="line">
            <a:avLst/>
          </a:prstGeom>
          <a:ln w="360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682638" y="1622626"/>
            <a:ext cx="331848" cy="12880"/>
          </a:xfrm>
          <a:prstGeom prst="line">
            <a:avLst/>
          </a:prstGeom>
          <a:ln w="400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63550" y="4898971"/>
            <a:ext cx="315217" cy="5883"/>
          </a:xfrm>
          <a:prstGeom prst="line">
            <a:avLst/>
          </a:prstGeom>
          <a:ln w="564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686629" y="3489296"/>
            <a:ext cx="299945" cy="25642"/>
          </a:xfrm>
          <a:prstGeom prst="line">
            <a:avLst/>
          </a:prstGeom>
          <a:ln w="699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764786" y="2145965"/>
            <a:ext cx="206215" cy="7457"/>
          </a:xfrm>
          <a:prstGeom prst="line">
            <a:avLst/>
          </a:prstGeom>
          <a:ln w="331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86211" y="3842654"/>
            <a:ext cx="291760" cy="21586"/>
          </a:xfrm>
          <a:prstGeom prst="line">
            <a:avLst/>
          </a:prstGeom>
          <a:ln w="484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83557" y="6291257"/>
            <a:ext cx="340471" cy="6198"/>
          </a:xfrm>
          <a:prstGeom prst="line">
            <a:avLst/>
          </a:prstGeom>
          <a:ln w="504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047118" y="5099353"/>
            <a:ext cx="248112" cy="7927"/>
          </a:xfrm>
          <a:prstGeom prst="line">
            <a:avLst/>
          </a:prstGeom>
          <a:ln w="617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59981" y="3540983"/>
            <a:ext cx="207419" cy="4154"/>
          </a:xfrm>
          <a:prstGeom prst="line">
            <a:avLst/>
          </a:prstGeom>
          <a:ln w="675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3507" y="3040757"/>
            <a:ext cx="300128" cy="234"/>
          </a:xfrm>
          <a:prstGeom prst="line">
            <a:avLst/>
          </a:prstGeom>
          <a:ln w="589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732398" y="81875"/>
            <a:ext cx="233512" cy="26763"/>
          </a:xfrm>
          <a:prstGeom prst="line">
            <a:avLst/>
          </a:prstGeom>
          <a:ln w="737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641229" y="5075529"/>
            <a:ext cx="214427" cy="12774"/>
          </a:xfrm>
          <a:prstGeom prst="line">
            <a:avLst/>
          </a:prstGeom>
          <a:ln w="580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440545" y="186514"/>
            <a:ext cx="309693" cy="22280"/>
          </a:xfrm>
          <a:prstGeom prst="line">
            <a:avLst/>
          </a:prstGeom>
          <a:ln w="628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986690" y="667775"/>
            <a:ext cx="469491" cy="18511"/>
          </a:xfrm>
          <a:prstGeom prst="line">
            <a:avLst/>
          </a:prstGeom>
          <a:ln w="330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476629" y="5137711"/>
            <a:ext cx="218378" cy="8191"/>
          </a:xfrm>
          <a:prstGeom prst="line">
            <a:avLst/>
          </a:prstGeom>
          <a:ln w="749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583002" y="2896821"/>
            <a:ext cx="158501" cy="2149"/>
          </a:xfrm>
          <a:prstGeom prst="line">
            <a:avLst/>
          </a:prstGeom>
          <a:ln w="413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502166" y="1823148"/>
            <a:ext cx="264193" cy="2399"/>
          </a:xfrm>
          <a:prstGeom prst="line">
            <a:avLst/>
          </a:prstGeom>
          <a:ln w="733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772174" y="2744041"/>
            <a:ext cx="139886" cy="13724"/>
          </a:xfrm>
          <a:prstGeom prst="line">
            <a:avLst/>
          </a:prstGeom>
          <a:ln w="489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44627" y="5620125"/>
            <a:ext cx="149423" cy="12664"/>
          </a:xfrm>
          <a:prstGeom prst="line">
            <a:avLst/>
          </a:prstGeom>
          <a:ln w="462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882271" y="2247618"/>
            <a:ext cx="334078" cy="14086"/>
          </a:xfrm>
          <a:prstGeom prst="line">
            <a:avLst/>
          </a:prstGeom>
          <a:ln w="568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419567" y="843344"/>
            <a:ext cx="228591" cy="9927"/>
          </a:xfrm>
          <a:prstGeom prst="line">
            <a:avLst/>
          </a:prstGeom>
          <a:ln w="475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417716" y="2473671"/>
            <a:ext cx="215297" cy="26580"/>
          </a:xfrm>
          <a:prstGeom prst="line">
            <a:avLst/>
          </a:prstGeom>
          <a:ln w="71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830475" y="1988116"/>
            <a:ext cx="296593" cy="1540"/>
          </a:xfrm>
          <a:prstGeom prst="line">
            <a:avLst/>
          </a:prstGeom>
          <a:ln w="514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316559" y="5143457"/>
            <a:ext cx="193541" cy="3249"/>
          </a:xfrm>
          <a:prstGeom prst="line">
            <a:avLst/>
          </a:prstGeom>
          <a:ln w="401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454977" y="2145673"/>
            <a:ext cx="430926" cy="20904"/>
          </a:xfrm>
          <a:prstGeom prst="line">
            <a:avLst/>
          </a:prstGeom>
          <a:ln w="803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914252" y="4173171"/>
            <a:ext cx="198838" cy="11610"/>
          </a:xfrm>
          <a:prstGeom prst="line">
            <a:avLst/>
          </a:prstGeom>
          <a:ln w="712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154177" y="2176745"/>
            <a:ext cx="414431" cy="13735"/>
          </a:xfrm>
          <a:prstGeom prst="line">
            <a:avLst/>
          </a:prstGeom>
          <a:ln w="723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17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核心机制总览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幸存=能量需求低+资源选择广+环境弹性强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3979623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3969090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体型决定危机中的最低消耗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食性决定能否找到替代能量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栖息地选择决定能否避开生态系统局部崩溃</a:t>
            </a:r>
          </a:p>
        </p:txBody>
      </p:sp>
      <p:sp>
        <p:nvSpPr>
          <p:cNvPr id="72" name="Diamond 71"/>
          <p:cNvSpPr/>
          <p:nvPr/>
        </p:nvSpPr>
        <p:spPr>
          <a:xfrm>
            <a:off x="9372600" y="2441448"/>
            <a:ext cx="1371600" cy="1371600"/>
          </a:xfrm>
          <a:prstGeom prst="diamond">
            <a:avLst/>
          </a:prstGeom>
          <a:solidFill>
            <a:srgbClr val="FFFCF0"/>
          </a:solidFill>
          <a:ln w="25400"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Isosceles Triangle 72"/>
          <p:cNvSpPr/>
          <p:nvPr/>
        </p:nvSpPr>
        <p:spPr>
          <a:xfrm>
            <a:off x="9875520" y="2560320"/>
            <a:ext cx="411480" cy="960120"/>
          </a:xfrm>
          <a:prstGeom prst="triangl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olded Corner 75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关键词：三因素模型。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1755821" y="4019845"/>
            <a:ext cx="1525906" cy="510556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6986750" y="913592"/>
            <a:ext cx="1465146" cy="1014508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2604807" y="4217531"/>
            <a:ext cx="1510172" cy="859404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9769543" y="5854539"/>
            <a:ext cx="1370455" cy="539420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6370581" y="1036265"/>
            <a:ext cx="2059163" cy="1004560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2163498" y="1666531"/>
            <a:ext cx="1016197" cy="1079489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8667571" y="2361059"/>
            <a:ext cx="1543559" cy="785072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9296494" y="3620570"/>
            <a:ext cx="1477141" cy="449760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6281065" y="2976712"/>
            <a:ext cx="1776913" cy="946650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2291491" y="4359419"/>
            <a:ext cx="432195" cy="20225"/>
          </a:xfrm>
          <a:prstGeom prst="line">
            <a:avLst/>
          </a:prstGeom>
          <a:ln w="578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925091" y="6160003"/>
            <a:ext cx="210765" cy="13200"/>
          </a:xfrm>
          <a:prstGeom prst="line">
            <a:avLst/>
          </a:prstGeom>
          <a:ln w="746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543812" y="5634702"/>
            <a:ext cx="377551" cy="1682"/>
          </a:xfrm>
          <a:prstGeom prst="line">
            <a:avLst/>
          </a:prstGeom>
          <a:ln w="567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764178" y="3289880"/>
            <a:ext cx="228442" cy="22351"/>
          </a:xfrm>
          <a:prstGeom prst="line">
            <a:avLst/>
          </a:prstGeom>
          <a:ln w="496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254875" y="5302348"/>
            <a:ext cx="281020" cy="4325"/>
          </a:xfrm>
          <a:prstGeom prst="line">
            <a:avLst/>
          </a:prstGeom>
          <a:ln w="588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51679" y="42700"/>
            <a:ext cx="499028" cy="14978"/>
          </a:xfrm>
          <a:prstGeom prst="line">
            <a:avLst/>
          </a:prstGeom>
          <a:ln w="748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52011" y="2701684"/>
            <a:ext cx="285200" cy="6291"/>
          </a:xfrm>
          <a:prstGeom prst="line">
            <a:avLst/>
          </a:prstGeom>
          <a:ln w="383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538714" y="4591830"/>
            <a:ext cx="269055" cy="9020"/>
          </a:xfrm>
          <a:prstGeom prst="line">
            <a:avLst/>
          </a:prstGeom>
          <a:ln w="688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78380" y="6174658"/>
            <a:ext cx="295866" cy="10904"/>
          </a:xfrm>
          <a:prstGeom prst="line">
            <a:avLst/>
          </a:prstGeom>
          <a:ln w="756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46533" y="2866349"/>
            <a:ext cx="418241" cy="6331"/>
          </a:xfrm>
          <a:prstGeom prst="line">
            <a:avLst/>
          </a:prstGeom>
          <a:ln w="727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53305" y="38628"/>
            <a:ext cx="340615" cy="17964"/>
          </a:xfrm>
          <a:prstGeom prst="line">
            <a:avLst/>
          </a:prstGeom>
          <a:ln w="596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87" y="4107561"/>
            <a:ext cx="231292" cy="13321"/>
          </a:xfrm>
          <a:prstGeom prst="line">
            <a:avLst/>
          </a:prstGeom>
          <a:ln w="561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739604" y="5878877"/>
            <a:ext cx="443012" cy="18622"/>
          </a:xfrm>
          <a:prstGeom prst="line">
            <a:avLst/>
          </a:prstGeom>
          <a:ln w="719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716257" y="5771177"/>
            <a:ext cx="201487" cy="7213"/>
          </a:xfrm>
          <a:prstGeom prst="line">
            <a:avLst/>
          </a:prstGeom>
          <a:ln w="636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983432" y="5269380"/>
            <a:ext cx="171415" cy="8117"/>
          </a:xfrm>
          <a:prstGeom prst="line">
            <a:avLst/>
          </a:prstGeom>
          <a:ln w="591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55484" y="5791756"/>
            <a:ext cx="192404" cy="15834"/>
          </a:xfrm>
          <a:prstGeom prst="line">
            <a:avLst/>
          </a:prstGeom>
          <a:ln w="798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969902" y="3857580"/>
            <a:ext cx="501343" cy="14777"/>
          </a:xfrm>
          <a:prstGeom prst="line">
            <a:avLst/>
          </a:prstGeom>
          <a:ln w="788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283213" y="2507338"/>
            <a:ext cx="267957" cy="22560"/>
          </a:xfrm>
          <a:prstGeom prst="line">
            <a:avLst/>
          </a:prstGeom>
          <a:ln w="452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94951" y="1155736"/>
            <a:ext cx="392848" cy="18021"/>
          </a:xfrm>
          <a:prstGeom prst="line">
            <a:avLst/>
          </a:prstGeom>
          <a:ln w="525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298798" y="4793041"/>
            <a:ext cx="237089" cy="3602"/>
          </a:xfrm>
          <a:prstGeom prst="line">
            <a:avLst/>
          </a:prstGeom>
          <a:ln w="696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820189" y="2709884"/>
            <a:ext cx="169945" cy="11847"/>
          </a:xfrm>
          <a:prstGeom prst="line">
            <a:avLst/>
          </a:prstGeom>
          <a:ln w="507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380521" y="4383275"/>
            <a:ext cx="169850" cy="14087"/>
          </a:xfrm>
          <a:prstGeom prst="line">
            <a:avLst/>
          </a:prstGeom>
          <a:ln w="483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262276" y="5265758"/>
            <a:ext cx="341124" cy="1866"/>
          </a:xfrm>
          <a:prstGeom prst="line">
            <a:avLst/>
          </a:prstGeom>
          <a:ln w="608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642864" y="512932"/>
            <a:ext cx="308165" cy="15264"/>
          </a:xfrm>
          <a:prstGeom prst="line">
            <a:avLst/>
          </a:prstGeom>
          <a:ln w="477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65092" y="4889413"/>
            <a:ext cx="217758" cy="19854"/>
          </a:xfrm>
          <a:prstGeom prst="line">
            <a:avLst/>
          </a:prstGeom>
          <a:ln w="78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927493" y="5209048"/>
            <a:ext cx="322575" cy="6563"/>
          </a:xfrm>
          <a:prstGeom prst="line">
            <a:avLst/>
          </a:prstGeom>
          <a:ln w="522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19847" y="5126592"/>
            <a:ext cx="323288" cy="23203"/>
          </a:xfrm>
          <a:prstGeom prst="line">
            <a:avLst/>
          </a:prstGeom>
          <a:ln w="741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927737" y="1379113"/>
            <a:ext cx="167591" cy="8849"/>
          </a:xfrm>
          <a:prstGeom prst="line">
            <a:avLst/>
          </a:prstGeom>
          <a:ln w="503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7519" y="87282"/>
            <a:ext cx="215240" cy="2129"/>
          </a:xfrm>
          <a:prstGeom prst="line">
            <a:avLst/>
          </a:prstGeom>
          <a:ln w="679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790312" y="6392887"/>
            <a:ext cx="221279" cy="11517"/>
          </a:xfrm>
          <a:prstGeom prst="line">
            <a:avLst/>
          </a:prstGeom>
          <a:ln w="45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358516" y="4544092"/>
            <a:ext cx="409553" cy="18289"/>
          </a:xfrm>
          <a:prstGeom prst="line">
            <a:avLst/>
          </a:prstGeom>
          <a:ln w="528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758807" y="4144324"/>
            <a:ext cx="361821" cy="1384"/>
          </a:xfrm>
          <a:prstGeom prst="line">
            <a:avLst/>
          </a:prstGeom>
          <a:ln w="584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517967" y="2368778"/>
            <a:ext cx="157587" cy="2507"/>
          </a:xfrm>
          <a:prstGeom prst="line">
            <a:avLst/>
          </a:prstGeom>
          <a:ln w="723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328336" y="4776510"/>
            <a:ext cx="363318" cy="16999"/>
          </a:xfrm>
          <a:prstGeom prst="line">
            <a:avLst/>
          </a:prstGeom>
          <a:ln w="640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278383" y="6005287"/>
            <a:ext cx="145445" cy="25730"/>
          </a:xfrm>
          <a:prstGeom prst="line">
            <a:avLst/>
          </a:prstGeom>
          <a:ln w="468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126858" y="1274992"/>
            <a:ext cx="161539" cy="2814"/>
          </a:xfrm>
          <a:prstGeom prst="line">
            <a:avLst/>
          </a:prstGeom>
          <a:ln w="407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478270" y="4231648"/>
            <a:ext cx="305237" cy="12897"/>
          </a:xfrm>
          <a:prstGeom prst="line">
            <a:avLst/>
          </a:prstGeom>
          <a:ln w="740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789325" y="1277123"/>
            <a:ext cx="299733" cy="7604"/>
          </a:xfrm>
          <a:prstGeom prst="line">
            <a:avLst/>
          </a:prstGeom>
          <a:ln w="537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18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误区澄清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不是所有会飞的都幸存，也不是只有飞行重要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3943999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4000087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飞行有帮助，但不能单独解释幸存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依赖森林和特定食物的鸟类同样可能消失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真正关键是多种适应条件叠加</a:t>
            </a:r>
          </a:p>
        </p:txBody>
      </p:sp>
      <p:sp>
        <p:nvSpPr>
          <p:cNvPr id="72" name="Diamond 71"/>
          <p:cNvSpPr/>
          <p:nvPr/>
        </p:nvSpPr>
        <p:spPr>
          <a:xfrm>
            <a:off x="9372600" y="2441448"/>
            <a:ext cx="1371600" cy="1371600"/>
          </a:xfrm>
          <a:prstGeom prst="diamond">
            <a:avLst/>
          </a:prstGeom>
          <a:solidFill>
            <a:srgbClr val="FFFCF0"/>
          </a:solidFill>
          <a:ln w="25400"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Isosceles Triangle 72"/>
          <p:cNvSpPr/>
          <p:nvPr/>
        </p:nvSpPr>
        <p:spPr>
          <a:xfrm>
            <a:off x="9875520" y="2560320"/>
            <a:ext cx="411480" cy="960120"/>
          </a:xfrm>
          <a:prstGeom prst="triangl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olded Corner 75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关键词：避免单因解释。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7559537" y="4821512"/>
            <a:ext cx="1814894" cy="739926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3697615" y="3161366"/>
            <a:ext cx="1914753" cy="801014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2682480" y="1851025"/>
            <a:ext cx="1422302" cy="444503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10135372" y="-125903"/>
            <a:ext cx="1965892" cy="1008872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967263" y="2683589"/>
            <a:ext cx="2352166" cy="419674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4484950" y="370738"/>
            <a:ext cx="2137493" cy="918542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4787667" y="6147882"/>
            <a:ext cx="1893038" cy="733203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8903628" y="5918725"/>
            <a:ext cx="1367787" cy="764622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9014950" y="2259472"/>
            <a:ext cx="1221203" cy="823923"/>
          </a:xfrm>
          <a:prstGeom prst="cloud">
            <a:avLst/>
          </a:prstGeom>
          <a:solidFill>
            <a:srgbClr val="8BBEA8"/>
          </a:solidFill>
          <a:ln>
            <a:solidFill>
              <a:srgbClr val="8B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04935" y="3099553"/>
            <a:ext cx="487182" cy="22270"/>
          </a:xfrm>
          <a:prstGeom prst="line">
            <a:avLst/>
          </a:prstGeom>
          <a:ln w="619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278553" y="5575688"/>
            <a:ext cx="317846" cy="3933"/>
          </a:xfrm>
          <a:prstGeom prst="line">
            <a:avLst/>
          </a:prstGeom>
          <a:ln w="592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214853" y="17532"/>
            <a:ext cx="170638" cy="1866"/>
          </a:xfrm>
          <a:prstGeom prst="line">
            <a:avLst/>
          </a:prstGeom>
          <a:ln w="547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157020" y="4413385"/>
            <a:ext cx="479294" cy="1338"/>
          </a:xfrm>
          <a:prstGeom prst="line">
            <a:avLst/>
          </a:prstGeom>
          <a:ln w="545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537927" y="1146873"/>
            <a:ext cx="297624" cy="10517"/>
          </a:xfrm>
          <a:prstGeom prst="line">
            <a:avLst/>
          </a:prstGeom>
          <a:ln w="706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32774" y="2101930"/>
            <a:ext cx="490123" cy="4356"/>
          </a:xfrm>
          <a:prstGeom prst="line">
            <a:avLst/>
          </a:prstGeom>
          <a:ln w="552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657461" y="3035462"/>
            <a:ext cx="487009" cy="17821"/>
          </a:xfrm>
          <a:prstGeom prst="line">
            <a:avLst/>
          </a:prstGeom>
          <a:ln w="647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9793" y="855108"/>
            <a:ext cx="294477" cy="21018"/>
          </a:xfrm>
          <a:prstGeom prst="line">
            <a:avLst/>
          </a:prstGeom>
          <a:ln w="739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447661" y="3178041"/>
            <a:ext cx="502234" cy="17053"/>
          </a:xfrm>
          <a:prstGeom prst="line">
            <a:avLst/>
          </a:prstGeom>
          <a:ln w="535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418733" y="1036622"/>
            <a:ext cx="458346" cy="6627"/>
          </a:xfrm>
          <a:prstGeom prst="line">
            <a:avLst/>
          </a:prstGeom>
          <a:ln w="464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688923" y="258131"/>
            <a:ext cx="336743" cy="7869"/>
          </a:xfrm>
          <a:prstGeom prst="line">
            <a:avLst/>
          </a:prstGeom>
          <a:ln w="446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189903" y="2135933"/>
            <a:ext cx="146144" cy="12020"/>
          </a:xfrm>
          <a:prstGeom prst="line">
            <a:avLst/>
          </a:prstGeom>
          <a:ln w="752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4453" y="1988481"/>
            <a:ext cx="307597" cy="159"/>
          </a:xfrm>
          <a:prstGeom prst="line">
            <a:avLst/>
          </a:prstGeom>
          <a:ln w="819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706166" y="5436802"/>
            <a:ext cx="342764" cy="11887"/>
          </a:xfrm>
          <a:prstGeom prst="line">
            <a:avLst/>
          </a:prstGeom>
          <a:ln w="692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93829" y="5048428"/>
            <a:ext cx="330556" cy="8009"/>
          </a:xfrm>
          <a:prstGeom prst="line">
            <a:avLst/>
          </a:prstGeom>
          <a:ln w="606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970063" y="6316069"/>
            <a:ext cx="455991" cy="15163"/>
          </a:xfrm>
          <a:prstGeom prst="line">
            <a:avLst/>
          </a:prstGeom>
          <a:ln w="337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297384" y="761384"/>
            <a:ext cx="353306" cy="21891"/>
          </a:xfrm>
          <a:prstGeom prst="line">
            <a:avLst/>
          </a:prstGeom>
          <a:ln w="681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99517" y="4625833"/>
            <a:ext cx="257718" cy="17169"/>
          </a:xfrm>
          <a:prstGeom prst="line">
            <a:avLst/>
          </a:prstGeom>
          <a:ln w="754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03304" y="4873248"/>
            <a:ext cx="369757" cy="8736"/>
          </a:xfrm>
          <a:prstGeom prst="line">
            <a:avLst/>
          </a:prstGeom>
          <a:ln w="545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452139" y="5895276"/>
            <a:ext cx="171422" cy="3462"/>
          </a:xfrm>
          <a:prstGeom prst="line">
            <a:avLst/>
          </a:prstGeom>
          <a:ln w="550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823165" y="281554"/>
            <a:ext cx="232993" cy="22586"/>
          </a:xfrm>
          <a:prstGeom prst="line">
            <a:avLst/>
          </a:prstGeom>
          <a:ln w="432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3417" y="1152996"/>
            <a:ext cx="309029" cy="11795"/>
          </a:xfrm>
          <a:prstGeom prst="line">
            <a:avLst/>
          </a:prstGeom>
          <a:ln w="371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199570" y="612366"/>
            <a:ext cx="150488" cy="3514"/>
          </a:xfrm>
          <a:prstGeom prst="line">
            <a:avLst/>
          </a:prstGeom>
          <a:ln w="681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690583" y="2195276"/>
            <a:ext cx="335341" cy="2496"/>
          </a:xfrm>
          <a:prstGeom prst="line">
            <a:avLst/>
          </a:prstGeom>
          <a:ln w="334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07525" y="1690241"/>
            <a:ext cx="181620" cy="18865"/>
          </a:xfrm>
          <a:prstGeom prst="line">
            <a:avLst/>
          </a:prstGeom>
          <a:ln w="382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386315" y="2086730"/>
            <a:ext cx="285520" cy="15097"/>
          </a:xfrm>
          <a:prstGeom prst="line">
            <a:avLst/>
          </a:prstGeom>
          <a:ln w="692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246977" y="1628506"/>
            <a:ext cx="187474" cy="2180"/>
          </a:xfrm>
          <a:prstGeom prst="line">
            <a:avLst/>
          </a:prstGeom>
          <a:ln w="601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00786" y="6025110"/>
            <a:ext cx="158992" cy="19164"/>
          </a:xfrm>
          <a:prstGeom prst="line">
            <a:avLst/>
          </a:prstGeom>
          <a:ln w="540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707796" y="4153351"/>
            <a:ext cx="317579" cy="6222"/>
          </a:xfrm>
          <a:prstGeom prst="line">
            <a:avLst/>
          </a:prstGeom>
          <a:ln w="460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28076" y="6513280"/>
            <a:ext cx="155337" cy="4079"/>
          </a:xfrm>
          <a:prstGeom prst="line">
            <a:avLst/>
          </a:prstGeom>
          <a:ln w="610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981970" y="3761867"/>
            <a:ext cx="174819" cy="5503"/>
          </a:xfrm>
          <a:prstGeom prst="line">
            <a:avLst/>
          </a:prstGeom>
          <a:ln w="639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07066" y="1556739"/>
            <a:ext cx="304517" cy="11811"/>
          </a:xfrm>
          <a:prstGeom prst="line">
            <a:avLst/>
          </a:prstGeom>
          <a:ln w="560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369477" y="2718232"/>
            <a:ext cx="353331" cy="4261"/>
          </a:xfrm>
          <a:prstGeom prst="line">
            <a:avLst/>
          </a:prstGeom>
          <a:ln w="822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4280" y="1614846"/>
            <a:ext cx="445944" cy="22828"/>
          </a:xfrm>
          <a:prstGeom prst="line">
            <a:avLst/>
          </a:prstGeom>
          <a:ln w="443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976638" y="3520133"/>
            <a:ext cx="233286" cy="1931"/>
          </a:xfrm>
          <a:prstGeom prst="line">
            <a:avLst/>
          </a:prstGeom>
          <a:ln w="726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684137" y="1156880"/>
            <a:ext cx="432724" cy="12680"/>
          </a:xfrm>
          <a:prstGeom prst="line">
            <a:avLst/>
          </a:prstGeom>
          <a:ln w="715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911464" y="4037414"/>
            <a:ext cx="258860" cy="10499"/>
          </a:xfrm>
          <a:prstGeom prst="line">
            <a:avLst/>
          </a:prstGeom>
          <a:ln w="710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570680" y="2034948"/>
            <a:ext cx="181607" cy="24758"/>
          </a:xfrm>
          <a:prstGeom prst="line">
            <a:avLst/>
          </a:prstGeom>
          <a:ln w="711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19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生命史的启示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灾难既是终点，也是新路线的起点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3933763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4018398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灭绝会快速淘汰大量物种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生态空缺会改变演化方向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适应能力、生态弹性和偶然条件共同塑造未来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8961120" y="2606040"/>
            <a:ext cx="0" cy="1280160"/>
          </a:xfrm>
          <a:prstGeom prst="line">
            <a:avLst/>
          </a:prstGeom>
          <a:ln w="254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/>
          <p:cNvSpPr/>
          <p:nvPr/>
        </p:nvSpPr>
        <p:spPr>
          <a:xfrm>
            <a:off x="8668512" y="2377440"/>
            <a:ext cx="594360" cy="777240"/>
          </a:xfrm>
          <a:prstGeom prst="triangl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9491472" y="2606040"/>
            <a:ext cx="0" cy="1280160"/>
          </a:xfrm>
          <a:prstGeom prst="line">
            <a:avLst/>
          </a:prstGeom>
          <a:ln w="254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/>
          <p:cNvSpPr/>
          <p:nvPr/>
        </p:nvSpPr>
        <p:spPr>
          <a:xfrm>
            <a:off x="9198864" y="2377440"/>
            <a:ext cx="594360" cy="777240"/>
          </a:xfrm>
          <a:prstGeom prst="triangl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0021824" y="2606040"/>
            <a:ext cx="0" cy="1280160"/>
          </a:xfrm>
          <a:prstGeom prst="line">
            <a:avLst/>
          </a:prstGeom>
          <a:ln w="254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/>
          <p:cNvSpPr/>
          <p:nvPr/>
        </p:nvSpPr>
        <p:spPr>
          <a:xfrm>
            <a:off x="9729216" y="2377440"/>
            <a:ext cx="594360" cy="777240"/>
          </a:xfrm>
          <a:prstGeom prst="triangl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10552176" y="2606040"/>
            <a:ext cx="0" cy="1280160"/>
          </a:xfrm>
          <a:prstGeom prst="line">
            <a:avLst/>
          </a:prstGeom>
          <a:ln w="25400">
            <a:solidFill>
              <a:srgbClr val="8469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Isosceles Triangle 78"/>
          <p:cNvSpPr/>
          <p:nvPr/>
        </p:nvSpPr>
        <p:spPr>
          <a:xfrm>
            <a:off x="10259568" y="2377440"/>
            <a:ext cx="594360" cy="777240"/>
          </a:xfrm>
          <a:prstGeom prst="triangl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olded Corner 81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关键词：灭绝与延续。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ud 1"/>
          <p:cNvSpPr/>
          <p:nvPr/>
        </p:nvSpPr>
        <p:spPr>
          <a:xfrm>
            <a:off x="10234136" y="4181006"/>
            <a:ext cx="2197363" cy="1027504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7523066" y="5239799"/>
            <a:ext cx="1163645" cy="605279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-49976" y="2366335"/>
            <a:ext cx="1122438" cy="457256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10753801" y="2643297"/>
            <a:ext cx="1330186" cy="597581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3481931" y="327668"/>
            <a:ext cx="1810826" cy="981439"/>
          </a:xfrm>
          <a:prstGeom prst="cloud">
            <a:avLst/>
          </a:prstGeom>
          <a:solidFill>
            <a:srgbClr val="DAB36E"/>
          </a:solidFill>
          <a:ln>
            <a:solidFill>
              <a:srgbClr val="DAB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587743" y="3447096"/>
            <a:ext cx="1060397" cy="434906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ud 7"/>
          <p:cNvSpPr/>
          <p:nvPr/>
        </p:nvSpPr>
        <p:spPr>
          <a:xfrm>
            <a:off x="2600382" y="4688544"/>
            <a:ext cx="1480055" cy="553601"/>
          </a:xfrm>
          <a:prstGeom prst="cloud">
            <a:avLst/>
          </a:prstGeom>
          <a:solidFill>
            <a:srgbClr val="E0907C"/>
          </a:solidFill>
          <a:ln>
            <a:solidFill>
              <a:srgbClr val="E09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oud 8"/>
          <p:cNvSpPr/>
          <p:nvPr/>
        </p:nvSpPr>
        <p:spPr>
          <a:xfrm>
            <a:off x="1011802" y="-122760"/>
            <a:ext cx="2102966" cy="994218"/>
          </a:xfrm>
          <a:prstGeom prst="cloud">
            <a:avLst/>
          </a:prstGeom>
          <a:solidFill>
            <a:srgbClr val="96C2CF"/>
          </a:solidFill>
          <a:ln>
            <a:solidFill>
              <a:srgbClr val="96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6351713" y="89326"/>
            <a:ext cx="2247976" cy="817599"/>
          </a:xfrm>
          <a:prstGeom prst="cloud">
            <a:avLst/>
          </a:prstGeom>
          <a:solidFill>
            <a:srgbClr val="B1CCB2"/>
          </a:solidFill>
          <a:ln>
            <a:solidFill>
              <a:srgbClr val="B1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652059" y="4374222"/>
            <a:ext cx="356519" cy="2886"/>
          </a:xfrm>
          <a:prstGeom prst="line">
            <a:avLst/>
          </a:prstGeom>
          <a:ln w="395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708805" y="3741707"/>
            <a:ext cx="295498" cy="18398"/>
          </a:xfrm>
          <a:prstGeom prst="line">
            <a:avLst/>
          </a:prstGeom>
          <a:ln w="789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418537" y="4667592"/>
            <a:ext cx="501458" cy="4409"/>
          </a:xfrm>
          <a:prstGeom prst="line">
            <a:avLst/>
          </a:prstGeom>
          <a:ln w="492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04335" y="4108454"/>
            <a:ext cx="327168" cy="3487"/>
          </a:xfrm>
          <a:prstGeom prst="line">
            <a:avLst/>
          </a:prstGeom>
          <a:ln w="821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132621" y="749691"/>
            <a:ext cx="460570" cy="27322"/>
          </a:xfrm>
          <a:prstGeom prst="line">
            <a:avLst/>
          </a:prstGeom>
          <a:ln w="648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06018" y="4938133"/>
            <a:ext cx="485560" cy="1665"/>
          </a:xfrm>
          <a:prstGeom prst="line">
            <a:avLst/>
          </a:prstGeom>
          <a:ln w="705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6123" y="4513172"/>
            <a:ext cx="180153" cy="2456"/>
          </a:xfrm>
          <a:prstGeom prst="line">
            <a:avLst/>
          </a:prstGeom>
          <a:ln w="4869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82350" y="5042920"/>
            <a:ext cx="171272" cy="13315"/>
          </a:xfrm>
          <a:prstGeom prst="line">
            <a:avLst/>
          </a:prstGeom>
          <a:ln w="361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993758" y="2010852"/>
            <a:ext cx="153371" cy="25943"/>
          </a:xfrm>
          <a:prstGeom prst="line">
            <a:avLst/>
          </a:prstGeom>
          <a:ln w="429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15187" y="82236"/>
            <a:ext cx="145860" cy="9139"/>
          </a:xfrm>
          <a:prstGeom prst="line">
            <a:avLst/>
          </a:prstGeom>
          <a:ln w="585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31039" y="2099456"/>
            <a:ext cx="183258" cy="12342"/>
          </a:xfrm>
          <a:prstGeom prst="line">
            <a:avLst/>
          </a:prstGeom>
          <a:ln w="514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631300" y="1325738"/>
            <a:ext cx="219966" cy="10895"/>
          </a:xfrm>
          <a:prstGeom prst="line">
            <a:avLst/>
          </a:prstGeom>
          <a:ln w="599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96244" y="4357268"/>
            <a:ext cx="301210" cy="27254"/>
          </a:xfrm>
          <a:prstGeom prst="line">
            <a:avLst/>
          </a:prstGeom>
          <a:ln w="413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54919" y="2740918"/>
            <a:ext cx="446990" cy="22430"/>
          </a:xfrm>
          <a:prstGeom prst="line">
            <a:avLst/>
          </a:prstGeom>
          <a:ln w="468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399442" y="1995910"/>
            <a:ext cx="384581" cy="22018"/>
          </a:xfrm>
          <a:prstGeom prst="line">
            <a:avLst/>
          </a:prstGeom>
          <a:ln w="457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603774" y="2519807"/>
            <a:ext cx="491923" cy="5711"/>
          </a:xfrm>
          <a:prstGeom prst="line">
            <a:avLst/>
          </a:prstGeom>
          <a:ln w="742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582647" y="656575"/>
            <a:ext cx="348442" cy="15839"/>
          </a:xfrm>
          <a:prstGeom prst="line">
            <a:avLst/>
          </a:prstGeom>
          <a:ln w="783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59970" y="3581317"/>
            <a:ext cx="474604" cy="2582"/>
          </a:xfrm>
          <a:prstGeom prst="line">
            <a:avLst/>
          </a:prstGeom>
          <a:ln w="808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28058" y="1210946"/>
            <a:ext cx="244698" cy="18982"/>
          </a:xfrm>
          <a:prstGeom prst="line">
            <a:avLst/>
          </a:prstGeom>
          <a:ln w="368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847331" y="279032"/>
            <a:ext cx="411375" cy="6489"/>
          </a:xfrm>
          <a:prstGeom prst="line">
            <a:avLst/>
          </a:prstGeom>
          <a:ln w="5237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257139" y="3927998"/>
            <a:ext cx="268728" cy="11908"/>
          </a:xfrm>
          <a:prstGeom prst="line">
            <a:avLst/>
          </a:prstGeom>
          <a:ln w="342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906412" y="5958348"/>
            <a:ext cx="274668" cy="19642"/>
          </a:xfrm>
          <a:prstGeom prst="line">
            <a:avLst/>
          </a:prstGeom>
          <a:ln w="519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070211" y="5395427"/>
            <a:ext cx="476019" cy="22401"/>
          </a:xfrm>
          <a:prstGeom prst="line">
            <a:avLst/>
          </a:prstGeom>
          <a:ln w="760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52118" y="5240366"/>
            <a:ext cx="244304" cy="26896"/>
          </a:xfrm>
          <a:prstGeom prst="line">
            <a:avLst/>
          </a:prstGeom>
          <a:ln w="488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493261" y="332034"/>
            <a:ext cx="186498" cy="22426"/>
          </a:xfrm>
          <a:prstGeom prst="line">
            <a:avLst/>
          </a:prstGeom>
          <a:ln w="734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43595" y="778457"/>
            <a:ext cx="224782" cy="19659"/>
          </a:xfrm>
          <a:prstGeom prst="line">
            <a:avLst/>
          </a:prstGeom>
          <a:ln w="711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0632" y="4591028"/>
            <a:ext cx="265143" cy="19386"/>
          </a:xfrm>
          <a:prstGeom prst="line">
            <a:avLst/>
          </a:prstGeom>
          <a:ln w="434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354020" y="1666519"/>
            <a:ext cx="280232" cy="6137"/>
          </a:xfrm>
          <a:prstGeom prst="line">
            <a:avLst/>
          </a:prstGeom>
          <a:ln w="5898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75512" y="1966464"/>
            <a:ext cx="359935" cy="11791"/>
          </a:xfrm>
          <a:prstGeom prst="line">
            <a:avLst/>
          </a:prstGeom>
          <a:ln w="468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223416" y="554844"/>
            <a:ext cx="317611" cy="8091"/>
          </a:xfrm>
          <a:prstGeom prst="line">
            <a:avLst/>
          </a:prstGeom>
          <a:ln w="381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956519" y="5755988"/>
            <a:ext cx="314357" cy="8037"/>
          </a:xfrm>
          <a:prstGeom prst="line">
            <a:avLst/>
          </a:prstGeom>
          <a:ln w="7771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957656" y="4253031"/>
            <a:ext cx="342443" cy="7632"/>
          </a:xfrm>
          <a:prstGeom prst="line">
            <a:avLst/>
          </a:prstGeom>
          <a:ln w="6746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237703" y="3646482"/>
            <a:ext cx="412326" cy="13525"/>
          </a:xfrm>
          <a:prstGeom prst="line">
            <a:avLst/>
          </a:prstGeom>
          <a:ln w="6453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385925" y="2506763"/>
            <a:ext cx="215406" cy="420"/>
          </a:xfrm>
          <a:prstGeom prst="line">
            <a:avLst/>
          </a:prstGeom>
          <a:ln w="4734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683880" y="1193025"/>
            <a:ext cx="468460" cy="20364"/>
          </a:xfrm>
          <a:prstGeom prst="line">
            <a:avLst/>
          </a:prstGeom>
          <a:ln w="764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841218" y="6141105"/>
            <a:ext cx="459653" cy="18060"/>
          </a:xfrm>
          <a:prstGeom prst="line">
            <a:avLst/>
          </a:prstGeom>
          <a:ln w="4570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2029743" y="4463334"/>
            <a:ext cx="168259" cy="12951"/>
          </a:xfrm>
          <a:prstGeom prst="line">
            <a:avLst/>
          </a:prstGeom>
          <a:ln w="3662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672022" y="487619"/>
            <a:ext cx="151590" cy="25000"/>
          </a:xfrm>
          <a:prstGeom prst="line">
            <a:avLst/>
          </a:prstGeom>
          <a:ln w="5575">
            <a:solidFill>
              <a:srgbClr val="D3C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0080" y="5349240"/>
            <a:ext cx="118872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0" y="5349240"/>
            <a:ext cx="1280160" cy="22860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08960" y="5074920"/>
            <a:ext cx="1280160" cy="5029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89120" y="5074920"/>
            <a:ext cx="137160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60720" y="4800600"/>
            <a:ext cx="1463040" cy="59436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223760" y="4800600"/>
            <a:ext cx="1554480" cy="27432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778240" y="4526280"/>
            <a:ext cx="1280160" cy="5486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58400" y="4526280"/>
            <a:ext cx="1280160" cy="320040"/>
          </a:xfrm>
          <a:prstGeom prst="line">
            <a:avLst/>
          </a:prstGeom>
          <a:ln w="25400">
            <a:solidFill>
              <a:srgbClr val="8469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73936" y="529437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5856" y="534009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003536" y="4471416"/>
            <a:ext cx="109728" cy="109728"/>
          </a:xfrm>
          <a:prstGeom prst="ellipse">
            <a:avLst/>
          </a:prstGeom>
          <a:solidFill>
            <a:srgbClr val="E0907C"/>
          </a:solidFill>
          <a:ln>
            <a:solidFill>
              <a:srgbClr val="846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32004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788A84"/>
                </a:solidFill>
                <a:latin typeface="Comic Sans MS"/>
              </a:rPr>
              <a:t>Stop 20 / 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658368"/>
            <a:ext cx="7086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45252"/>
                </a:solidFill>
                <a:latin typeface="Microsoft YaHei"/>
              </a:rPr>
              <a:t>结语：穿过黑暗的羽翼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1353312"/>
            <a:ext cx="6720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788A84"/>
                </a:solidFill>
                <a:latin typeface="Microsoft YaHei"/>
              </a:rPr>
              <a:t>从撞击坑到今日天空的生命旅程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749808" y="1828800"/>
            <a:ext cx="4076572" cy="27431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49808" y="1874519"/>
            <a:ext cx="4029862" cy="18288"/>
          </a:xfrm>
          <a:prstGeom prst="line">
            <a:avLst/>
          </a:prstGeom>
          <a:ln w="25400">
            <a:solidFill>
              <a:srgbClr val="8B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77240" y="2148840"/>
            <a:ext cx="6583680" cy="3063240"/>
          </a:xfrm>
          <a:prstGeom prst="roundRect">
            <a:avLst/>
          </a:prstGeom>
          <a:solidFill>
            <a:srgbClr val="FFFCF0"/>
          </a:solidFill>
          <a:ln w="15240">
            <a:solidFill>
              <a:srgbClr val="DAC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8BBEA8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2468880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白垩纪末的幸存不是侥幸，而是条件组合的结果</a:t>
            </a:r>
          </a:p>
        </p:txBody>
      </p:sp>
      <p:sp>
        <p:nvSpPr>
          <p:cNvPr id="68" name="Oval 67"/>
          <p:cNvSpPr/>
          <p:nvPr/>
        </p:nvSpPr>
        <p:spPr>
          <a:xfrm>
            <a:off x="1097280" y="3383280"/>
            <a:ext cx="201168" cy="201168"/>
          </a:xfrm>
          <a:prstGeom prst="ellips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0" y="3310128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鸟类在灾后世界中重新绘制生态地图</a:t>
            </a:r>
          </a:p>
        </p:txBody>
      </p:sp>
      <p:sp>
        <p:nvSpPr>
          <p:cNvPr id="70" name="Oval 69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E0907C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63040" y="4151376"/>
            <a:ext cx="5623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445252"/>
                </a:solidFill>
                <a:latin typeface="Microsoft YaHei"/>
              </a:rPr>
              <a:t>理解这段历史，有助于理解生命面对剧变的韧性</a:t>
            </a:r>
          </a:p>
        </p:txBody>
      </p:sp>
      <p:sp>
        <p:nvSpPr>
          <p:cNvPr id="72" name="Oval 71"/>
          <p:cNvSpPr/>
          <p:nvPr/>
        </p:nvSpPr>
        <p:spPr>
          <a:xfrm>
            <a:off x="9281160" y="2697480"/>
            <a:ext cx="1371600" cy="868680"/>
          </a:xfrm>
          <a:prstGeom prst="ellipse">
            <a:avLst/>
          </a:prstGeom>
          <a:solidFill>
            <a:srgbClr val="96C2CF"/>
          </a:solidFill>
          <a:ln w="25400"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rc 72"/>
          <p:cNvSpPr/>
          <p:nvPr/>
        </p:nvSpPr>
        <p:spPr>
          <a:xfrm>
            <a:off x="9537192" y="2843784"/>
            <a:ext cx="685800" cy="457200"/>
          </a:xfrm>
          <a:prstGeom prst="arc">
            <a:avLst/>
          </a:prstGeom>
          <a:ln w="25400"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Isosceles Triangle 73"/>
          <p:cNvSpPr/>
          <p:nvPr/>
        </p:nvSpPr>
        <p:spPr>
          <a:xfrm>
            <a:off x="10515600" y="2944368"/>
            <a:ext cx="411480" cy="292608"/>
          </a:xfrm>
          <a:prstGeom prst="triangle">
            <a:avLst/>
          </a:prstGeom>
          <a:solidFill>
            <a:srgbClr val="DAB36E"/>
          </a:solidFill>
          <a:ln>
            <a:solidFill>
              <a:srgbClr val="44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314432" y="2898648"/>
            <a:ext cx="73152" cy="73152"/>
          </a:xfrm>
          <a:prstGeom prst="ellipse">
            <a:avLst/>
          </a:prstGeom>
          <a:solidFill>
            <a:srgbClr val="445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H="1">
            <a:off x="9509760" y="3520439"/>
            <a:ext cx="91440" cy="320041"/>
          </a:xfrm>
          <a:prstGeom prst="line">
            <a:avLst/>
          </a:prstGeom>
          <a:ln w="19050">
            <a:solidFill>
              <a:srgbClr val="44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9875520" y="3520439"/>
            <a:ext cx="91440" cy="320041"/>
          </a:xfrm>
          <a:prstGeom prst="line">
            <a:avLst/>
          </a:prstGeom>
          <a:ln w="19050">
            <a:solidFill>
              <a:srgbClr val="44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8686800" y="2039112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723376" y="2002536"/>
            <a:ext cx="2788920" cy="2423160"/>
          </a:xfrm>
          <a:prstGeom prst="roundRect">
            <a:avLst/>
          </a:prstGeom>
          <a:noFill/>
          <a:ln w="12700">
            <a:solidFill>
              <a:srgbClr val="CCB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olded Corner 79"/>
          <p:cNvSpPr/>
          <p:nvPr/>
        </p:nvSpPr>
        <p:spPr>
          <a:xfrm>
            <a:off x="7863840" y="4343400"/>
            <a:ext cx="3154680" cy="777240"/>
          </a:xfrm>
          <a:prstGeom prst="foldedCorner">
            <a:avLst/>
          </a:prstGeom>
          <a:solidFill>
            <a:srgbClr val="FAEFC8"/>
          </a:solidFill>
          <a:ln w="12700">
            <a:solidFill>
              <a:srgbClr val="DAC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92440" y="4553712"/>
            <a:ext cx="2697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846952"/>
                </a:solidFill>
                <a:latin typeface="Microsoft YaHei"/>
              </a:rPr>
              <a:t>关键词：从危机到天空。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01000" y="6199632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788A84"/>
                </a:solidFill>
                <a:latin typeface="Microsoft YaHei"/>
              </a:rPr>
              <a:t>白垩纪灭绝与鸟类幸存 | 手绘旅行地图风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白垩纪灭绝与鸟类幸存</dc:title>
  <dc:subject>20页手绘路径与地标风格演示文稿</dc:subject>
  <dc:creator>Codex</dc:creator>
  <cp:keywords/>
  <dc:description>清新水彩、纸笔质感、简笔画元素；包含淡入转场模拟逐步显现。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